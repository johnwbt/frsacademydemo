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5" Type="http://schemas.openxmlformats.org/officeDocument/2006/relationships/custom-properties" Target="docProps/custom.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2"/>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4294" autoAdjust="0"/>
  </p:normalViewPr>
  <p:slideViewPr>
    <p:cSldViewPr snapToGrid="0" snapToObjects="1">
      <p:cViewPr varScale="1">
        <p:scale>
          <a:sx n="80" d="100"/>
          <a:sy n="80" d="100"/>
        </p:scale>
        <p:origin x="754" y="62"/>
      </p:cViewPr>
      <p:guideLst/>
    </p:cSldViewPr>
  </p:slideViewPr>
  <p:notesTextViewPr>
    <p:cViewPr>
      <p:scale>
        <a:sx n="1" d="1"/>
        <a:sy n="1" d="1"/>
      </p:scale>
      <p:origin x="0" y="0"/>
    </p:cViewPr>
  </p:notesTextViewPr>
  <p:notesViewPr>
    <p:cSldViewPr snapToGrid="0" snapToObjects="1">
      <p:cViewPr varScale="1">
        <p:scale>
          <a:sx n="54" d="100"/>
          <a:sy n="54" d="100"/>
        </p:scale>
        <p:origin x="3158" y="91"/>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 /><Relationship Id="rId13" Type="http://schemas.openxmlformats.org/officeDocument/2006/relationships/slide" Target="slides/slide9.xml" /><Relationship Id="rId18" Type="http://schemas.openxmlformats.org/officeDocument/2006/relationships/slide" Target="slides/slide14.xml" /><Relationship Id="rId26" Type="http://schemas.openxmlformats.org/officeDocument/2006/relationships/tableStyles" Target="tableStyles.xml" /><Relationship Id="rId3" Type="http://schemas.openxmlformats.org/officeDocument/2006/relationships/customXml" Target="../customXml/item3.xml" /><Relationship Id="rId21" Type="http://schemas.openxmlformats.org/officeDocument/2006/relationships/slide" Target="slides/slide17.xml" /><Relationship Id="rId7" Type="http://schemas.openxmlformats.org/officeDocument/2006/relationships/slide" Target="slides/slide3.xml" /><Relationship Id="rId12" Type="http://schemas.openxmlformats.org/officeDocument/2006/relationships/slide" Target="slides/slide8.xml" /><Relationship Id="rId17" Type="http://schemas.openxmlformats.org/officeDocument/2006/relationships/slide" Target="slides/slide13.xml" /><Relationship Id="rId25" Type="http://schemas.openxmlformats.org/officeDocument/2006/relationships/theme" Target="theme/theme1.xml" /><Relationship Id="rId2" Type="http://schemas.openxmlformats.org/officeDocument/2006/relationships/customXml" Target="../customXml/item2.xml" /><Relationship Id="rId16" Type="http://schemas.openxmlformats.org/officeDocument/2006/relationships/slide" Target="slides/slide12.xml" /><Relationship Id="rId20" Type="http://schemas.openxmlformats.org/officeDocument/2006/relationships/slide" Target="slides/slide16.xml" /><Relationship Id="rId1" Type="http://schemas.openxmlformats.org/officeDocument/2006/relationships/customXml" Target="../customXml/item1.xml" /><Relationship Id="rId6" Type="http://schemas.openxmlformats.org/officeDocument/2006/relationships/slide" Target="slides/slide2.xml" /><Relationship Id="rId11" Type="http://schemas.openxmlformats.org/officeDocument/2006/relationships/slide" Target="slides/slide7.xml" /><Relationship Id="rId24" Type="http://schemas.openxmlformats.org/officeDocument/2006/relationships/viewProps" Target="viewProps.xml" /><Relationship Id="rId5" Type="http://schemas.openxmlformats.org/officeDocument/2006/relationships/slide" Target="slides/slide1.xml" /><Relationship Id="rId15" Type="http://schemas.openxmlformats.org/officeDocument/2006/relationships/slide" Target="slides/slide11.xml" /><Relationship Id="rId23" Type="http://schemas.openxmlformats.org/officeDocument/2006/relationships/presProps" Target="presProps.xml" /><Relationship Id="rId10" Type="http://schemas.openxmlformats.org/officeDocument/2006/relationships/slide" Target="slides/slide6.xml" /><Relationship Id="rId19" Type="http://schemas.openxmlformats.org/officeDocument/2006/relationships/slide" Target="slides/slide15.xml" /><Relationship Id="rId4" Type="http://schemas.openxmlformats.org/officeDocument/2006/relationships/slideMaster" Target="slideMasters/slideMaster1.xml" /><Relationship Id="rId9" Type="http://schemas.openxmlformats.org/officeDocument/2006/relationships/slide" Target="slides/slide5.xml" /><Relationship Id="rId14" Type="http://schemas.openxmlformats.org/officeDocument/2006/relationships/slide" Target="slides/slide10.xml" /><Relationship Id="rId22"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814875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presenters introduce themselves, with a quick explanation of their role.
Depending on the session, also ask participants to introduce themselves, including where they work and in what role.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Gosnells Robotics Clubs (GRC) began when Southern River College and Thornlie SHS applied for a Schools Plus grant. It is a 3-year project to increase robotics participation in the high schools' feeder primary schools, and 8 feeder primary schools are currently involved.
One of the first things we decided was that we needed a common language, so that we and our students knew what the skills were. We developed our own version of the Future Ready Skills, which we call the 5Cs.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of us run great STEM activities, including our robotics clubs. These programs DO engage students with design thinking, the Technologies curriculum and the world of STEM. What they don't do automatically is get students to think metacognitively about the skills and thinking they are learning, so students don't transfer that learning to other subjects.
In practice, students focus on doing the robotics and producing a product. Unless we draw it out explicitly through our structures and pedagogy, they don't reflect on or work on the process they use to produce that product (whatever it is). Focusing on improving the process and the thinking leads to sustainably higher-quality products. Teachers often deliver STEM learning with a focus on the product, not the process.
Developing Future Ready learners means creating structures and using pedagogy that develop students' thinking and approaches, so they can be flexible and adaptable whatever they face. We must nurture the 5Cs and help students transfer them across subjects and disciplines. Our upper-quartile learners often do this themselves, but the rest don't.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looked at the new Australian Curriculum (Version 9.0), which has a Critical and Creative Thinking learning continuum. Its statements aligned well with our 5Cs, so we cut them up and matched them to the different skills at each year level, from Foundation right through to Year 10.</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Future Ready Skills, or 5Cs, that we decided on: Community (exploring who we are), Communication (conveying ideas), Collaboration (working with others), Critical Thinking (problem solving) and Creativity (thinking outside the box).</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pair, share: reflection.
Depending on the session, this is a good time for an activity. For example, divide the group into 5 groups. Give each group a container of LEGO and one of the 5Cs. Each group uses the LEGO to build a model that represents their skill, completes the activity sheet, and presents their model to everyone, explaining how it represents the skill.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some of the ways the Future Ready Skills apply across other areas of the curriculum.</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took the statements from ACARA and condensed them into the relevant skills. From these, we wrote Teacher and Student statements describing the skills that should be evident at each year level. Our framework tracks student progress from Foundation through to Year 10. You have copies of the whole framework to keep and use.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to next?
We are currently at the end of our 3-year Schools Plus project. We hope to continue with another 3-year Schools Plus partnership, which would provide funding, coaching, program management, evaluation and scaling support.
We have developed the Future Ready Skills Academy:
- It is built around Inspire–Aspire–Engage: inspire STEM interest, help students aspire to STEM futures, and engage them with real-world STEM experiences and career pathways.
- The aim is a connected STEM and Future Ready Skills ecosystem, linking primary and secondary schools, in which every participating school can access the expertise, learning experiences and pathways available across the network.
- It is a partnership between 13 low-ICSEA schools: Southern River College, Thornlie SHS, South Thornlie PS, Yale PS, Ashburton Drive PS, Huntingdale PS, Gosnells PS, Wirrabirra PS and Seaforth PS, plus four new regional and remote schools: Kalgoorlie Boulder Community High School, Newman SHS, Marble Bar PS and Eaton Community College.
Proposed partners:
- Google: technology platform, cloud capability, digital technologies, and potential sponsorship or technical partnership.
- Murdoch University: STEM outreach, teacher education, research, and potential co-design and accreditation of micro-credentials.
- Fogarty Foundation: Future Ready Students, teacher capability, STEM, and regional education engagement.
- Industry partners: experts, mentors, authentic projects, equipment, workplace exposure and career pathways.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Future Ready Skills Academy grows out of the Gosnells Robotics Clubs work and the 5Cs. It is a connected network of schools, teachers, universities, industry and education foundations for Foundation to Year 10, built around Future Ready Skills, Two-way Science, entrepreneurship, STEM, emerging technologies and real career pathways.
Walk through the three stages. Inspire: students meet STEM as exciting and accessible. Aspire: they discover STEM careers and pathways through school, TAFE, university, apprenticeships and industry, guided by role models. Engage: they work on real community and industry problems with mentors, university programs, competitions and workplace experiences, building a portfolio of evidence and pathways into further study and STEM careers.
The big idea: bringing the expertise to students, instead of students travelling to the expertise.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Academy network has 13 schools: 9 metropolitan schools in the Gosnells area (Southern River College as Lead School, Thornlie SHS, South Thornlie PS, Yale PS, Huntingdale PS, Ashburton Drive PS, Gosnells PS, Wirrabirra PS and Seaforth PS) and 4 regional schools (Kalgoorlie Boulder Community High School, Newman SHS, Marble Bar PS and Eaton Community College).
The Virtual Academy brings expertise to students: specialist teachers, university academics and industry experts can reach many schools at once. Virtual sessions complement, not replace, hands-on visits, and approved recordings become reusable Academy resources.
Capability is built over three years so the Academy becomes self-sustaining: experts lead in Year 1, Lead Teachers mentor colleagues in Year 2, and experienced teachers train new schools in Year 3.
Partnerships with organisations such as Google, Murdoch University and the Fogarty Foundation are proposed opportunities for discussion, not existing commitments. Schools interested in joining can submit an Expression of Interest through the Academy App.</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Future Ready Skills Academy App links emerging technology to the classroom. In Plan a report, teachers answer six questions: what students learn about, year level, what students will do, resources and technologies, curriculum goals, and a learning intention (tick the 1–2 Future Ready Skills you want to focus on).
The report includes an AI-assisted learning plan (or a standard version where AI isn't available), learning intentions with editable "I can" success criteria, WA Curriculum strand links, the Future Ready Skills progression for the year, linked YEAWA entrepreneurial skills, WA STEM Learning Project modules and other classroom resources.
From the report, teachers can create a slide deck, copy a lesson prompt for Chalkie or another AI tool, request an expert or industry partner, see upcoming competitions and events, and run an FRS student survey at the start and end of the learning. AI-written plans are labelled, and teachers tick "I've checked this plan" before using them.
Demo: if time allows, open the App and plan a quick report together.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serves the whole Academy community, with a view for each role.
Teachers plan learning reports, can list their expertise in the Experts and partners directory, request experts and industry partners, and run FRS student surveys.
School Leaders (approved by Academy Admin) get a School console for their own school: active teachers, curriculum reports, topics explored, Future Ready Skills focus, start and end survey results, and printable summaries.
Industry partners and experts register their offerings (guest speaker, site visit, volunteers for competitions, sponsorship) and answer teacher requests.
Everyone can use the FRS framework, resources, the Academy Schools page, the calendar of competitions and events on WA school terms, and Help.
Privacy and safety are built in: contact details only for confirmed members, anonymous student survey results, and AI-written plans clearly labelled and checked by teachers. See "How the Academy uses AI" in the App footer.
To get started, go to frs.srczone.net and choose your role. The Help (?) and Feedback buttons are at the bottom right of every page. Questions: frsadmin@srczone.net.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developed a series of surveys to help us monitor how effective the 5Cs are, and they are available for you to use. Our website also has a range of activities that help students build their 5Cs skills; these are activities we have been using in our own classes. The website is a work in progress and is added to all the time.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show the website and give a quick demo of some of its features.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 /><Relationship Id="rId1" Type="http://schemas.openxmlformats.org/officeDocument/2006/relationships/slideLayout" Target="../slideLayouts/slideLayout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59EACED-FE16-0647-4326-6B8619E704E5}"/>
              </a:ext>
            </a:extLst>
          </p:cNvPr>
          <p:cNvSpPr txBox="1"/>
          <p:nvPr userDrawn="1">
            <p:extLst>
              <p:ext uri="{1162E1C5-73C7-4A58-AE30-91384D911F3F}">
                <p184:classification xmlns:p184="http://schemas.microsoft.com/office/powerpoint/2018/4/main" val="hdr"/>
              </p:ext>
            </p:extLst>
          </p:nvPr>
        </p:nvSpPr>
        <p:spPr>
          <a:xfrm>
            <a:off x="5785612" y="63500"/>
            <a:ext cx="652463" cy="182880"/>
          </a:xfrm>
          <a:prstGeom prst="rect">
            <a:avLst/>
          </a:prstGeom>
        </p:spPr>
        <p:txBody>
          <a:bodyPr horzOverflow="overflow" lIns="0" tIns="0" rIns="0" bIns="0">
            <a:spAutoFit/>
          </a:bodyPr>
          <a:lstStyle/>
          <a:p>
            <a:pPr algn="l"/>
            <a:r>
              <a:rPr lang="en-AU" sz="1200">
                <a:solidFill>
                  <a:srgbClr val="000000">
                    <a:alpha val="50000"/>
                  </a:srgbClr>
                </a:solidFill>
                <a:latin typeface="Aptos" panose="020B0004020202020204" pitchFamily="34" charset="0"/>
              </a:rPr>
              <a:t>OFFICIAL</a:t>
            </a:r>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xml" /><Relationship Id="rId1" Type="http://schemas.openxmlformats.org/officeDocument/2006/relationships/slideLayout" Target="../slideLayouts/slideLayout1.xml" /><Relationship Id="rId6" Type="http://schemas.openxmlformats.org/officeDocument/2006/relationships/hyperlink" Target="https://www.education.wa.edu.au/copyright" TargetMode="External" /><Relationship Id="rId5" Type="http://schemas.openxmlformats.org/officeDocument/2006/relationships/image" Target="../media/image3.jpg" /><Relationship Id="rId4" Type="http://schemas.openxmlformats.org/officeDocument/2006/relationships/image" Target="../media/image2.jpg"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Relationship Id="rId3" Type="http://schemas.openxmlformats.org/officeDocument/2006/relationships/image" Target="../media/image4.jpg" /><Relationship Id="rId2" Type="http://schemas.openxmlformats.org/officeDocument/2006/relationships/notesSlide" Target="../notesSlides/notesSlide3.xml"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Relationship Id="rId8" Type="http://schemas.openxmlformats.org/officeDocument/2006/relationships/image" Target="../media/image10.png" /><Relationship Id="rId3" Type="http://schemas.openxmlformats.org/officeDocument/2006/relationships/image" Target="../media/image5.png" /><Relationship Id="rId7" Type="http://schemas.openxmlformats.org/officeDocument/2006/relationships/image" Target="../media/image9.png" /><Relationship Id="rId2" Type="http://schemas.openxmlformats.org/officeDocument/2006/relationships/notesSlide" Target="../notesSlides/notesSlide4.xml" /><Relationship Id="rId1" Type="http://schemas.openxmlformats.org/officeDocument/2006/relationships/slideLayout" Target="../slideLayouts/slideLayout1.xml" /><Relationship Id="rId6" Type="http://schemas.openxmlformats.org/officeDocument/2006/relationships/image" Target="../media/image8.png" /><Relationship Id="rId5" Type="http://schemas.openxmlformats.org/officeDocument/2006/relationships/image" Target="../media/image7.png" /><Relationship Id="rId4" Type="http://schemas.openxmlformats.org/officeDocument/2006/relationships/image" Target="../media/image6.png"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Relationship Id="rId3" Type="http://schemas.openxmlformats.org/officeDocument/2006/relationships/image" Target="../media/image11.jpg" /><Relationship Id="rId2" Type="http://schemas.openxmlformats.org/officeDocument/2006/relationships/notesSlide" Target="../notesSlides/notesSlide6.xml"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Relationship Id="rId3" Type="http://schemas.openxmlformats.org/officeDocument/2006/relationships/image" Target="../media/image12.jpg" /><Relationship Id="rId2" Type="http://schemas.openxmlformats.org/officeDocument/2006/relationships/notesSlide" Target="../notesSlides/notesSlide7.xml" /><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Relationship Id="rId3" Type="http://schemas.openxmlformats.org/officeDocument/2006/relationships/image" Target="../media/image13.jpg" /><Relationship Id="rId2" Type="http://schemas.openxmlformats.org/officeDocument/2006/relationships/notesSlide" Target="../notesSlides/notesSlide8.xml" /><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Relationship Id="rId3" Type="http://schemas.openxmlformats.org/officeDocument/2006/relationships/image" Target="../media/image14.png" /><Relationship Id="rId2" Type="http://schemas.openxmlformats.org/officeDocument/2006/relationships/notesSlide" Target="../notesSlides/notesSlide9.xml" /><Relationship Id="rId1" Type="http://schemas.openxmlformats.org/officeDocument/2006/relationships/slideLayout" Target="../slideLayouts/slideLayout1.xml" /><Relationship Id="rId5" Type="http://schemas.openxmlformats.org/officeDocument/2006/relationships/image" Target="../media/image16.png" /><Relationship Id="rId4" Type="http://schemas.openxmlformats.org/officeDocument/2006/relationships/image" Target="../media/image15.png" /></Relationships>
</file>

<file path=ppt/slides/_rels/slide10.xml.rels><?xml version="1.0" encoding="UTF-8" standalone="yes"?>
<Relationships xmlns="http://schemas.openxmlformats.org/package/2006/relationships"><Relationship Id="rId3" Type="http://schemas.openxmlformats.org/officeDocument/2006/relationships/image" Target="../media/image17.png" /><Relationship Id="rId2" Type="http://schemas.openxmlformats.org/officeDocument/2006/relationships/notesSlide" Target="../notesSlides/notesSlide10.xml" /><Relationship Id="rId1" Type="http://schemas.openxmlformats.org/officeDocument/2006/relationships/slideLayout" Target="../slideLayouts/slideLayout1.xml" /><Relationship Id="rId5" Type="http://schemas.openxmlformats.org/officeDocument/2006/relationships/image" Target="../media/image19.jpg" /><Relationship Id="rId4" Type="http://schemas.openxmlformats.org/officeDocument/2006/relationships/image" Target="../media/image18.png" /></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 /><Relationship Id="rId1" Type="http://schemas.openxmlformats.org/officeDocument/2006/relationships/slideLayout" Target="../slideLayouts/slideLayout1.xml" /></Relationships>
</file>

<file path=ppt/slides/_rels/slide12.xml.rels><?xml version="1.0" encoding="UTF-8" standalone="yes"?>
<Relationships xmlns="http://schemas.openxmlformats.org/package/2006/relationships"><Relationship Id="rId3" Type="http://schemas.openxmlformats.org/officeDocument/2006/relationships/image" Target="../media/image20.png" /><Relationship Id="rId2" Type="http://schemas.openxmlformats.org/officeDocument/2006/relationships/notesSlide" Target="../notesSlides/notesSlide12.xml" /><Relationship Id="rId1" Type="http://schemas.openxmlformats.org/officeDocument/2006/relationships/slideLayout" Target="../slideLayouts/slideLayout1.xml" /><Relationship Id="rId5" Type="http://schemas.openxmlformats.org/officeDocument/2006/relationships/image" Target="../media/image7.png" /><Relationship Id="rId4" Type="http://schemas.openxmlformats.org/officeDocument/2006/relationships/image" Target="../media/image5.png" /></Relationships>
</file>

<file path=ppt/slides/_rels/slide13.xml.rels><?xml version="1.0" encoding="UTF-8" standalone="yes"?>
<Relationships xmlns="http://schemas.openxmlformats.org/package/2006/relationships"><Relationship Id="rId8" Type="http://schemas.openxmlformats.org/officeDocument/2006/relationships/image" Target="../media/image14.png" /><Relationship Id="rId3" Type="http://schemas.openxmlformats.org/officeDocument/2006/relationships/image" Target="../media/image9.png" /><Relationship Id="rId7" Type="http://schemas.openxmlformats.org/officeDocument/2006/relationships/image" Target="../media/image24.png" /><Relationship Id="rId2" Type="http://schemas.openxmlformats.org/officeDocument/2006/relationships/notesSlide" Target="../notesSlides/notesSlide13.xml" /><Relationship Id="rId1" Type="http://schemas.openxmlformats.org/officeDocument/2006/relationships/slideLayout" Target="../slideLayouts/slideLayout1.xml" /><Relationship Id="rId6" Type="http://schemas.openxmlformats.org/officeDocument/2006/relationships/image" Target="../media/image23.png" /><Relationship Id="rId5" Type="http://schemas.openxmlformats.org/officeDocument/2006/relationships/image" Target="../media/image22.png" /><Relationship Id="rId4" Type="http://schemas.openxmlformats.org/officeDocument/2006/relationships/image" Target="../media/image21.png" /></Relationships>
</file>

<file path=ppt/slides/_rels/slide14.xml.rels><?xml version="1.0" encoding="UTF-8" standalone="yes"?>
<Relationships xmlns="http://schemas.openxmlformats.org/package/2006/relationships"><Relationship Id="rId8" Type="http://schemas.openxmlformats.org/officeDocument/2006/relationships/image" Target="../media/image27.png" /><Relationship Id="rId3" Type="http://schemas.openxmlformats.org/officeDocument/2006/relationships/image" Target="../media/image8.png" /><Relationship Id="rId7" Type="http://schemas.openxmlformats.org/officeDocument/2006/relationships/image" Target="../media/image26.png" /><Relationship Id="rId2" Type="http://schemas.openxmlformats.org/officeDocument/2006/relationships/notesSlide" Target="../notesSlides/notesSlide14.xml" /><Relationship Id="rId1" Type="http://schemas.openxmlformats.org/officeDocument/2006/relationships/slideLayout" Target="../slideLayouts/slideLayout1.xml" /><Relationship Id="rId6" Type="http://schemas.openxmlformats.org/officeDocument/2006/relationships/image" Target="../media/image5.png" /><Relationship Id="rId5" Type="http://schemas.openxmlformats.org/officeDocument/2006/relationships/image" Target="../media/image25.png" /><Relationship Id="rId4" Type="http://schemas.openxmlformats.org/officeDocument/2006/relationships/image" Target="../media/image14.png" /><Relationship Id="rId9" Type="http://schemas.openxmlformats.org/officeDocument/2006/relationships/image" Target="../media/image28.png" /></Relationships>
</file>

<file path=ppt/slides/_rels/slide15.xml.rels><?xml version="1.0" encoding="UTF-8" standalone="yes"?>
<Relationships xmlns="http://schemas.openxmlformats.org/package/2006/relationships"><Relationship Id="rId3" Type="http://schemas.openxmlformats.org/officeDocument/2006/relationships/hyperlink" Target="https://docs.google.com/document/d/1GHB4GrGl4pGVpOi_aQIPZpKnEyHx6TSy/edit" TargetMode="External" /><Relationship Id="rId2" Type="http://schemas.openxmlformats.org/officeDocument/2006/relationships/notesSlide" Target="../notesSlides/notesSlide15.xml" /><Relationship Id="rId1" Type="http://schemas.openxmlformats.org/officeDocument/2006/relationships/slideLayout" Target="../slideLayouts/slideLayout1.xml" /><Relationship Id="rId4" Type="http://schemas.openxmlformats.org/officeDocument/2006/relationships/image" Target="../media/image29.png" /></Relationships>
</file>

<file path=ppt/slides/_rels/slide16.xml.rels><?xml version="1.0" encoding="UTF-8" standalone="yes"?>
<Relationships xmlns="http://schemas.openxmlformats.org/package/2006/relationships"><Relationship Id="rId3" Type="http://schemas.openxmlformats.org/officeDocument/2006/relationships/image" Target="../media/image22.png" /><Relationship Id="rId7" Type="http://schemas.openxmlformats.org/officeDocument/2006/relationships/hyperlink" Target="https://grc.srczone.net/" TargetMode="External" /><Relationship Id="rId2" Type="http://schemas.openxmlformats.org/officeDocument/2006/relationships/notesSlide" Target="../notesSlides/notesSlide16.xml" /><Relationship Id="rId1" Type="http://schemas.openxmlformats.org/officeDocument/2006/relationships/slideLayout" Target="../slideLayouts/slideLayout1.xml" /><Relationship Id="rId6" Type="http://schemas.openxmlformats.org/officeDocument/2006/relationships/image" Target="../media/image31.png" /><Relationship Id="rId5" Type="http://schemas.openxmlformats.org/officeDocument/2006/relationships/hyperlink" Target="https://frs.srczone.net/" TargetMode="External" /><Relationship Id="rId4" Type="http://schemas.openxmlformats.org/officeDocument/2006/relationships/image" Target="../media/image30.png" /></Relationships>
</file>

<file path=ppt/slides/_rels/slide17.xml.rels><?xml version="1.0" encoding="UTF-8" standalone="yes"?>
<Relationships xmlns="http://schemas.openxmlformats.org/package/2006/relationships"><Relationship Id="rId3" Type="http://schemas.openxmlformats.org/officeDocument/2006/relationships/image" Target="../media/image32.jpg" /><Relationship Id="rId2" Type="http://schemas.openxmlformats.org/officeDocument/2006/relationships/notesSlide" Target="../notesSlides/notesSlide17.xml" /><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6756400"/>
            <a:ext cx="12192000" cy="101600"/>
          </a:xfrm>
          <a:prstGeom prst="rect">
            <a:avLst/>
          </a:prstGeom>
          <a:solidFill>
            <a:srgbClr val="EAB830"/>
          </a:solidFill>
          <a:ln/>
        </p:spPr>
        <p:txBody>
          <a:bodyPr/>
          <a:lstStyle/>
          <a:p>
            <a:endParaRPr lang="en-AU"/>
          </a:p>
        </p:txBody>
      </p:sp>
      <p:pic>
        <p:nvPicPr>
          <p:cNvPr id="3" name="Image 0" descr="Two students building a robot in a classroom while a teacher helps"/>
          <p:cNvPicPr>
            <a:picLocks noChangeAspect="1"/>
          </p:cNvPicPr>
          <p:nvPr/>
        </p:nvPicPr>
        <p:blipFill>
          <a:blip r:embed="rId4"/>
          <a:srcRect/>
          <a:stretch/>
        </p:blipFill>
        <p:spPr>
          <a:xfrm>
            <a:off x="6604000" y="1905000"/>
            <a:ext cx="4826000" cy="3136900"/>
          </a:xfrm>
          <a:prstGeom prst="rect">
            <a:avLst/>
          </a:prstGeom>
        </p:spPr>
      </p:pic>
      <p:sp>
        <p:nvSpPr>
          <p:cNvPr id="4" name="Shape 1"/>
          <p:cNvSpPr/>
          <p:nvPr/>
        </p:nvSpPr>
        <p:spPr>
          <a:xfrm>
            <a:off x="6604000" y="5041900"/>
            <a:ext cx="4826000" cy="63500"/>
          </a:xfrm>
          <a:prstGeom prst="rect">
            <a:avLst/>
          </a:prstGeom>
          <a:solidFill>
            <a:srgbClr val="EAB830"/>
          </a:solidFill>
          <a:ln/>
        </p:spPr>
        <p:txBody>
          <a:bodyPr/>
          <a:lstStyle/>
          <a:p>
            <a:endParaRPr lang="en-AU"/>
          </a:p>
        </p:txBody>
      </p:sp>
      <p:sp>
        <p:nvSpPr>
          <p:cNvPr id="7" name="Shape 3"/>
          <p:cNvSpPr/>
          <p:nvPr/>
        </p:nvSpPr>
        <p:spPr>
          <a:xfrm>
            <a:off x="762000" y="1469727"/>
            <a:ext cx="2159000" cy="1092200"/>
          </a:xfrm>
          <a:prstGeom prst="roundRect">
            <a:avLst>
              <a:gd name="adj" fmla="val 6977"/>
            </a:avLst>
          </a:prstGeom>
          <a:solidFill>
            <a:srgbClr val="FFFFFF"/>
          </a:solidFill>
          <a:ln/>
        </p:spPr>
        <p:txBody>
          <a:bodyPr/>
          <a:lstStyle/>
          <a:p>
            <a:endParaRPr lang="en-AU"/>
          </a:p>
        </p:txBody>
      </p:sp>
      <p:pic>
        <p:nvPicPr>
          <p:cNvPr id="8" name="Image 2" descr="Future Ready Skills logo"/>
          <p:cNvPicPr>
            <a:picLocks noChangeAspect="1"/>
          </p:cNvPicPr>
          <p:nvPr/>
        </p:nvPicPr>
        <p:blipFill>
          <a:blip r:embed="rId5"/>
          <a:srcRect/>
          <a:stretch/>
        </p:blipFill>
        <p:spPr>
          <a:xfrm>
            <a:off x="889000" y="1571327"/>
            <a:ext cx="1905000" cy="889000"/>
          </a:xfrm>
          <a:prstGeom prst="rect">
            <a:avLst/>
          </a:prstGeom>
        </p:spPr>
      </p:pic>
      <p:sp>
        <p:nvSpPr>
          <p:cNvPr id="9" name="Text 4"/>
          <p:cNvSpPr/>
          <p:nvPr/>
        </p:nvSpPr>
        <p:spPr>
          <a:xfrm>
            <a:off x="762000" y="2765127"/>
            <a:ext cx="5734050" cy="497681"/>
          </a:xfrm>
          <a:prstGeom prst="rect">
            <a:avLst/>
          </a:prstGeom>
          <a:noFill/>
          <a:ln/>
        </p:spPr>
        <p:txBody>
          <a:bodyPr wrap="square" lIns="0" tIns="0" rIns="0" bIns="0" rtlCol="0" anchor="t"/>
          <a:lstStyle/>
          <a:p>
            <a:pPr marL="0" indent="0" algn="l">
              <a:lnSpc>
                <a:spcPts val="1960"/>
              </a:lnSpc>
              <a:buNone/>
            </a:pPr>
            <a:r>
              <a:rPr lang="en-US" sz="1400" b="1" kern="0" spc="200" dirty="0">
                <a:solidFill>
                  <a:srgbClr val="BFE9F3"/>
                </a:solidFill>
                <a:latin typeface="Montserrat" pitchFamily="34" charset="0"/>
                <a:ea typeface="Montserrat" pitchFamily="34" charset="-122"/>
                <a:cs typeface="Montserrat" pitchFamily="34" charset="-120"/>
              </a:rPr>
              <a:t>TWO RIVERS SCHOOLS NETWORK · FOUNDATION TO YEAR 10</a:t>
            </a:r>
            <a:endParaRPr lang="en-US" sz="1400" dirty="0"/>
          </a:p>
        </p:txBody>
      </p:sp>
      <p:sp>
        <p:nvSpPr>
          <p:cNvPr id="10" name="Text 5"/>
          <p:cNvSpPr/>
          <p:nvPr/>
        </p:nvSpPr>
        <p:spPr>
          <a:xfrm>
            <a:off x="762000" y="3466009"/>
            <a:ext cx="5734050" cy="1261864"/>
          </a:xfrm>
          <a:prstGeom prst="rect">
            <a:avLst/>
          </a:prstGeom>
          <a:noFill/>
          <a:ln/>
        </p:spPr>
        <p:txBody>
          <a:bodyPr wrap="square" lIns="0" tIns="0" rIns="0" bIns="0" rtlCol="0" anchor="t"/>
          <a:lstStyle/>
          <a:p>
            <a:pPr marL="0" indent="0" algn="l">
              <a:lnSpc>
                <a:spcPts val="4968"/>
              </a:lnSpc>
              <a:buNone/>
            </a:pPr>
            <a:r>
              <a:rPr lang="en-US" sz="4600" b="1" dirty="0">
                <a:solidFill>
                  <a:srgbClr val="FFFFFF"/>
                </a:solidFill>
                <a:latin typeface="Montserrat" pitchFamily="34" charset="0"/>
                <a:ea typeface="Montserrat" pitchFamily="34" charset="-122"/>
                <a:cs typeface="Montserrat" pitchFamily="34" charset="-120"/>
              </a:rPr>
              <a:t>Future Ready Skills Academy</a:t>
            </a:r>
            <a:endParaRPr lang="en-US" sz="4600" dirty="0"/>
          </a:p>
        </p:txBody>
      </p:sp>
      <p:sp>
        <p:nvSpPr>
          <p:cNvPr id="11" name="Text 6"/>
          <p:cNvSpPr/>
          <p:nvPr/>
        </p:nvSpPr>
        <p:spPr>
          <a:xfrm>
            <a:off x="762000" y="4931073"/>
            <a:ext cx="5734050" cy="457200"/>
          </a:xfrm>
          <a:prstGeom prst="rect">
            <a:avLst/>
          </a:prstGeom>
          <a:noFill/>
          <a:ln/>
        </p:spPr>
        <p:txBody>
          <a:bodyPr wrap="square" lIns="0" tIns="0" rIns="0" bIns="0" rtlCol="0" anchor="t"/>
          <a:lstStyle/>
          <a:p>
            <a:pPr marL="0" indent="0" algn="l">
              <a:lnSpc>
                <a:spcPts val="3600"/>
              </a:lnSpc>
              <a:buNone/>
            </a:pPr>
            <a:r>
              <a:rPr lang="en-US" sz="3600" dirty="0">
                <a:solidFill>
                  <a:srgbClr val="EAB830"/>
                </a:solidFill>
                <a:latin typeface="Caveat" pitchFamily="34" charset="0"/>
                <a:ea typeface="Caveat" pitchFamily="34" charset="-122"/>
                <a:cs typeface="Caveat" pitchFamily="34" charset="-120"/>
              </a:rPr>
              <a:t>inspire</a:t>
            </a:r>
            <a:endParaRPr lang="en-US" sz="3600" dirty="0"/>
          </a:p>
        </p:txBody>
      </p:sp>
      <p:sp>
        <p:nvSpPr>
          <p:cNvPr id="12" name="Text 7"/>
          <p:cNvSpPr/>
          <p:nvPr/>
        </p:nvSpPr>
        <p:spPr>
          <a:xfrm>
            <a:off x="762000" y="6339880"/>
            <a:ext cx="6667500" cy="213320"/>
          </a:xfrm>
          <a:prstGeom prst="rect">
            <a:avLst/>
          </a:prstGeom>
          <a:noFill/>
          <a:ln/>
        </p:spPr>
        <p:txBody>
          <a:bodyPr wrap="square" lIns="0" tIns="0" rIns="0" bIns="0" rtlCol="0" anchor="t"/>
          <a:lstStyle/>
          <a:p>
            <a:pPr marL="0" indent="0" algn="l">
              <a:lnSpc>
                <a:spcPts val="1680"/>
              </a:lnSpc>
              <a:buNone/>
            </a:pPr>
            <a:r>
              <a:rPr lang="en-US" sz="1200" dirty="0">
                <a:solidFill>
                  <a:srgbClr val="E3EEFB"/>
                </a:solidFill>
                <a:latin typeface="Open Sans" pitchFamily="34" charset="0"/>
                <a:ea typeface="Open Sans" pitchFamily="34" charset="-122"/>
                <a:cs typeface="Open Sans" pitchFamily="34" charset="-120"/>
              </a:rPr>
              <a:t>All contents, © Government of Western Australia 2026, </a:t>
            </a:r>
            <a:r>
              <a:rPr lang="en-US" sz="1200" u="sng" dirty="0">
                <a:solidFill>
                  <a:srgbClr val="E3EEFB"/>
                </a:solidFill>
                <a:latin typeface="Open Sans" pitchFamily="34" charset="0"/>
                <a:ea typeface="Open Sans" pitchFamily="34" charset="-122"/>
                <a:cs typeface="Open Sans" pitchFamily="34" charset="-120"/>
                <a:hlinkClick r:id="rId6">
                  <a:extLst>
                    <a:ext uri="{A12FA001-AC4F-418D-AE19-62706E023703}">
                      <ahyp:hlinkClr xmlns:ahyp="http://schemas.microsoft.com/office/drawing/2018/hyperlinkcolor" val="tx"/>
                    </a:ext>
                  </a:extLst>
                </a:hlinkClick>
              </a:rPr>
              <a:t>unless otherwise stated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62000" y="609600"/>
            <a:ext cx="11201400" cy="496491"/>
          </a:xfrm>
          <a:prstGeom prst="rect">
            <a:avLst/>
          </a:prstGeom>
          <a:noFill/>
          <a:ln/>
        </p:spPr>
        <p:txBody>
          <a:bodyPr wrap="square" lIns="0" tIns="0" rIns="0" bIns="0" rtlCol="0" anchor="t"/>
          <a:lstStyle/>
          <a:p>
            <a:pPr marL="0" indent="0" algn="l">
              <a:lnSpc>
                <a:spcPts val="3910"/>
              </a:lnSpc>
              <a:buNone/>
            </a:pPr>
            <a:r>
              <a:rPr lang="en-US" sz="3400" b="1" dirty="0">
                <a:solidFill>
                  <a:srgbClr val="005AA7"/>
                </a:solidFill>
                <a:latin typeface="Montserrat" pitchFamily="34" charset="0"/>
                <a:ea typeface="Montserrat" pitchFamily="34" charset="-122"/>
                <a:cs typeface="Montserrat" pitchFamily="34" charset="-120"/>
              </a:rPr>
              <a:t>Our learning goals today</a:t>
            </a:r>
            <a:endParaRPr lang="en-US" sz="3400" dirty="0"/>
          </a:p>
        </p:txBody>
      </p:sp>
      <p:sp>
        <p:nvSpPr>
          <p:cNvPr id="3" name="Shape 1"/>
          <p:cNvSpPr/>
          <p:nvPr/>
        </p:nvSpPr>
        <p:spPr>
          <a:xfrm>
            <a:off x="762000" y="1220391"/>
            <a:ext cx="850900" cy="57150"/>
          </a:xfrm>
          <a:prstGeom prst="rect">
            <a:avLst/>
          </a:prstGeom>
          <a:solidFill>
            <a:srgbClr val="EAB830"/>
          </a:solidFill>
          <a:ln/>
        </p:spPr>
        <p:txBody>
          <a:bodyPr/>
          <a:lstStyle/>
          <a:p>
            <a:endParaRPr lang="en-AU"/>
          </a:p>
        </p:txBody>
      </p:sp>
      <p:sp>
        <p:nvSpPr>
          <p:cNvPr id="4" name="Shape 2"/>
          <p:cNvSpPr/>
          <p:nvPr/>
        </p:nvSpPr>
        <p:spPr>
          <a:xfrm>
            <a:off x="762000" y="1582341"/>
            <a:ext cx="5232400" cy="1421011"/>
          </a:xfrm>
          <a:prstGeom prst="rect">
            <a:avLst/>
          </a:prstGeom>
          <a:solidFill>
            <a:srgbClr val="F4F8FC"/>
          </a:solidFill>
          <a:ln/>
        </p:spPr>
        <p:txBody>
          <a:bodyPr/>
          <a:lstStyle/>
          <a:p>
            <a:endParaRPr lang="en-AU"/>
          </a:p>
        </p:txBody>
      </p:sp>
      <p:sp>
        <p:nvSpPr>
          <p:cNvPr id="5" name="Shape 3"/>
          <p:cNvSpPr/>
          <p:nvPr/>
        </p:nvSpPr>
        <p:spPr>
          <a:xfrm>
            <a:off x="762000" y="1582341"/>
            <a:ext cx="5232400" cy="38100"/>
          </a:xfrm>
          <a:prstGeom prst="rect">
            <a:avLst/>
          </a:prstGeom>
          <a:solidFill>
            <a:srgbClr val="00BED6"/>
          </a:solidFill>
          <a:ln/>
        </p:spPr>
        <p:txBody>
          <a:bodyPr/>
          <a:lstStyle/>
          <a:p>
            <a:endParaRPr lang="en-AU"/>
          </a:p>
        </p:txBody>
      </p:sp>
      <p:sp>
        <p:nvSpPr>
          <p:cNvPr id="6" name="Text 4"/>
          <p:cNvSpPr/>
          <p:nvPr/>
        </p:nvSpPr>
        <p:spPr>
          <a:xfrm>
            <a:off x="973415" y="1849041"/>
            <a:ext cx="378063" cy="421580"/>
          </a:xfrm>
          <a:prstGeom prst="roundRect">
            <a:avLst>
              <a:gd name="adj" fmla="val 20155"/>
            </a:avLst>
          </a:prstGeom>
          <a:solidFill>
            <a:srgbClr val="EAF3FB"/>
          </a:solidFill>
          <a:ln/>
        </p:spPr>
        <p:txBody>
          <a:bodyPr wrap="none" lIns="127000" tIns="50800" rIns="127000" bIns="50800" rtlCol="0" anchor="ctr"/>
          <a:lstStyle/>
          <a:p>
            <a:pPr marL="0" indent="0" algn="l">
              <a:lnSpc>
                <a:spcPts val="2520"/>
              </a:lnSpc>
              <a:buNone/>
            </a:pPr>
            <a:r>
              <a:rPr lang="en-US" sz="1800" b="1" dirty="0">
                <a:solidFill>
                  <a:srgbClr val="005AA7"/>
                </a:solidFill>
                <a:latin typeface="Montserrat" pitchFamily="34" charset="0"/>
                <a:ea typeface="Montserrat" pitchFamily="34" charset="-122"/>
                <a:cs typeface="Montserrat" pitchFamily="34" charset="-120"/>
              </a:rPr>
              <a:t>1</a:t>
            </a:r>
            <a:endParaRPr lang="en-US" sz="1800" dirty="0"/>
          </a:p>
        </p:txBody>
      </p:sp>
      <p:sp>
        <p:nvSpPr>
          <p:cNvPr id="7" name="Text 5"/>
          <p:cNvSpPr/>
          <p:nvPr/>
        </p:nvSpPr>
        <p:spPr>
          <a:xfrm>
            <a:off x="1512094" y="1849041"/>
            <a:ext cx="4466392" cy="925711"/>
          </a:xfrm>
          <a:prstGeom prst="rect">
            <a:avLst/>
          </a:prstGeom>
          <a:noFill/>
          <a:ln/>
        </p:spPr>
        <p:txBody>
          <a:bodyPr wrap="square" lIns="0" tIns="0" rIns="0" bIns="0" rtlCol="0" anchor="t"/>
          <a:lstStyle/>
          <a:p>
            <a:pPr marL="0" indent="0" algn="l">
              <a:lnSpc>
                <a:spcPts val="2430"/>
              </a:lnSpc>
              <a:buNone/>
            </a:pPr>
            <a:r>
              <a:rPr lang="en-US" sz="1800" dirty="0">
                <a:solidFill>
                  <a:srgbClr val="333333"/>
                </a:solidFill>
                <a:latin typeface="Open Sans" pitchFamily="34" charset="0"/>
                <a:ea typeface="Open Sans" pitchFamily="34" charset="-122"/>
                <a:cs typeface="Open Sans" pitchFamily="34" charset="-120"/>
              </a:rPr>
              <a:t>Understand the five Future Ready Skills (FRS), their curriculum links and this SE Metro school priority project</a:t>
            </a:r>
            <a:endParaRPr lang="en-US" sz="1800" dirty="0"/>
          </a:p>
        </p:txBody>
      </p:sp>
      <p:sp>
        <p:nvSpPr>
          <p:cNvPr id="8" name="Shape 6"/>
          <p:cNvSpPr/>
          <p:nvPr/>
        </p:nvSpPr>
        <p:spPr>
          <a:xfrm>
            <a:off x="6197600" y="1582341"/>
            <a:ext cx="5232400" cy="1421011"/>
          </a:xfrm>
          <a:prstGeom prst="rect">
            <a:avLst/>
          </a:prstGeom>
          <a:solidFill>
            <a:srgbClr val="F4F8FC"/>
          </a:solidFill>
          <a:ln/>
        </p:spPr>
        <p:txBody>
          <a:bodyPr/>
          <a:lstStyle/>
          <a:p>
            <a:endParaRPr lang="en-AU"/>
          </a:p>
        </p:txBody>
      </p:sp>
      <p:sp>
        <p:nvSpPr>
          <p:cNvPr id="9" name="Shape 7"/>
          <p:cNvSpPr/>
          <p:nvPr/>
        </p:nvSpPr>
        <p:spPr>
          <a:xfrm>
            <a:off x="6197600" y="1582341"/>
            <a:ext cx="5232400" cy="38100"/>
          </a:xfrm>
          <a:prstGeom prst="rect">
            <a:avLst/>
          </a:prstGeom>
          <a:solidFill>
            <a:srgbClr val="005AA7"/>
          </a:solidFill>
          <a:ln/>
        </p:spPr>
        <p:txBody>
          <a:bodyPr/>
          <a:lstStyle/>
          <a:p>
            <a:endParaRPr lang="en-AU"/>
          </a:p>
        </p:txBody>
      </p:sp>
      <p:sp>
        <p:nvSpPr>
          <p:cNvPr id="10" name="Text 8"/>
          <p:cNvSpPr/>
          <p:nvPr/>
        </p:nvSpPr>
        <p:spPr>
          <a:xfrm>
            <a:off x="6406753" y="1849041"/>
            <a:ext cx="427831" cy="421580"/>
          </a:xfrm>
          <a:prstGeom prst="roundRect">
            <a:avLst>
              <a:gd name="adj" fmla="val 18075"/>
            </a:avLst>
          </a:prstGeom>
          <a:solidFill>
            <a:srgbClr val="EAF3FB"/>
          </a:solidFill>
          <a:ln/>
        </p:spPr>
        <p:txBody>
          <a:bodyPr wrap="none" lIns="127000" tIns="50800" rIns="127000" bIns="50800" rtlCol="0" anchor="ctr"/>
          <a:lstStyle/>
          <a:p>
            <a:pPr marL="0" indent="0" algn="l">
              <a:lnSpc>
                <a:spcPts val="2520"/>
              </a:lnSpc>
              <a:buNone/>
            </a:pPr>
            <a:r>
              <a:rPr lang="en-US" sz="1800" b="1" dirty="0">
                <a:solidFill>
                  <a:srgbClr val="005AA7"/>
                </a:solidFill>
                <a:latin typeface="Montserrat" pitchFamily="34" charset="0"/>
                <a:ea typeface="Montserrat" pitchFamily="34" charset="-122"/>
                <a:cs typeface="Montserrat" pitchFamily="34" charset="-120"/>
              </a:rPr>
              <a:t>2</a:t>
            </a:r>
            <a:endParaRPr lang="en-US" sz="1800" dirty="0"/>
          </a:p>
        </p:txBody>
      </p:sp>
      <p:sp>
        <p:nvSpPr>
          <p:cNvPr id="11" name="Text 9"/>
          <p:cNvSpPr/>
          <p:nvPr/>
        </p:nvSpPr>
        <p:spPr>
          <a:xfrm>
            <a:off x="6992938" y="1849041"/>
            <a:ext cx="4418886" cy="617141"/>
          </a:xfrm>
          <a:prstGeom prst="rect">
            <a:avLst/>
          </a:prstGeom>
          <a:noFill/>
          <a:ln/>
        </p:spPr>
        <p:txBody>
          <a:bodyPr wrap="square" lIns="0" tIns="0" rIns="0" bIns="0" rtlCol="0" anchor="t"/>
          <a:lstStyle/>
          <a:p>
            <a:pPr marL="0" indent="0" algn="l">
              <a:lnSpc>
                <a:spcPts val="2430"/>
              </a:lnSpc>
              <a:buNone/>
            </a:pPr>
            <a:r>
              <a:rPr lang="en-US" sz="1800" dirty="0">
                <a:solidFill>
                  <a:srgbClr val="333333"/>
                </a:solidFill>
                <a:latin typeface="Open Sans" pitchFamily="34" charset="0"/>
                <a:ea typeface="Open Sans" pitchFamily="34" charset="-122"/>
                <a:cs typeface="Open Sans" pitchFamily="34" charset="-120"/>
              </a:rPr>
              <a:t>Explore where the FRS progressions came from and what they are for</a:t>
            </a:r>
            <a:endParaRPr lang="en-US" sz="1800" dirty="0"/>
          </a:p>
        </p:txBody>
      </p:sp>
      <p:sp>
        <p:nvSpPr>
          <p:cNvPr id="12" name="Shape 10"/>
          <p:cNvSpPr/>
          <p:nvPr/>
        </p:nvSpPr>
        <p:spPr>
          <a:xfrm>
            <a:off x="762000" y="3206552"/>
            <a:ext cx="5232400" cy="1112441"/>
          </a:xfrm>
          <a:prstGeom prst="rect">
            <a:avLst/>
          </a:prstGeom>
          <a:solidFill>
            <a:srgbClr val="F4F8FC"/>
          </a:solidFill>
          <a:ln/>
        </p:spPr>
        <p:txBody>
          <a:bodyPr/>
          <a:lstStyle/>
          <a:p>
            <a:endParaRPr lang="en-AU"/>
          </a:p>
        </p:txBody>
      </p:sp>
      <p:sp>
        <p:nvSpPr>
          <p:cNvPr id="13" name="Shape 11"/>
          <p:cNvSpPr/>
          <p:nvPr/>
        </p:nvSpPr>
        <p:spPr>
          <a:xfrm>
            <a:off x="762000" y="3206552"/>
            <a:ext cx="5232400" cy="38100"/>
          </a:xfrm>
          <a:prstGeom prst="rect">
            <a:avLst/>
          </a:prstGeom>
          <a:solidFill>
            <a:srgbClr val="EAB830"/>
          </a:solidFill>
          <a:ln/>
        </p:spPr>
        <p:txBody>
          <a:bodyPr/>
          <a:lstStyle/>
          <a:p>
            <a:endParaRPr lang="en-AU"/>
          </a:p>
        </p:txBody>
      </p:sp>
      <p:sp>
        <p:nvSpPr>
          <p:cNvPr id="14" name="Text 12"/>
          <p:cNvSpPr/>
          <p:nvPr/>
        </p:nvSpPr>
        <p:spPr>
          <a:xfrm>
            <a:off x="971133" y="3473252"/>
            <a:ext cx="428268" cy="421580"/>
          </a:xfrm>
          <a:prstGeom prst="roundRect">
            <a:avLst>
              <a:gd name="adj" fmla="val 18075"/>
            </a:avLst>
          </a:prstGeom>
          <a:solidFill>
            <a:srgbClr val="EAF3FB"/>
          </a:solidFill>
          <a:ln/>
        </p:spPr>
        <p:txBody>
          <a:bodyPr wrap="none" lIns="127000" tIns="50800" rIns="127000" bIns="50800" rtlCol="0" anchor="ctr"/>
          <a:lstStyle/>
          <a:p>
            <a:pPr marL="0" indent="0" algn="l">
              <a:lnSpc>
                <a:spcPts val="2520"/>
              </a:lnSpc>
              <a:buNone/>
            </a:pPr>
            <a:r>
              <a:rPr lang="en-US" sz="1800" b="1" dirty="0">
                <a:solidFill>
                  <a:srgbClr val="005AA7"/>
                </a:solidFill>
                <a:latin typeface="Montserrat" pitchFamily="34" charset="0"/>
                <a:ea typeface="Montserrat" pitchFamily="34" charset="-122"/>
                <a:cs typeface="Montserrat" pitchFamily="34" charset="-120"/>
              </a:rPr>
              <a:t>3</a:t>
            </a:r>
            <a:endParaRPr lang="en-US" sz="1800" dirty="0"/>
          </a:p>
        </p:txBody>
      </p:sp>
      <p:sp>
        <p:nvSpPr>
          <p:cNvPr id="15" name="Text 13"/>
          <p:cNvSpPr/>
          <p:nvPr/>
        </p:nvSpPr>
        <p:spPr>
          <a:xfrm>
            <a:off x="1557734" y="3473252"/>
            <a:ext cx="4418469" cy="617141"/>
          </a:xfrm>
          <a:prstGeom prst="rect">
            <a:avLst/>
          </a:prstGeom>
          <a:noFill/>
          <a:ln/>
        </p:spPr>
        <p:txBody>
          <a:bodyPr wrap="square" lIns="0" tIns="0" rIns="0" bIns="0" rtlCol="0" anchor="t"/>
          <a:lstStyle/>
          <a:p>
            <a:pPr marL="0" indent="0" algn="l">
              <a:lnSpc>
                <a:spcPts val="2430"/>
              </a:lnSpc>
              <a:buNone/>
            </a:pPr>
            <a:r>
              <a:rPr lang="en-US" sz="1800" dirty="0">
                <a:solidFill>
                  <a:srgbClr val="333333"/>
                </a:solidFill>
                <a:latin typeface="Open Sans" pitchFamily="34" charset="0"/>
                <a:ea typeface="Open Sans" pitchFamily="34" charset="-122"/>
                <a:cs typeface="Open Sans" pitchFamily="34" charset="-120"/>
              </a:rPr>
              <a:t>Identify practical strategies for using the FRS in the classroom</a:t>
            </a:r>
            <a:endParaRPr lang="en-US" sz="1800" dirty="0"/>
          </a:p>
        </p:txBody>
      </p:sp>
      <p:sp>
        <p:nvSpPr>
          <p:cNvPr id="16" name="Shape 14"/>
          <p:cNvSpPr/>
          <p:nvPr/>
        </p:nvSpPr>
        <p:spPr>
          <a:xfrm>
            <a:off x="6197600" y="3206552"/>
            <a:ext cx="5232400" cy="1112441"/>
          </a:xfrm>
          <a:prstGeom prst="rect">
            <a:avLst/>
          </a:prstGeom>
          <a:solidFill>
            <a:srgbClr val="F4F8FC"/>
          </a:solidFill>
          <a:ln/>
        </p:spPr>
        <p:txBody>
          <a:bodyPr/>
          <a:lstStyle/>
          <a:p>
            <a:endParaRPr lang="en-AU"/>
          </a:p>
        </p:txBody>
      </p:sp>
      <p:sp>
        <p:nvSpPr>
          <p:cNvPr id="17" name="Shape 15"/>
          <p:cNvSpPr/>
          <p:nvPr/>
        </p:nvSpPr>
        <p:spPr>
          <a:xfrm>
            <a:off x="6197600" y="3206552"/>
            <a:ext cx="5232400" cy="38100"/>
          </a:xfrm>
          <a:prstGeom prst="rect">
            <a:avLst/>
          </a:prstGeom>
          <a:solidFill>
            <a:srgbClr val="00BED6"/>
          </a:solidFill>
          <a:ln/>
        </p:spPr>
        <p:txBody>
          <a:bodyPr/>
          <a:lstStyle/>
          <a:p>
            <a:endParaRPr lang="en-AU"/>
          </a:p>
        </p:txBody>
      </p:sp>
      <p:sp>
        <p:nvSpPr>
          <p:cNvPr id="18" name="Text 16"/>
          <p:cNvSpPr/>
          <p:nvPr/>
        </p:nvSpPr>
        <p:spPr>
          <a:xfrm>
            <a:off x="6405622" y="3473252"/>
            <a:ext cx="452715" cy="421580"/>
          </a:xfrm>
          <a:prstGeom prst="roundRect">
            <a:avLst>
              <a:gd name="adj" fmla="val 18075"/>
            </a:avLst>
          </a:prstGeom>
          <a:solidFill>
            <a:srgbClr val="EAF3FB"/>
          </a:solidFill>
          <a:ln/>
        </p:spPr>
        <p:txBody>
          <a:bodyPr wrap="none" lIns="127000" tIns="50800" rIns="127000" bIns="50800" rtlCol="0" anchor="ctr"/>
          <a:lstStyle/>
          <a:p>
            <a:pPr marL="0" indent="0" algn="l">
              <a:lnSpc>
                <a:spcPts val="2520"/>
              </a:lnSpc>
              <a:buNone/>
            </a:pPr>
            <a:r>
              <a:rPr lang="en-US" sz="1800" b="1" dirty="0">
                <a:solidFill>
                  <a:srgbClr val="005AA7"/>
                </a:solidFill>
                <a:latin typeface="Montserrat" pitchFamily="34" charset="0"/>
                <a:ea typeface="Montserrat" pitchFamily="34" charset="-122"/>
                <a:cs typeface="Montserrat" pitchFamily="34" charset="-120"/>
              </a:rPr>
              <a:t>4</a:t>
            </a:r>
            <a:endParaRPr lang="en-US" sz="1800" dirty="0"/>
          </a:p>
        </p:txBody>
      </p:sp>
      <p:sp>
        <p:nvSpPr>
          <p:cNvPr id="19" name="Text 17"/>
          <p:cNvSpPr/>
          <p:nvPr/>
        </p:nvSpPr>
        <p:spPr>
          <a:xfrm>
            <a:off x="7015559" y="3473252"/>
            <a:ext cx="4395133" cy="617141"/>
          </a:xfrm>
          <a:prstGeom prst="rect">
            <a:avLst/>
          </a:prstGeom>
          <a:noFill/>
          <a:ln/>
        </p:spPr>
        <p:txBody>
          <a:bodyPr wrap="square" lIns="0" tIns="0" rIns="0" bIns="0" rtlCol="0" anchor="t"/>
          <a:lstStyle/>
          <a:p>
            <a:pPr marL="0" indent="0" algn="l">
              <a:lnSpc>
                <a:spcPts val="2430"/>
              </a:lnSpc>
              <a:buNone/>
            </a:pPr>
            <a:r>
              <a:rPr lang="en-US" sz="1800" dirty="0">
                <a:solidFill>
                  <a:srgbClr val="333333"/>
                </a:solidFill>
                <a:latin typeface="Open Sans" pitchFamily="34" charset="0"/>
                <a:ea typeface="Open Sans" pitchFamily="34" charset="-122"/>
                <a:cs typeface="Open Sans" pitchFamily="34" charset="-120"/>
              </a:rPr>
              <a:t>Find FRS support and training resources</a:t>
            </a:r>
            <a:endParaRPr lang="en-US" sz="1800" dirty="0"/>
          </a:p>
        </p:txBody>
      </p:sp>
      <p:sp>
        <p:nvSpPr>
          <p:cNvPr id="20" name="Text 18"/>
          <p:cNvSpPr/>
          <p:nvPr/>
        </p:nvSpPr>
        <p:spPr>
          <a:xfrm>
            <a:off x="762000" y="6441480"/>
            <a:ext cx="8001000" cy="213320"/>
          </a:xfrm>
          <a:prstGeom prst="rect">
            <a:avLst/>
          </a:prstGeom>
          <a:noFill/>
          <a:ln/>
        </p:spPr>
        <p:txBody>
          <a:bodyPr wrap="square" lIns="0" tIns="0" rIns="0" bIns="0" rtlCol="0" anchor="t"/>
          <a:lstStyle/>
          <a:p>
            <a:pPr marL="0" indent="0" algn="l">
              <a:lnSpc>
                <a:spcPts val="1680"/>
              </a:lnSpc>
              <a:buNone/>
            </a:pPr>
            <a:r>
              <a:rPr lang="en-US" sz="1200" dirty="0">
                <a:solidFill>
                  <a:srgbClr val="6B6B6B"/>
                </a:solidFill>
                <a:latin typeface="Open Sans" pitchFamily="34" charset="0"/>
                <a:ea typeface="Open Sans" pitchFamily="34" charset="-122"/>
                <a:cs typeface="Open Sans" pitchFamily="34" charset="-120"/>
              </a:rPr>
              <a:t>Future Ready Skills Academy · frs.srczone.net</a:t>
            </a:r>
            <a:endParaRPr lang="en-US" sz="1200" dirty="0"/>
          </a:p>
        </p:txBody>
      </p:sp>
      <p:sp>
        <p:nvSpPr>
          <p:cNvPr id="21" name="Text 19"/>
          <p:cNvSpPr/>
          <p:nvPr/>
        </p:nvSpPr>
        <p:spPr>
          <a:xfrm>
            <a:off x="10083800" y="6441480"/>
            <a:ext cx="1346200" cy="213320"/>
          </a:xfrm>
          <a:prstGeom prst="rect">
            <a:avLst/>
          </a:prstGeom>
          <a:noFill/>
          <a:ln/>
        </p:spPr>
        <p:txBody>
          <a:bodyPr wrap="square" lIns="0" tIns="0" rIns="0" bIns="0" rtlCol="0" anchor="t"/>
          <a:lstStyle/>
          <a:p>
            <a:pPr marL="0" indent="0" algn="r">
              <a:lnSpc>
                <a:spcPts val="1680"/>
              </a:lnSpc>
              <a:buNone/>
            </a:pPr>
            <a:r>
              <a:rPr lang="en-US" sz="1200" dirty="0">
                <a:solidFill>
                  <a:srgbClr val="6B6B6B"/>
                </a:solidFill>
                <a:latin typeface="Open Sans" pitchFamily="34" charset="0"/>
                <a:ea typeface="Open Sans" pitchFamily="34" charset="-122"/>
                <a:cs typeface="Open Sans" pitchFamily="34" charset="-120"/>
              </a:rPr>
              <a:t>2 / 17</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Students building and programming robots around a classroom workbench"/>
          <p:cNvPicPr>
            <a:picLocks noChangeAspect="1"/>
          </p:cNvPicPr>
          <p:nvPr/>
        </p:nvPicPr>
        <p:blipFill>
          <a:blip r:embed="rId3"/>
          <a:srcRect/>
          <a:stretch/>
        </p:blipFill>
        <p:spPr>
          <a:xfrm>
            <a:off x="8382000" y="0"/>
            <a:ext cx="3810000" cy="6858000"/>
          </a:xfrm>
          <a:prstGeom prst="rect">
            <a:avLst/>
          </a:prstGeom>
        </p:spPr>
      </p:pic>
      <p:sp>
        <p:nvSpPr>
          <p:cNvPr id="3" name="Shape 0"/>
          <p:cNvSpPr/>
          <p:nvPr/>
        </p:nvSpPr>
        <p:spPr>
          <a:xfrm>
            <a:off x="8305800" y="0"/>
            <a:ext cx="76200" cy="6858000"/>
          </a:xfrm>
          <a:prstGeom prst="rect">
            <a:avLst/>
          </a:prstGeom>
          <a:solidFill>
            <a:srgbClr val="EAB830"/>
          </a:solidFill>
          <a:ln/>
        </p:spPr>
        <p:txBody>
          <a:bodyPr/>
          <a:lstStyle/>
          <a:p>
            <a:endParaRPr lang="en-AU"/>
          </a:p>
        </p:txBody>
      </p:sp>
      <p:sp>
        <p:nvSpPr>
          <p:cNvPr id="4" name="Text 1"/>
          <p:cNvSpPr/>
          <p:nvPr/>
        </p:nvSpPr>
        <p:spPr>
          <a:xfrm>
            <a:off x="762000" y="609600"/>
            <a:ext cx="7067550" cy="248841"/>
          </a:xfrm>
          <a:prstGeom prst="rect">
            <a:avLst/>
          </a:prstGeom>
          <a:noFill/>
          <a:ln/>
        </p:spPr>
        <p:txBody>
          <a:bodyPr wrap="square" lIns="0" tIns="0" rIns="0" bIns="0" rtlCol="0" anchor="t"/>
          <a:lstStyle/>
          <a:p>
            <a:pPr marL="0" indent="0" algn="l">
              <a:lnSpc>
                <a:spcPts val="1960"/>
              </a:lnSpc>
              <a:buNone/>
            </a:pPr>
            <a:r>
              <a:rPr lang="en-US" sz="1400" b="1" kern="0" spc="200" dirty="0">
                <a:solidFill>
                  <a:srgbClr val="00798A"/>
                </a:solidFill>
                <a:latin typeface="Montserrat" pitchFamily="34" charset="0"/>
                <a:ea typeface="Montserrat" pitchFamily="34" charset="-122"/>
                <a:cs typeface="Montserrat" pitchFamily="34" charset="-120"/>
              </a:rPr>
              <a:t>OUR STORY AND ORIGIN</a:t>
            </a:r>
            <a:endParaRPr lang="en-US" sz="1400" dirty="0"/>
          </a:p>
        </p:txBody>
      </p:sp>
      <p:sp>
        <p:nvSpPr>
          <p:cNvPr id="5" name="Text 2"/>
          <p:cNvSpPr/>
          <p:nvPr/>
        </p:nvSpPr>
        <p:spPr>
          <a:xfrm>
            <a:off x="762000" y="972741"/>
            <a:ext cx="7067550" cy="934641"/>
          </a:xfrm>
          <a:prstGeom prst="rect">
            <a:avLst/>
          </a:prstGeom>
          <a:noFill/>
          <a:ln/>
        </p:spPr>
        <p:txBody>
          <a:bodyPr wrap="square" lIns="0" tIns="0" rIns="0" bIns="0" rtlCol="0" anchor="t"/>
          <a:lstStyle/>
          <a:p>
            <a:pPr marL="0" indent="0" algn="l">
              <a:lnSpc>
                <a:spcPts val="3680"/>
              </a:lnSpc>
              <a:buNone/>
            </a:pPr>
            <a:r>
              <a:rPr lang="en-US" sz="3200" b="1" dirty="0">
                <a:solidFill>
                  <a:srgbClr val="005AA7"/>
                </a:solidFill>
                <a:latin typeface="Montserrat" pitchFamily="34" charset="0"/>
                <a:ea typeface="Montserrat" pitchFamily="34" charset="-122"/>
                <a:cs typeface="Montserrat" pitchFamily="34" charset="-120"/>
              </a:rPr>
              <a:t>From Robotics Clubs to whole-school pedagogy</a:t>
            </a:r>
            <a:endParaRPr lang="en-US" sz="3200" dirty="0"/>
          </a:p>
        </p:txBody>
      </p:sp>
      <p:sp>
        <p:nvSpPr>
          <p:cNvPr id="6" name="Shape 3"/>
          <p:cNvSpPr/>
          <p:nvPr/>
        </p:nvSpPr>
        <p:spPr>
          <a:xfrm>
            <a:off x="762000" y="2021681"/>
            <a:ext cx="850900" cy="57150"/>
          </a:xfrm>
          <a:prstGeom prst="rect">
            <a:avLst/>
          </a:prstGeom>
          <a:solidFill>
            <a:srgbClr val="EAB830"/>
          </a:solidFill>
          <a:ln/>
        </p:spPr>
        <p:txBody>
          <a:bodyPr/>
          <a:lstStyle/>
          <a:p>
            <a:endParaRPr lang="en-AU"/>
          </a:p>
        </p:txBody>
      </p:sp>
      <p:sp>
        <p:nvSpPr>
          <p:cNvPr id="7" name="Text 4"/>
          <p:cNvSpPr/>
          <p:nvPr/>
        </p:nvSpPr>
        <p:spPr>
          <a:xfrm>
            <a:off x="762000" y="2332831"/>
            <a:ext cx="7067550" cy="568920"/>
          </a:xfrm>
          <a:prstGeom prst="rect">
            <a:avLst/>
          </a:prstGeom>
          <a:noFill/>
          <a:ln/>
        </p:spPr>
        <p:txBody>
          <a:bodyPr wrap="square" lIns="0" tIns="0" rIns="0" bIns="0" rtlCol="0" anchor="t"/>
          <a:lstStyle/>
          <a:p>
            <a:pPr marL="0" indent="0" algn="l">
              <a:lnSpc>
                <a:spcPts val="2240"/>
              </a:lnSpc>
              <a:buNone/>
            </a:pPr>
            <a:r>
              <a:rPr lang="en-US" sz="1600" b="1" dirty="0">
                <a:solidFill>
                  <a:srgbClr val="005AA7"/>
                </a:solidFill>
                <a:latin typeface="Open Sans" pitchFamily="34" charset="0"/>
                <a:ea typeface="Open Sans" pitchFamily="34" charset="-122"/>
                <a:cs typeface="Open Sans" pitchFamily="34" charset="-120"/>
              </a:rPr>
              <a:t>Where it began.</a:t>
            </a:r>
            <a:r>
              <a:rPr lang="en-US" sz="1600" dirty="0">
                <a:solidFill>
                  <a:srgbClr val="333333"/>
                </a:solidFill>
                <a:latin typeface="Open Sans" pitchFamily="34" charset="0"/>
                <a:ea typeface="Open Sans" pitchFamily="34" charset="-122"/>
                <a:cs typeface="Open Sans" pitchFamily="34" charset="-120"/>
              </a:rPr>
              <a:t> Australian Schools Plus supported the development of Robotics Clubs in Gosnells, Western Australia.</a:t>
            </a:r>
            <a:endParaRPr lang="en-US" sz="1600" dirty="0"/>
          </a:p>
        </p:txBody>
      </p:sp>
      <p:sp>
        <p:nvSpPr>
          <p:cNvPr id="8" name="Text 5"/>
          <p:cNvSpPr/>
          <p:nvPr/>
        </p:nvSpPr>
        <p:spPr>
          <a:xfrm>
            <a:off x="762000" y="3079552"/>
            <a:ext cx="7067550" cy="568920"/>
          </a:xfrm>
          <a:prstGeom prst="rect">
            <a:avLst/>
          </a:prstGeom>
          <a:noFill/>
          <a:ln/>
        </p:spPr>
        <p:txBody>
          <a:bodyPr wrap="square" lIns="0" tIns="0" rIns="0" bIns="0" rtlCol="0" anchor="t"/>
          <a:lstStyle/>
          <a:p>
            <a:pPr marL="0" indent="0" algn="l">
              <a:lnSpc>
                <a:spcPts val="2240"/>
              </a:lnSpc>
              <a:buNone/>
            </a:pPr>
            <a:r>
              <a:rPr lang="en-US" sz="1600" b="1" dirty="0">
                <a:solidFill>
                  <a:srgbClr val="005AA7"/>
                </a:solidFill>
                <a:latin typeface="Open Sans" pitchFamily="34" charset="0"/>
                <a:ea typeface="Open Sans" pitchFamily="34" charset="-122"/>
                <a:cs typeface="Open Sans" pitchFamily="34" charset="-120"/>
              </a:rPr>
              <a:t>What we learned.</a:t>
            </a:r>
            <a:r>
              <a:rPr lang="en-US" sz="1600" dirty="0">
                <a:solidFill>
                  <a:srgbClr val="333333"/>
                </a:solidFill>
                <a:latin typeface="Open Sans" pitchFamily="34" charset="0"/>
                <a:ea typeface="Open Sans" pitchFamily="34" charset="-122"/>
                <a:cs typeface="Open Sans" pitchFamily="34" charset="-120"/>
              </a:rPr>
              <a:t> Success in competitions showed that students need specific soft skills, not just technical knowledge.</a:t>
            </a:r>
            <a:endParaRPr lang="en-US" sz="1600" dirty="0"/>
          </a:p>
        </p:txBody>
      </p:sp>
      <p:sp>
        <p:nvSpPr>
          <p:cNvPr id="9" name="Text 6"/>
          <p:cNvSpPr/>
          <p:nvPr/>
        </p:nvSpPr>
        <p:spPr>
          <a:xfrm>
            <a:off x="762000" y="3826272"/>
            <a:ext cx="7067550" cy="568920"/>
          </a:xfrm>
          <a:prstGeom prst="rect">
            <a:avLst/>
          </a:prstGeom>
          <a:noFill/>
          <a:ln/>
        </p:spPr>
        <p:txBody>
          <a:bodyPr wrap="square" lIns="0" tIns="0" rIns="0" bIns="0" rtlCol="0" anchor="t"/>
          <a:lstStyle/>
          <a:p>
            <a:pPr marL="0" indent="0" algn="l">
              <a:lnSpc>
                <a:spcPts val="2240"/>
              </a:lnSpc>
              <a:buNone/>
            </a:pPr>
            <a:r>
              <a:rPr lang="en-US" sz="1600" b="1" dirty="0">
                <a:solidFill>
                  <a:srgbClr val="005AA7"/>
                </a:solidFill>
                <a:latin typeface="Open Sans" pitchFamily="34" charset="0"/>
                <a:ea typeface="Open Sans" pitchFamily="34" charset="-122"/>
                <a:cs typeface="Open Sans" pitchFamily="34" charset="-120"/>
              </a:rPr>
              <a:t>What we built.</a:t>
            </a:r>
            <a:r>
              <a:rPr lang="en-US" sz="1600" dirty="0">
                <a:solidFill>
                  <a:srgbClr val="333333"/>
                </a:solidFill>
                <a:latin typeface="Open Sans" pitchFamily="34" charset="0"/>
                <a:ea typeface="Open Sans" pitchFamily="34" charset="-122"/>
                <a:cs typeface="Open Sans" pitchFamily="34" charset="-120"/>
              </a:rPr>
              <a:t> Tracking how students developed these skills led us to create resources.</a:t>
            </a:r>
            <a:endParaRPr lang="en-US" sz="1600" dirty="0"/>
          </a:p>
        </p:txBody>
      </p:sp>
      <p:sp>
        <p:nvSpPr>
          <p:cNvPr id="10" name="Text 7"/>
          <p:cNvSpPr/>
          <p:nvPr/>
        </p:nvSpPr>
        <p:spPr>
          <a:xfrm>
            <a:off x="762000" y="4572992"/>
            <a:ext cx="7067550" cy="568920"/>
          </a:xfrm>
          <a:prstGeom prst="rect">
            <a:avLst/>
          </a:prstGeom>
          <a:noFill/>
          <a:ln/>
        </p:spPr>
        <p:txBody>
          <a:bodyPr wrap="square" lIns="0" tIns="0" rIns="0" bIns="0" rtlCol="0" anchor="t"/>
          <a:lstStyle/>
          <a:p>
            <a:pPr marL="0" indent="0" algn="l">
              <a:lnSpc>
                <a:spcPts val="2240"/>
              </a:lnSpc>
              <a:buNone/>
            </a:pPr>
            <a:r>
              <a:rPr lang="en-US" sz="1600" b="1" dirty="0">
                <a:solidFill>
                  <a:srgbClr val="005AA7"/>
                </a:solidFill>
                <a:latin typeface="Open Sans" pitchFamily="34" charset="0"/>
                <a:ea typeface="Open Sans" pitchFamily="34" charset="-122"/>
                <a:cs typeface="Open Sans" pitchFamily="34" charset="-120"/>
              </a:rPr>
              <a:t>Where we are now.</a:t>
            </a:r>
            <a:r>
              <a:rPr lang="en-US" sz="1600" dirty="0">
                <a:solidFill>
                  <a:srgbClr val="333333"/>
                </a:solidFill>
                <a:latin typeface="Open Sans" pitchFamily="34" charset="0"/>
                <a:ea typeface="Open Sans" pitchFamily="34" charset="-122"/>
                <a:cs typeface="Open Sans" pitchFamily="34" charset="-120"/>
              </a:rPr>
              <a:t> The framework is now a whole-school pedagogy across the district.</a:t>
            </a:r>
            <a:endParaRPr lang="en-US" sz="1600" dirty="0"/>
          </a:p>
        </p:txBody>
      </p:sp>
      <p:sp>
        <p:nvSpPr>
          <p:cNvPr id="11" name="Text 8"/>
          <p:cNvSpPr/>
          <p:nvPr/>
        </p:nvSpPr>
        <p:spPr>
          <a:xfrm>
            <a:off x="762000" y="6441480"/>
            <a:ext cx="4667250" cy="213320"/>
          </a:xfrm>
          <a:prstGeom prst="rect">
            <a:avLst/>
          </a:prstGeom>
          <a:noFill/>
          <a:ln/>
        </p:spPr>
        <p:txBody>
          <a:bodyPr wrap="square" lIns="0" tIns="0" rIns="0" bIns="0" rtlCol="0" anchor="t"/>
          <a:lstStyle/>
          <a:p>
            <a:pPr marL="0" indent="0" algn="l">
              <a:lnSpc>
                <a:spcPts val="1680"/>
              </a:lnSpc>
              <a:buNone/>
            </a:pPr>
            <a:r>
              <a:rPr lang="en-US" sz="1200" dirty="0">
                <a:solidFill>
                  <a:srgbClr val="6B6B6B"/>
                </a:solidFill>
                <a:latin typeface="Open Sans" pitchFamily="34" charset="0"/>
                <a:ea typeface="Open Sans" pitchFamily="34" charset="-122"/>
                <a:cs typeface="Open Sans" pitchFamily="34" charset="-120"/>
              </a:rPr>
              <a:t>Future Ready Skills Academy · frs.srczone.net</a:t>
            </a:r>
            <a:endParaRPr lang="en-US" sz="1200" dirty="0"/>
          </a:p>
        </p:txBody>
      </p:sp>
      <p:sp>
        <p:nvSpPr>
          <p:cNvPr id="12" name="Text 9"/>
          <p:cNvSpPr/>
          <p:nvPr/>
        </p:nvSpPr>
        <p:spPr>
          <a:xfrm>
            <a:off x="6273800" y="6441480"/>
            <a:ext cx="1346200" cy="213320"/>
          </a:xfrm>
          <a:prstGeom prst="rect">
            <a:avLst/>
          </a:prstGeom>
          <a:noFill/>
          <a:ln/>
        </p:spPr>
        <p:txBody>
          <a:bodyPr wrap="square" lIns="0" tIns="0" rIns="0" bIns="0" rtlCol="0" anchor="t"/>
          <a:lstStyle/>
          <a:p>
            <a:pPr marL="0" indent="0" algn="r">
              <a:lnSpc>
                <a:spcPts val="1680"/>
              </a:lnSpc>
              <a:buNone/>
            </a:pPr>
            <a:r>
              <a:rPr lang="en-US" sz="1200" dirty="0">
                <a:solidFill>
                  <a:srgbClr val="6B6B6B"/>
                </a:solidFill>
                <a:latin typeface="Open Sans" pitchFamily="34" charset="0"/>
                <a:ea typeface="Open Sans" pitchFamily="34" charset="-122"/>
                <a:cs typeface="Open Sans" pitchFamily="34" charset="-120"/>
              </a:rPr>
              <a:t>3 / 17</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62000" y="609600"/>
            <a:ext cx="11201400" cy="496491"/>
          </a:xfrm>
          <a:prstGeom prst="rect">
            <a:avLst/>
          </a:prstGeom>
          <a:noFill/>
          <a:ln/>
        </p:spPr>
        <p:txBody>
          <a:bodyPr wrap="square" lIns="0" tIns="0" rIns="0" bIns="0" rtlCol="0" anchor="t"/>
          <a:lstStyle/>
          <a:p>
            <a:pPr marL="0" indent="0" algn="l">
              <a:lnSpc>
                <a:spcPts val="3910"/>
              </a:lnSpc>
              <a:buNone/>
            </a:pPr>
            <a:r>
              <a:rPr lang="en-US" sz="3400" b="1" dirty="0">
                <a:solidFill>
                  <a:srgbClr val="005AA7"/>
                </a:solidFill>
                <a:latin typeface="Montserrat" pitchFamily="34" charset="0"/>
                <a:ea typeface="Montserrat" pitchFamily="34" charset="-122"/>
                <a:cs typeface="Montserrat" pitchFamily="34" charset="-120"/>
              </a:rPr>
              <a:t>Why teach Future Ready Skills?</a:t>
            </a:r>
            <a:endParaRPr lang="en-US" sz="3400" dirty="0"/>
          </a:p>
        </p:txBody>
      </p:sp>
      <p:sp>
        <p:nvSpPr>
          <p:cNvPr id="3" name="Shape 1"/>
          <p:cNvSpPr/>
          <p:nvPr/>
        </p:nvSpPr>
        <p:spPr>
          <a:xfrm>
            <a:off x="762000" y="1220391"/>
            <a:ext cx="850900" cy="57150"/>
          </a:xfrm>
          <a:prstGeom prst="rect">
            <a:avLst/>
          </a:prstGeom>
          <a:solidFill>
            <a:srgbClr val="EAB830"/>
          </a:solidFill>
          <a:ln/>
        </p:spPr>
        <p:txBody>
          <a:bodyPr/>
          <a:lstStyle/>
          <a:p>
            <a:endParaRPr lang="en-AU"/>
          </a:p>
        </p:txBody>
      </p:sp>
      <p:sp>
        <p:nvSpPr>
          <p:cNvPr id="4" name="Shape 2"/>
          <p:cNvSpPr/>
          <p:nvPr/>
        </p:nvSpPr>
        <p:spPr>
          <a:xfrm>
            <a:off x="762000" y="1582341"/>
            <a:ext cx="3420467" cy="1724422"/>
          </a:xfrm>
          <a:prstGeom prst="rect">
            <a:avLst/>
          </a:prstGeom>
          <a:solidFill>
            <a:srgbClr val="F4F8FC"/>
          </a:solidFill>
          <a:ln/>
        </p:spPr>
        <p:txBody>
          <a:bodyPr/>
          <a:lstStyle/>
          <a:p>
            <a:endParaRPr lang="en-AU"/>
          </a:p>
        </p:txBody>
      </p:sp>
      <p:sp>
        <p:nvSpPr>
          <p:cNvPr id="5" name="Shape 3"/>
          <p:cNvSpPr/>
          <p:nvPr/>
        </p:nvSpPr>
        <p:spPr>
          <a:xfrm>
            <a:off x="762000" y="1582341"/>
            <a:ext cx="3420467" cy="38100"/>
          </a:xfrm>
          <a:prstGeom prst="rect">
            <a:avLst/>
          </a:prstGeom>
          <a:solidFill>
            <a:srgbClr val="00BED6"/>
          </a:solidFill>
          <a:ln/>
        </p:spPr>
        <p:txBody>
          <a:bodyPr/>
          <a:lstStyle/>
          <a:p>
            <a:endParaRPr lang="en-AU"/>
          </a:p>
        </p:txBody>
      </p:sp>
      <p:pic>
        <p:nvPicPr>
          <p:cNvPr id="6" name="Image 0" descr="Globe icon"/>
          <p:cNvPicPr>
            <a:picLocks noChangeAspect="1"/>
          </p:cNvPicPr>
          <p:nvPr/>
        </p:nvPicPr>
        <p:blipFill>
          <a:blip r:embed="rId3"/>
          <a:stretch>
            <a:fillRect/>
          </a:stretch>
        </p:blipFill>
        <p:spPr>
          <a:xfrm>
            <a:off x="990600" y="1849041"/>
            <a:ext cx="304800" cy="304800"/>
          </a:xfrm>
          <a:prstGeom prst="rect">
            <a:avLst/>
          </a:prstGeom>
        </p:spPr>
      </p:pic>
      <p:sp>
        <p:nvSpPr>
          <p:cNvPr id="7" name="Text 4"/>
          <p:cNvSpPr/>
          <p:nvPr/>
        </p:nvSpPr>
        <p:spPr>
          <a:xfrm>
            <a:off x="990600" y="2255441"/>
            <a:ext cx="3111431" cy="822722"/>
          </a:xfrm>
          <a:prstGeom prst="rect">
            <a:avLst/>
          </a:prstGeom>
          <a:noFill/>
          <a:ln/>
        </p:spPr>
        <p:txBody>
          <a:bodyPr wrap="square" lIns="0" tIns="0" rIns="0" bIns="0" rtlCol="0" anchor="t"/>
          <a:lstStyle/>
          <a:p>
            <a:pPr marL="0" indent="0" algn="l">
              <a:lnSpc>
                <a:spcPts val="2160"/>
              </a:lnSpc>
              <a:buNone/>
            </a:pPr>
            <a:r>
              <a:rPr lang="en-US" sz="1600" dirty="0">
                <a:solidFill>
                  <a:srgbClr val="333333"/>
                </a:solidFill>
                <a:latin typeface="Open Sans" pitchFamily="34" charset="0"/>
                <a:ea typeface="Open Sans" pitchFamily="34" charset="-122"/>
                <a:cs typeface="Open Sans" pitchFamily="34" charset="-120"/>
              </a:rPr>
              <a:t>The world is changing fast. We don't really know what the future workforce will look like.</a:t>
            </a:r>
            <a:endParaRPr lang="en-US" sz="1600" dirty="0"/>
          </a:p>
        </p:txBody>
      </p:sp>
      <p:sp>
        <p:nvSpPr>
          <p:cNvPr id="8" name="Shape 5"/>
          <p:cNvSpPr/>
          <p:nvPr/>
        </p:nvSpPr>
        <p:spPr>
          <a:xfrm>
            <a:off x="4385667" y="1582341"/>
            <a:ext cx="3420566" cy="1724422"/>
          </a:xfrm>
          <a:prstGeom prst="rect">
            <a:avLst/>
          </a:prstGeom>
          <a:solidFill>
            <a:srgbClr val="F4F8FC"/>
          </a:solidFill>
          <a:ln/>
        </p:spPr>
        <p:txBody>
          <a:bodyPr/>
          <a:lstStyle/>
          <a:p>
            <a:endParaRPr lang="en-AU"/>
          </a:p>
        </p:txBody>
      </p:sp>
      <p:sp>
        <p:nvSpPr>
          <p:cNvPr id="9" name="Shape 6"/>
          <p:cNvSpPr/>
          <p:nvPr/>
        </p:nvSpPr>
        <p:spPr>
          <a:xfrm>
            <a:off x="4385667" y="1582341"/>
            <a:ext cx="3420566" cy="38100"/>
          </a:xfrm>
          <a:prstGeom prst="rect">
            <a:avLst/>
          </a:prstGeom>
          <a:solidFill>
            <a:srgbClr val="005AA7"/>
          </a:solidFill>
          <a:ln/>
        </p:spPr>
        <p:txBody>
          <a:bodyPr/>
          <a:lstStyle/>
          <a:p>
            <a:endParaRPr lang="en-AU"/>
          </a:p>
        </p:txBody>
      </p:sp>
      <p:pic>
        <p:nvPicPr>
          <p:cNvPr id="10" name="Image 1" descr="Search icon"/>
          <p:cNvPicPr>
            <a:picLocks noChangeAspect="1"/>
          </p:cNvPicPr>
          <p:nvPr/>
        </p:nvPicPr>
        <p:blipFill>
          <a:blip r:embed="rId4"/>
          <a:stretch>
            <a:fillRect/>
          </a:stretch>
        </p:blipFill>
        <p:spPr>
          <a:xfrm>
            <a:off x="4614267" y="1849041"/>
            <a:ext cx="304800" cy="304800"/>
          </a:xfrm>
          <a:prstGeom prst="rect">
            <a:avLst/>
          </a:prstGeom>
        </p:spPr>
      </p:pic>
      <p:sp>
        <p:nvSpPr>
          <p:cNvPr id="11" name="Text 7"/>
          <p:cNvSpPr/>
          <p:nvPr/>
        </p:nvSpPr>
        <p:spPr>
          <a:xfrm>
            <a:off x="4614267" y="2255441"/>
            <a:ext cx="3111535" cy="548481"/>
          </a:xfrm>
          <a:prstGeom prst="rect">
            <a:avLst/>
          </a:prstGeom>
          <a:noFill/>
          <a:ln/>
        </p:spPr>
        <p:txBody>
          <a:bodyPr wrap="square" lIns="0" tIns="0" rIns="0" bIns="0" rtlCol="0" anchor="t"/>
          <a:lstStyle/>
          <a:p>
            <a:pPr marL="0" indent="0" algn="l">
              <a:lnSpc>
                <a:spcPts val="2160"/>
              </a:lnSpc>
              <a:buNone/>
            </a:pPr>
            <a:r>
              <a:rPr lang="en-US" sz="1600" dirty="0">
                <a:solidFill>
                  <a:srgbClr val="333333"/>
                </a:solidFill>
                <a:latin typeface="Open Sans" pitchFamily="34" charset="0"/>
                <a:ea typeface="Open Sans" pitchFamily="34" charset="-122"/>
                <a:cs typeface="Open Sans" pitchFamily="34" charset="-120"/>
              </a:rPr>
              <a:t>The specific skills students will need are hard to predict.</a:t>
            </a:r>
            <a:endParaRPr lang="en-US" sz="1600" dirty="0"/>
          </a:p>
        </p:txBody>
      </p:sp>
      <p:sp>
        <p:nvSpPr>
          <p:cNvPr id="12" name="Shape 8"/>
          <p:cNvSpPr/>
          <p:nvPr/>
        </p:nvSpPr>
        <p:spPr>
          <a:xfrm>
            <a:off x="8009434" y="1582341"/>
            <a:ext cx="3420566" cy="1724422"/>
          </a:xfrm>
          <a:prstGeom prst="rect">
            <a:avLst/>
          </a:prstGeom>
          <a:solidFill>
            <a:srgbClr val="F4F8FC"/>
          </a:solidFill>
          <a:ln/>
        </p:spPr>
        <p:txBody>
          <a:bodyPr/>
          <a:lstStyle/>
          <a:p>
            <a:endParaRPr lang="en-AU"/>
          </a:p>
        </p:txBody>
      </p:sp>
      <p:sp>
        <p:nvSpPr>
          <p:cNvPr id="13" name="Shape 9"/>
          <p:cNvSpPr/>
          <p:nvPr/>
        </p:nvSpPr>
        <p:spPr>
          <a:xfrm>
            <a:off x="8009434" y="1582341"/>
            <a:ext cx="3420566" cy="38100"/>
          </a:xfrm>
          <a:prstGeom prst="rect">
            <a:avLst/>
          </a:prstGeom>
          <a:solidFill>
            <a:srgbClr val="EAB830"/>
          </a:solidFill>
          <a:ln/>
        </p:spPr>
        <p:txBody>
          <a:bodyPr/>
          <a:lstStyle/>
          <a:p>
            <a:endParaRPr lang="en-AU"/>
          </a:p>
        </p:txBody>
      </p:sp>
      <p:pic>
        <p:nvPicPr>
          <p:cNvPr id="14" name="Image 2" descr="Activity icon"/>
          <p:cNvPicPr>
            <a:picLocks noChangeAspect="1"/>
          </p:cNvPicPr>
          <p:nvPr/>
        </p:nvPicPr>
        <p:blipFill>
          <a:blip r:embed="rId5"/>
          <a:stretch>
            <a:fillRect/>
          </a:stretch>
        </p:blipFill>
        <p:spPr>
          <a:xfrm>
            <a:off x="8238034" y="1849041"/>
            <a:ext cx="304800" cy="304800"/>
          </a:xfrm>
          <a:prstGeom prst="rect">
            <a:avLst/>
          </a:prstGeom>
        </p:spPr>
      </p:pic>
      <p:sp>
        <p:nvSpPr>
          <p:cNvPr id="15" name="Text 10"/>
          <p:cNvSpPr/>
          <p:nvPr/>
        </p:nvSpPr>
        <p:spPr>
          <a:xfrm>
            <a:off x="8238034" y="2255441"/>
            <a:ext cx="3111535" cy="822722"/>
          </a:xfrm>
          <a:prstGeom prst="rect">
            <a:avLst/>
          </a:prstGeom>
          <a:noFill/>
          <a:ln/>
        </p:spPr>
        <p:txBody>
          <a:bodyPr wrap="square" lIns="0" tIns="0" rIns="0" bIns="0" rtlCol="0" anchor="t"/>
          <a:lstStyle/>
          <a:p>
            <a:pPr marL="0" indent="0" algn="l">
              <a:lnSpc>
                <a:spcPts val="2160"/>
              </a:lnSpc>
              <a:buNone/>
            </a:pPr>
            <a:r>
              <a:rPr lang="en-US" sz="1600" dirty="0">
                <a:solidFill>
                  <a:srgbClr val="333333"/>
                </a:solidFill>
                <a:latin typeface="Open Sans" pitchFamily="34" charset="0"/>
                <a:ea typeface="Open Sans" pitchFamily="34" charset="-122"/>
                <a:cs typeface="Open Sans" pitchFamily="34" charset="-120"/>
              </a:rPr>
              <a:t>Students need skills that help them stay flexible and adapt to changing environments.</a:t>
            </a:r>
            <a:endParaRPr lang="en-US" sz="1600" dirty="0"/>
          </a:p>
        </p:txBody>
      </p:sp>
      <p:sp>
        <p:nvSpPr>
          <p:cNvPr id="16" name="Shape 11"/>
          <p:cNvSpPr/>
          <p:nvPr/>
        </p:nvSpPr>
        <p:spPr>
          <a:xfrm>
            <a:off x="762000" y="3509963"/>
            <a:ext cx="3420467" cy="1724422"/>
          </a:xfrm>
          <a:prstGeom prst="rect">
            <a:avLst/>
          </a:prstGeom>
          <a:solidFill>
            <a:srgbClr val="F4F8FC"/>
          </a:solidFill>
          <a:ln/>
        </p:spPr>
        <p:txBody>
          <a:bodyPr/>
          <a:lstStyle/>
          <a:p>
            <a:endParaRPr lang="en-AU"/>
          </a:p>
        </p:txBody>
      </p:sp>
      <p:sp>
        <p:nvSpPr>
          <p:cNvPr id="17" name="Shape 12"/>
          <p:cNvSpPr/>
          <p:nvPr/>
        </p:nvSpPr>
        <p:spPr>
          <a:xfrm>
            <a:off x="762000" y="3509963"/>
            <a:ext cx="3420467" cy="38100"/>
          </a:xfrm>
          <a:prstGeom prst="rect">
            <a:avLst/>
          </a:prstGeom>
          <a:solidFill>
            <a:srgbClr val="EAB830"/>
          </a:solidFill>
          <a:ln/>
        </p:spPr>
        <p:txBody>
          <a:bodyPr/>
          <a:lstStyle/>
          <a:p>
            <a:endParaRPr lang="en-AU"/>
          </a:p>
        </p:txBody>
      </p:sp>
      <p:pic>
        <p:nvPicPr>
          <p:cNvPr id="18" name="Image 3" descr="GraduationCap icon"/>
          <p:cNvPicPr>
            <a:picLocks noChangeAspect="1"/>
          </p:cNvPicPr>
          <p:nvPr/>
        </p:nvPicPr>
        <p:blipFill>
          <a:blip r:embed="rId6"/>
          <a:stretch>
            <a:fillRect/>
          </a:stretch>
        </p:blipFill>
        <p:spPr>
          <a:xfrm>
            <a:off x="990600" y="3776662"/>
            <a:ext cx="304800" cy="304800"/>
          </a:xfrm>
          <a:prstGeom prst="rect">
            <a:avLst/>
          </a:prstGeom>
        </p:spPr>
      </p:pic>
      <p:sp>
        <p:nvSpPr>
          <p:cNvPr id="19" name="Text 13"/>
          <p:cNvSpPr/>
          <p:nvPr/>
        </p:nvSpPr>
        <p:spPr>
          <a:xfrm>
            <a:off x="990600" y="4183063"/>
            <a:ext cx="3111431" cy="822722"/>
          </a:xfrm>
          <a:prstGeom prst="rect">
            <a:avLst/>
          </a:prstGeom>
          <a:noFill/>
          <a:ln/>
        </p:spPr>
        <p:txBody>
          <a:bodyPr wrap="square" lIns="0" tIns="0" rIns="0" bIns="0" rtlCol="0" anchor="t"/>
          <a:lstStyle/>
          <a:p>
            <a:pPr marL="0" indent="0" algn="l">
              <a:lnSpc>
                <a:spcPts val="2160"/>
              </a:lnSpc>
              <a:buNone/>
            </a:pPr>
            <a:r>
              <a:rPr lang="en-US" sz="1600" dirty="0">
                <a:solidFill>
                  <a:srgbClr val="333333"/>
                </a:solidFill>
                <a:latin typeface="Open Sans" pitchFamily="34" charset="0"/>
                <a:ea typeface="Open Sans" pitchFamily="34" charset="-122"/>
                <a:cs typeface="Open Sans" pitchFamily="34" charset="-120"/>
              </a:rPr>
              <a:t>These skills don't come naturally to everyone, so they need to be taught.</a:t>
            </a:r>
            <a:endParaRPr lang="en-US" sz="1600" dirty="0"/>
          </a:p>
        </p:txBody>
      </p:sp>
      <p:sp>
        <p:nvSpPr>
          <p:cNvPr id="20" name="Shape 14"/>
          <p:cNvSpPr/>
          <p:nvPr/>
        </p:nvSpPr>
        <p:spPr>
          <a:xfrm>
            <a:off x="4385667" y="3509963"/>
            <a:ext cx="3420566" cy="1724422"/>
          </a:xfrm>
          <a:prstGeom prst="rect">
            <a:avLst/>
          </a:prstGeom>
          <a:solidFill>
            <a:srgbClr val="F4F8FC"/>
          </a:solidFill>
          <a:ln/>
        </p:spPr>
        <p:txBody>
          <a:bodyPr/>
          <a:lstStyle/>
          <a:p>
            <a:endParaRPr lang="en-AU"/>
          </a:p>
        </p:txBody>
      </p:sp>
      <p:sp>
        <p:nvSpPr>
          <p:cNvPr id="21" name="Shape 15"/>
          <p:cNvSpPr/>
          <p:nvPr/>
        </p:nvSpPr>
        <p:spPr>
          <a:xfrm>
            <a:off x="4385667" y="3509963"/>
            <a:ext cx="3420566" cy="38100"/>
          </a:xfrm>
          <a:prstGeom prst="rect">
            <a:avLst/>
          </a:prstGeom>
          <a:solidFill>
            <a:srgbClr val="00BED6"/>
          </a:solidFill>
          <a:ln/>
        </p:spPr>
        <p:txBody>
          <a:bodyPr/>
          <a:lstStyle/>
          <a:p>
            <a:endParaRPr lang="en-AU"/>
          </a:p>
        </p:txBody>
      </p:sp>
      <p:pic>
        <p:nvPicPr>
          <p:cNvPr id="22" name="Image 4" descr="Lightbulb icon"/>
          <p:cNvPicPr>
            <a:picLocks noChangeAspect="1"/>
          </p:cNvPicPr>
          <p:nvPr/>
        </p:nvPicPr>
        <p:blipFill>
          <a:blip r:embed="rId7"/>
          <a:stretch>
            <a:fillRect/>
          </a:stretch>
        </p:blipFill>
        <p:spPr>
          <a:xfrm>
            <a:off x="4614267" y="3776662"/>
            <a:ext cx="304800" cy="304800"/>
          </a:xfrm>
          <a:prstGeom prst="rect">
            <a:avLst/>
          </a:prstGeom>
        </p:spPr>
      </p:pic>
      <p:sp>
        <p:nvSpPr>
          <p:cNvPr id="23" name="Text 16"/>
          <p:cNvSpPr/>
          <p:nvPr/>
        </p:nvSpPr>
        <p:spPr>
          <a:xfrm>
            <a:off x="4614267" y="4183063"/>
            <a:ext cx="3111535" cy="548481"/>
          </a:xfrm>
          <a:prstGeom prst="rect">
            <a:avLst/>
          </a:prstGeom>
          <a:noFill/>
          <a:ln/>
        </p:spPr>
        <p:txBody>
          <a:bodyPr wrap="square" lIns="0" tIns="0" rIns="0" bIns="0" rtlCol="0" anchor="t"/>
          <a:lstStyle/>
          <a:p>
            <a:pPr marL="0" indent="0" algn="l">
              <a:lnSpc>
                <a:spcPts val="2160"/>
              </a:lnSpc>
              <a:buNone/>
            </a:pPr>
            <a:r>
              <a:rPr lang="en-US" sz="1600" dirty="0">
                <a:solidFill>
                  <a:srgbClr val="333333"/>
                </a:solidFill>
                <a:latin typeface="Open Sans" pitchFamily="34" charset="0"/>
                <a:ea typeface="Open Sans" pitchFamily="34" charset="-122"/>
                <a:cs typeface="Open Sans" pitchFamily="34" charset="-120"/>
              </a:rPr>
              <a:t>Many students are good at the 'doing', but not the 'thinking'.</a:t>
            </a:r>
            <a:endParaRPr lang="en-US" sz="1600" dirty="0"/>
          </a:p>
        </p:txBody>
      </p:sp>
      <p:sp>
        <p:nvSpPr>
          <p:cNvPr id="24" name="Shape 17"/>
          <p:cNvSpPr/>
          <p:nvPr/>
        </p:nvSpPr>
        <p:spPr>
          <a:xfrm>
            <a:off x="8009434" y="3509963"/>
            <a:ext cx="3420566" cy="1724422"/>
          </a:xfrm>
          <a:prstGeom prst="rect">
            <a:avLst/>
          </a:prstGeom>
          <a:solidFill>
            <a:srgbClr val="F4F8FC"/>
          </a:solidFill>
          <a:ln/>
        </p:spPr>
        <p:txBody>
          <a:bodyPr/>
          <a:lstStyle/>
          <a:p>
            <a:endParaRPr lang="en-AU"/>
          </a:p>
        </p:txBody>
      </p:sp>
      <p:sp>
        <p:nvSpPr>
          <p:cNvPr id="25" name="Shape 18"/>
          <p:cNvSpPr/>
          <p:nvPr/>
        </p:nvSpPr>
        <p:spPr>
          <a:xfrm>
            <a:off x="8009434" y="3509963"/>
            <a:ext cx="3420566" cy="38100"/>
          </a:xfrm>
          <a:prstGeom prst="rect">
            <a:avLst/>
          </a:prstGeom>
          <a:solidFill>
            <a:srgbClr val="005AA7"/>
          </a:solidFill>
          <a:ln/>
        </p:spPr>
        <p:txBody>
          <a:bodyPr/>
          <a:lstStyle/>
          <a:p>
            <a:endParaRPr lang="en-AU"/>
          </a:p>
        </p:txBody>
      </p:sp>
      <p:pic>
        <p:nvPicPr>
          <p:cNvPr id="26" name="Image 5" descr="Link icon"/>
          <p:cNvPicPr>
            <a:picLocks noChangeAspect="1"/>
          </p:cNvPicPr>
          <p:nvPr/>
        </p:nvPicPr>
        <p:blipFill>
          <a:blip r:embed="rId8"/>
          <a:stretch>
            <a:fillRect/>
          </a:stretch>
        </p:blipFill>
        <p:spPr>
          <a:xfrm>
            <a:off x="8238034" y="3776662"/>
            <a:ext cx="304800" cy="304800"/>
          </a:xfrm>
          <a:prstGeom prst="rect">
            <a:avLst/>
          </a:prstGeom>
        </p:spPr>
      </p:pic>
      <p:sp>
        <p:nvSpPr>
          <p:cNvPr id="27" name="Text 19"/>
          <p:cNvSpPr/>
          <p:nvPr/>
        </p:nvSpPr>
        <p:spPr>
          <a:xfrm>
            <a:off x="8238034" y="4183063"/>
            <a:ext cx="3111535" cy="822722"/>
          </a:xfrm>
          <a:prstGeom prst="rect">
            <a:avLst/>
          </a:prstGeom>
          <a:noFill/>
          <a:ln/>
        </p:spPr>
        <p:txBody>
          <a:bodyPr wrap="square" lIns="0" tIns="0" rIns="0" bIns="0" rtlCol="0" anchor="t"/>
          <a:lstStyle/>
          <a:p>
            <a:pPr marL="0" indent="0" algn="l">
              <a:lnSpc>
                <a:spcPts val="2160"/>
              </a:lnSpc>
              <a:buNone/>
            </a:pPr>
            <a:r>
              <a:rPr lang="en-US" sz="1600" dirty="0">
                <a:solidFill>
                  <a:srgbClr val="333333"/>
                </a:solidFill>
                <a:latin typeface="Open Sans" pitchFamily="34" charset="0"/>
                <a:ea typeface="Open Sans" pitchFamily="34" charset="-122"/>
                <a:cs typeface="Open Sans" pitchFamily="34" charset="-120"/>
              </a:rPr>
              <a:t>If students don't understand the skills, they won't transfer them to other areas.</a:t>
            </a:r>
            <a:endParaRPr lang="en-US" sz="1600" dirty="0"/>
          </a:p>
        </p:txBody>
      </p:sp>
      <p:sp>
        <p:nvSpPr>
          <p:cNvPr id="28" name="Text 20"/>
          <p:cNvSpPr/>
          <p:nvPr/>
        </p:nvSpPr>
        <p:spPr>
          <a:xfrm>
            <a:off x="762000" y="6441480"/>
            <a:ext cx="8001000" cy="213320"/>
          </a:xfrm>
          <a:prstGeom prst="rect">
            <a:avLst/>
          </a:prstGeom>
          <a:noFill/>
          <a:ln/>
        </p:spPr>
        <p:txBody>
          <a:bodyPr wrap="square" lIns="0" tIns="0" rIns="0" bIns="0" rtlCol="0" anchor="t"/>
          <a:lstStyle/>
          <a:p>
            <a:pPr marL="0" indent="0" algn="l">
              <a:lnSpc>
                <a:spcPts val="1680"/>
              </a:lnSpc>
              <a:buNone/>
            </a:pPr>
            <a:r>
              <a:rPr lang="en-US" sz="1200" dirty="0">
                <a:solidFill>
                  <a:srgbClr val="6B6B6B"/>
                </a:solidFill>
                <a:latin typeface="Open Sans" pitchFamily="34" charset="0"/>
                <a:ea typeface="Open Sans" pitchFamily="34" charset="-122"/>
                <a:cs typeface="Open Sans" pitchFamily="34" charset="-120"/>
              </a:rPr>
              <a:t>Future Ready Skills Academy · frs.srczone.net</a:t>
            </a:r>
            <a:endParaRPr lang="en-US" sz="1200" dirty="0"/>
          </a:p>
        </p:txBody>
      </p:sp>
      <p:sp>
        <p:nvSpPr>
          <p:cNvPr id="29" name="Text 21"/>
          <p:cNvSpPr/>
          <p:nvPr/>
        </p:nvSpPr>
        <p:spPr>
          <a:xfrm>
            <a:off x="10083800" y="6441480"/>
            <a:ext cx="1346200" cy="213320"/>
          </a:xfrm>
          <a:prstGeom prst="rect">
            <a:avLst/>
          </a:prstGeom>
          <a:noFill/>
          <a:ln/>
        </p:spPr>
        <p:txBody>
          <a:bodyPr wrap="square" lIns="0" tIns="0" rIns="0" bIns="0" rtlCol="0" anchor="t"/>
          <a:lstStyle/>
          <a:p>
            <a:pPr marL="0" indent="0" algn="r">
              <a:lnSpc>
                <a:spcPts val="1680"/>
              </a:lnSpc>
              <a:buNone/>
            </a:pPr>
            <a:r>
              <a:rPr lang="en-US" sz="1200" dirty="0">
                <a:solidFill>
                  <a:srgbClr val="6B6B6B"/>
                </a:solidFill>
                <a:latin typeface="Open Sans" pitchFamily="34" charset="0"/>
                <a:ea typeface="Open Sans" pitchFamily="34" charset="-122"/>
                <a:cs typeface="Open Sans" pitchFamily="34" charset="-120"/>
              </a:rPr>
              <a:t>4 / 17</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62000" y="609600"/>
            <a:ext cx="11201400" cy="496491"/>
          </a:xfrm>
          <a:prstGeom prst="rect">
            <a:avLst/>
          </a:prstGeom>
          <a:noFill/>
          <a:ln/>
        </p:spPr>
        <p:txBody>
          <a:bodyPr wrap="square" lIns="0" tIns="0" rIns="0" bIns="0" rtlCol="0" anchor="t"/>
          <a:lstStyle/>
          <a:p>
            <a:pPr marL="0" indent="0" algn="l">
              <a:lnSpc>
                <a:spcPts val="3910"/>
              </a:lnSpc>
              <a:buNone/>
            </a:pPr>
            <a:r>
              <a:rPr lang="en-US" sz="3400" b="1" dirty="0">
                <a:solidFill>
                  <a:srgbClr val="005AA7"/>
                </a:solidFill>
                <a:latin typeface="Montserrat" pitchFamily="34" charset="0"/>
                <a:ea typeface="Montserrat" pitchFamily="34" charset="-122"/>
                <a:cs typeface="Montserrat" pitchFamily="34" charset="-120"/>
              </a:rPr>
              <a:t>What are Future Ready Skills?</a:t>
            </a:r>
            <a:endParaRPr lang="en-US" sz="3400" dirty="0"/>
          </a:p>
        </p:txBody>
      </p:sp>
      <p:sp>
        <p:nvSpPr>
          <p:cNvPr id="3" name="Shape 1"/>
          <p:cNvSpPr/>
          <p:nvPr/>
        </p:nvSpPr>
        <p:spPr>
          <a:xfrm>
            <a:off x="762000" y="1220391"/>
            <a:ext cx="850900" cy="57150"/>
          </a:xfrm>
          <a:prstGeom prst="rect">
            <a:avLst/>
          </a:prstGeom>
          <a:solidFill>
            <a:srgbClr val="EAB830"/>
          </a:solidFill>
          <a:ln/>
        </p:spPr>
        <p:txBody>
          <a:bodyPr/>
          <a:lstStyle/>
          <a:p>
            <a:endParaRPr lang="en-AU"/>
          </a:p>
        </p:txBody>
      </p:sp>
      <p:sp>
        <p:nvSpPr>
          <p:cNvPr id="4" name="Text 2"/>
          <p:cNvSpPr/>
          <p:nvPr/>
        </p:nvSpPr>
        <p:spPr>
          <a:xfrm>
            <a:off x="762000" y="1506141"/>
            <a:ext cx="11201400" cy="685800"/>
          </a:xfrm>
          <a:prstGeom prst="rect">
            <a:avLst/>
          </a:prstGeom>
          <a:noFill/>
          <a:ln/>
        </p:spPr>
        <p:txBody>
          <a:bodyPr wrap="square" lIns="0" tIns="0" rIns="0" bIns="0" rtlCol="0" anchor="t"/>
          <a:lstStyle/>
          <a:p>
            <a:pPr marL="0" indent="0" algn="l">
              <a:lnSpc>
                <a:spcPts val="2700"/>
              </a:lnSpc>
              <a:buNone/>
            </a:pPr>
            <a:r>
              <a:rPr lang="en-US" sz="2000" dirty="0">
                <a:solidFill>
                  <a:srgbClr val="333333"/>
                </a:solidFill>
                <a:latin typeface="Open Sans" pitchFamily="34" charset="0"/>
                <a:ea typeface="Open Sans" pitchFamily="34" charset="-122"/>
                <a:cs typeface="Open Sans" pitchFamily="34" charset="-120"/>
              </a:rPr>
              <a:t>Future Ready Skills blend cognitive and interpersonal abilities, preparing students for a dynamic society.</a:t>
            </a:r>
            <a:endParaRPr lang="en-US" sz="2000" dirty="0"/>
          </a:p>
        </p:txBody>
      </p:sp>
      <p:sp>
        <p:nvSpPr>
          <p:cNvPr id="5" name="Text 3"/>
          <p:cNvSpPr/>
          <p:nvPr/>
        </p:nvSpPr>
        <p:spPr>
          <a:xfrm>
            <a:off x="762000" y="2420541"/>
            <a:ext cx="11201400" cy="604441"/>
          </a:xfrm>
          <a:prstGeom prst="rect">
            <a:avLst/>
          </a:prstGeom>
          <a:noFill/>
          <a:ln/>
        </p:spPr>
        <p:txBody>
          <a:bodyPr wrap="square" lIns="0" tIns="0" rIns="0" bIns="0" rtlCol="0" anchor="t"/>
          <a:lstStyle/>
          <a:p>
            <a:pPr marL="0" indent="0" algn="l">
              <a:lnSpc>
                <a:spcPts val="2380"/>
              </a:lnSpc>
              <a:buNone/>
            </a:pPr>
            <a:r>
              <a:rPr lang="en-US" sz="1700" dirty="0">
                <a:solidFill>
                  <a:srgbClr val="333333"/>
                </a:solidFill>
                <a:latin typeface="Open Sans" pitchFamily="34" charset="0"/>
                <a:ea typeface="Open Sans" pitchFamily="34" charset="-122"/>
                <a:cs typeface="Open Sans" pitchFamily="34" charset="-120"/>
              </a:rPr>
              <a:t>They align with the </a:t>
            </a:r>
            <a:r>
              <a:rPr lang="en-US" sz="1700" b="1" dirty="0">
                <a:solidFill>
                  <a:srgbClr val="005AA7"/>
                </a:solidFill>
                <a:latin typeface="Open Sans" pitchFamily="34" charset="0"/>
                <a:ea typeface="Open Sans" pitchFamily="34" charset="-122"/>
                <a:cs typeface="Open Sans" pitchFamily="34" charset="-120"/>
              </a:rPr>
              <a:t>Australian Curriculum General Capabilities</a:t>
            </a:r>
            <a:r>
              <a:rPr lang="en-US" sz="1700" dirty="0">
                <a:solidFill>
                  <a:srgbClr val="333333"/>
                </a:solidFill>
                <a:latin typeface="Open Sans" pitchFamily="34" charset="0"/>
                <a:ea typeface="Open Sans" pitchFamily="34" charset="-122"/>
                <a:cs typeface="Open Sans" pitchFamily="34" charset="-120"/>
              </a:rPr>
              <a:t> and with government and industry priorities.</a:t>
            </a:r>
            <a:endParaRPr lang="en-US" sz="1700" dirty="0"/>
          </a:p>
        </p:txBody>
      </p:sp>
      <p:sp>
        <p:nvSpPr>
          <p:cNvPr id="6" name="Shape 4"/>
          <p:cNvSpPr/>
          <p:nvPr/>
        </p:nvSpPr>
        <p:spPr>
          <a:xfrm>
            <a:off x="762000" y="3253581"/>
            <a:ext cx="10668000" cy="1429941"/>
          </a:xfrm>
          <a:prstGeom prst="rect">
            <a:avLst/>
          </a:prstGeom>
          <a:solidFill>
            <a:srgbClr val="F4F8FC"/>
          </a:solidFill>
          <a:ln/>
        </p:spPr>
        <p:txBody>
          <a:bodyPr/>
          <a:lstStyle/>
          <a:p>
            <a:endParaRPr lang="en-AU"/>
          </a:p>
        </p:txBody>
      </p:sp>
      <p:sp>
        <p:nvSpPr>
          <p:cNvPr id="7" name="Shape 5"/>
          <p:cNvSpPr/>
          <p:nvPr/>
        </p:nvSpPr>
        <p:spPr>
          <a:xfrm>
            <a:off x="762000" y="3253581"/>
            <a:ext cx="10668000" cy="38100"/>
          </a:xfrm>
          <a:prstGeom prst="rect">
            <a:avLst/>
          </a:prstGeom>
          <a:solidFill>
            <a:srgbClr val="00BED6"/>
          </a:solidFill>
          <a:ln/>
        </p:spPr>
        <p:txBody>
          <a:bodyPr/>
          <a:lstStyle/>
          <a:p>
            <a:endParaRPr lang="en-AU"/>
          </a:p>
        </p:txBody>
      </p:sp>
      <p:sp>
        <p:nvSpPr>
          <p:cNvPr id="8" name="Text 6"/>
          <p:cNvSpPr/>
          <p:nvPr/>
        </p:nvSpPr>
        <p:spPr>
          <a:xfrm>
            <a:off x="990600" y="3520281"/>
            <a:ext cx="10721340" cy="289520"/>
          </a:xfrm>
          <a:prstGeom prst="rect">
            <a:avLst/>
          </a:prstGeom>
          <a:noFill/>
          <a:ln/>
        </p:spPr>
        <p:txBody>
          <a:bodyPr wrap="square" lIns="0" tIns="0" rIns="0" bIns="0" rtlCol="0" anchor="t"/>
          <a:lstStyle/>
          <a:p>
            <a:pPr marL="0" indent="0" algn="l">
              <a:lnSpc>
                <a:spcPts val="2280"/>
              </a:lnSpc>
              <a:buNone/>
            </a:pPr>
            <a:r>
              <a:rPr lang="en-US" sz="1900" b="1" dirty="0">
                <a:solidFill>
                  <a:srgbClr val="005AA7"/>
                </a:solidFill>
                <a:latin typeface="Montserrat" pitchFamily="34" charset="0"/>
                <a:ea typeface="Montserrat" pitchFamily="34" charset="-122"/>
                <a:cs typeface="Montserrat" pitchFamily="34" charset="-120"/>
              </a:rPr>
              <a:t>Community means understanding culture</a:t>
            </a:r>
            <a:endParaRPr lang="en-US" sz="1900" dirty="0"/>
          </a:p>
        </p:txBody>
      </p:sp>
      <p:sp>
        <p:nvSpPr>
          <p:cNvPr id="9" name="Text 7"/>
          <p:cNvSpPr/>
          <p:nvPr/>
        </p:nvSpPr>
        <p:spPr>
          <a:xfrm>
            <a:off x="990600" y="3886002"/>
            <a:ext cx="10721340" cy="568920"/>
          </a:xfrm>
          <a:prstGeom prst="rect">
            <a:avLst/>
          </a:prstGeom>
          <a:noFill/>
          <a:ln/>
        </p:spPr>
        <p:txBody>
          <a:bodyPr wrap="square" lIns="0" tIns="0" rIns="0" bIns="0" rtlCol="0" anchor="t"/>
          <a:lstStyle/>
          <a:p>
            <a:pPr marL="0" indent="0" algn="l">
              <a:lnSpc>
                <a:spcPts val="2240"/>
              </a:lnSpc>
              <a:buNone/>
            </a:pPr>
            <a:r>
              <a:rPr lang="en-US" sz="1600" dirty="0">
                <a:solidFill>
                  <a:srgbClr val="333333"/>
                </a:solidFill>
                <a:latin typeface="Open Sans" pitchFamily="34" charset="0"/>
                <a:ea typeface="Open Sans" pitchFamily="34" charset="-122"/>
                <a:cs typeface="Open Sans" pitchFamily="34" charset="-120"/>
              </a:rPr>
              <a:t>We added Community to the well-known 4Cs because understanding and connecting with people and culture is an essential part of 21st-century learning.</a:t>
            </a:r>
            <a:endParaRPr lang="en-US" sz="1600" dirty="0"/>
          </a:p>
        </p:txBody>
      </p:sp>
      <p:sp>
        <p:nvSpPr>
          <p:cNvPr id="10" name="Text 8"/>
          <p:cNvSpPr/>
          <p:nvPr/>
        </p:nvSpPr>
        <p:spPr>
          <a:xfrm>
            <a:off x="681772" y="4912122"/>
            <a:ext cx="1765022" cy="411460"/>
          </a:xfrm>
          <a:prstGeom prst="roundRect">
            <a:avLst>
              <a:gd name="adj" fmla="val 24693"/>
            </a:avLst>
          </a:prstGeom>
          <a:solidFill>
            <a:srgbClr val="EAF3FB"/>
          </a:solidFill>
          <a:ln/>
        </p:spPr>
        <p:txBody>
          <a:bodyPr wrap="none" lIns="177800" tIns="63500" rIns="177800" bIns="63500" rtlCol="0" anchor="ctr"/>
          <a:lstStyle/>
          <a:p>
            <a:pPr marL="0" indent="0" algn="l">
              <a:lnSpc>
                <a:spcPts val="2240"/>
              </a:lnSpc>
              <a:buNone/>
            </a:pPr>
            <a:r>
              <a:rPr lang="en-US" sz="1600" b="1" dirty="0">
                <a:solidFill>
                  <a:srgbClr val="005AA7"/>
                </a:solidFill>
                <a:latin typeface="Montserrat" pitchFamily="34" charset="0"/>
                <a:ea typeface="Montserrat" pitchFamily="34" charset="-122"/>
                <a:cs typeface="Montserrat" pitchFamily="34" charset="-120"/>
              </a:rPr>
              <a:t>Community</a:t>
            </a:r>
            <a:endParaRPr lang="en-US" sz="1600" dirty="0"/>
          </a:p>
        </p:txBody>
      </p:sp>
      <p:sp>
        <p:nvSpPr>
          <p:cNvPr id="11" name="Text 9"/>
          <p:cNvSpPr/>
          <p:nvPr/>
        </p:nvSpPr>
        <p:spPr>
          <a:xfrm>
            <a:off x="2364765" y="4912122"/>
            <a:ext cx="2274818" cy="411460"/>
          </a:xfrm>
          <a:prstGeom prst="roundRect">
            <a:avLst>
              <a:gd name="adj" fmla="val 24693"/>
            </a:avLst>
          </a:prstGeom>
          <a:solidFill>
            <a:srgbClr val="EAF3FB"/>
          </a:solidFill>
          <a:ln/>
        </p:spPr>
        <p:txBody>
          <a:bodyPr wrap="none" lIns="177800" tIns="63500" rIns="177800" bIns="63500" rtlCol="0" anchor="ctr"/>
          <a:lstStyle/>
          <a:p>
            <a:pPr marL="0" indent="0" algn="l">
              <a:lnSpc>
                <a:spcPts val="2240"/>
              </a:lnSpc>
              <a:buNone/>
            </a:pPr>
            <a:r>
              <a:rPr lang="en-US" sz="1600" b="1" dirty="0">
                <a:solidFill>
                  <a:srgbClr val="005AA7"/>
                </a:solidFill>
                <a:latin typeface="Montserrat" pitchFamily="34" charset="0"/>
                <a:ea typeface="Montserrat" pitchFamily="34" charset="-122"/>
                <a:cs typeface="Montserrat" pitchFamily="34" charset="-120"/>
              </a:rPr>
              <a:t>Communication</a:t>
            </a:r>
            <a:endParaRPr lang="en-US" sz="1600" dirty="0"/>
          </a:p>
        </p:txBody>
      </p:sp>
      <p:sp>
        <p:nvSpPr>
          <p:cNvPr id="12" name="Text 10"/>
          <p:cNvSpPr/>
          <p:nvPr/>
        </p:nvSpPr>
        <p:spPr>
          <a:xfrm>
            <a:off x="4548728" y="4912122"/>
            <a:ext cx="1959183" cy="411460"/>
          </a:xfrm>
          <a:prstGeom prst="roundRect">
            <a:avLst>
              <a:gd name="adj" fmla="val 24693"/>
            </a:avLst>
          </a:prstGeom>
          <a:solidFill>
            <a:srgbClr val="EAF3FB"/>
          </a:solidFill>
          <a:ln/>
        </p:spPr>
        <p:txBody>
          <a:bodyPr wrap="none" lIns="177800" tIns="63500" rIns="177800" bIns="63500" rtlCol="0" anchor="ctr"/>
          <a:lstStyle/>
          <a:p>
            <a:pPr marL="0" indent="0" algn="l">
              <a:lnSpc>
                <a:spcPts val="2240"/>
              </a:lnSpc>
              <a:buNone/>
            </a:pPr>
            <a:r>
              <a:rPr lang="en-US" sz="1600" b="1" dirty="0">
                <a:solidFill>
                  <a:srgbClr val="005AA7"/>
                </a:solidFill>
                <a:latin typeface="Montserrat" pitchFamily="34" charset="0"/>
                <a:ea typeface="Montserrat" pitchFamily="34" charset="-122"/>
                <a:cs typeface="Montserrat" pitchFamily="34" charset="-120"/>
              </a:rPr>
              <a:t>Collaboration</a:t>
            </a:r>
            <a:endParaRPr lang="en-US" sz="1600" dirty="0"/>
          </a:p>
        </p:txBody>
      </p:sp>
      <p:sp>
        <p:nvSpPr>
          <p:cNvPr id="13" name="Text 11"/>
          <p:cNvSpPr/>
          <p:nvPr/>
        </p:nvSpPr>
        <p:spPr>
          <a:xfrm>
            <a:off x="6414973" y="4912122"/>
            <a:ext cx="2320657" cy="411460"/>
          </a:xfrm>
          <a:prstGeom prst="roundRect">
            <a:avLst>
              <a:gd name="adj" fmla="val 24693"/>
            </a:avLst>
          </a:prstGeom>
          <a:solidFill>
            <a:srgbClr val="EAF3FB"/>
          </a:solidFill>
          <a:ln/>
        </p:spPr>
        <p:txBody>
          <a:bodyPr wrap="none" lIns="177800" tIns="63500" rIns="177800" bIns="63500" rtlCol="0" anchor="ctr"/>
          <a:lstStyle/>
          <a:p>
            <a:pPr marL="0" indent="0" algn="l">
              <a:lnSpc>
                <a:spcPts val="2240"/>
              </a:lnSpc>
              <a:buNone/>
            </a:pPr>
            <a:r>
              <a:rPr lang="en-US" sz="1600" b="1" dirty="0">
                <a:solidFill>
                  <a:srgbClr val="005AA7"/>
                </a:solidFill>
                <a:latin typeface="Montserrat" pitchFamily="34" charset="0"/>
                <a:ea typeface="Montserrat" pitchFamily="34" charset="-122"/>
                <a:cs typeface="Montserrat" pitchFamily="34" charset="-120"/>
              </a:rPr>
              <a:t>Critical Thinking</a:t>
            </a:r>
            <a:endParaRPr lang="en-US" sz="1600" dirty="0"/>
          </a:p>
        </p:txBody>
      </p:sp>
      <p:sp>
        <p:nvSpPr>
          <p:cNvPr id="14" name="Text 12"/>
          <p:cNvSpPr/>
          <p:nvPr/>
        </p:nvSpPr>
        <p:spPr>
          <a:xfrm>
            <a:off x="8662928" y="4912122"/>
            <a:ext cx="1513999" cy="411460"/>
          </a:xfrm>
          <a:prstGeom prst="roundRect">
            <a:avLst>
              <a:gd name="adj" fmla="val 24693"/>
            </a:avLst>
          </a:prstGeom>
          <a:solidFill>
            <a:srgbClr val="EAF3FB"/>
          </a:solidFill>
          <a:ln/>
        </p:spPr>
        <p:txBody>
          <a:bodyPr wrap="none" lIns="177800" tIns="63500" rIns="177800" bIns="63500" rtlCol="0" anchor="ctr"/>
          <a:lstStyle/>
          <a:p>
            <a:pPr marL="0" indent="0" algn="l">
              <a:lnSpc>
                <a:spcPts val="2240"/>
              </a:lnSpc>
              <a:buNone/>
            </a:pPr>
            <a:r>
              <a:rPr lang="en-US" sz="1600" b="1" dirty="0">
                <a:solidFill>
                  <a:srgbClr val="005AA7"/>
                </a:solidFill>
                <a:latin typeface="Montserrat" pitchFamily="34" charset="0"/>
                <a:ea typeface="Montserrat" pitchFamily="34" charset="-122"/>
                <a:cs typeface="Montserrat" pitchFamily="34" charset="-120"/>
              </a:rPr>
              <a:t>Creativity</a:t>
            </a:r>
            <a:endParaRPr lang="en-US" sz="1600" dirty="0"/>
          </a:p>
        </p:txBody>
      </p:sp>
      <p:sp>
        <p:nvSpPr>
          <p:cNvPr id="15" name="Text 13"/>
          <p:cNvSpPr/>
          <p:nvPr/>
        </p:nvSpPr>
        <p:spPr>
          <a:xfrm>
            <a:off x="762000" y="6441480"/>
            <a:ext cx="8001000" cy="213320"/>
          </a:xfrm>
          <a:prstGeom prst="rect">
            <a:avLst/>
          </a:prstGeom>
          <a:noFill/>
          <a:ln/>
        </p:spPr>
        <p:txBody>
          <a:bodyPr wrap="square" lIns="0" tIns="0" rIns="0" bIns="0" rtlCol="0" anchor="t"/>
          <a:lstStyle/>
          <a:p>
            <a:pPr marL="0" indent="0" algn="l">
              <a:lnSpc>
                <a:spcPts val="1680"/>
              </a:lnSpc>
              <a:buNone/>
            </a:pPr>
            <a:r>
              <a:rPr lang="en-US" sz="1200" dirty="0">
                <a:solidFill>
                  <a:srgbClr val="6B6B6B"/>
                </a:solidFill>
                <a:latin typeface="Open Sans" pitchFamily="34" charset="0"/>
                <a:ea typeface="Open Sans" pitchFamily="34" charset="-122"/>
                <a:cs typeface="Open Sans" pitchFamily="34" charset="-120"/>
              </a:rPr>
              <a:t>Future Ready Skills Academy · frs.srczone.net</a:t>
            </a:r>
            <a:endParaRPr lang="en-US" sz="1200" dirty="0"/>
          </a:p>
        </p:txBody>
      </p:sp>
      <p:sp>
        <p:nvSpPr>
          <p:cNvPr id="16" name="Text 14"/>
          <p:cNvSpPr/>
          <p:nvPr/>
        </p:nvSpPr>
        <p:spPr>
          <a:xfrm>
            <a:off x="10083800" y="6441480"/>
            <a:ext cx="1346200" cy="213320"/>
          </a:xfrm>
          <a:prstGeom prst="rect">
            <a:avLst/>
          </a:prstGeom>
          <a:noFill/>
          <a:ln/>
        </p:spPr>
        <p:txBody>
          <a:bodyPr wrap="square" lIns="0" tIns="0" rIns="0" bIns="0" rtlCol="0" anchor="t"/>
          <a:lstStyle/>
          <a:p>
            <a:pPr marL="0" indent="0" algn="r">
              <a:lnSpc>
                <a:spcPts val="1680"/>
              </a:lnSpc>
              <a:buNone/>
            </a:pPr>
            <a:r>
              <a:rPr lang="en-US" sz="1200" dirty="0">
                <a:solidFill>
                  <a:srgbClr val="6B6B6B"/>
                </a:solidFill>
                <a:latin typeface="Open Sans" pitchFamily="34" charset="0"/>
                <a:ea typeface="Open Sans" pitchFamily="34" charset="-122"/>
                <a:cs typeface="Open Sans" pitchFamily="34" charset="-120"/>
              </a:rPr>
              <a:t>5 / 17</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Future Ready Skills 'Building Innovator Mindsets' poster showing the five skills: Community (exploring who we are), Collaboration (working with others), Critical Thinking (problem solving), Creativity (thinking outside the box) and Communication (conveying ideas)"/>
          <p:cNvPicPr>
            <a:picLocks noChangeAspect="1"/>
          </p:cNvPicPr>
          <p:nvPr/>
        </p:nvPicPr>
        <p:blipFill>
          <a:blip r:embed="rId3"/>
          <a:srcRect/>
          <a:stretch/>
        </p:blipFill>
        <p:spPr>
          <a:xfrm>
            <a:off x="1815394" y="-449611"/>
            <a:ext cx="10376606" cy="7334250"/>
          </a:xfrm>
          <a:prstGeom prst="rect">
            <a:avLst/>
          </a:prstGeom>
        </p:spPr>
      </p:pic>
      <p:sp>
        <p:nvSpPr>
          <p:cNvPr id="3" name="Text 0"/>
          <p:cNvSpPr/>
          <p:nvPr/>
        </p:nvSpPr>
        <p:spPr>
          <a:xfrm>
            <a:off x="406400" y="609600"/>
            <a:ext cx="2000250" cy="467320"/>
          </a:xfrm>
          <a:prstGeom prst="rect">
            <a:avLst/>
          </a:prstGeom>
          <a:noFill/>
          <a:ln/>
        </p:spPr>
        <p:txBody>
          <a:bodyPr wrap="square" lIns="0" tIns="0" rIns="0" bIns="0" rtlCol="0" anchor="t"/>
          <a:lstStyle/>
          <a:p>
            <a:pPr marL="0" indent="0" algn="l">
              <a:lnSpc>
                <a:spcPts val="3680"/>
              </a:lnSpc>
              <a:buNone/>
            </a:pPr>
            <a:r>
              <a:rPr lang="en-US" sz="3200" b="1" dirty="0">
                <a:solidFill>
                  <a:srgbClr val="005AA7"/>
                </a:solidFill>
                <a:latin typeface="Montserrat" pitchFamily="34" charset="0"/>
                <a:ea typeface="Montserrat" pitchFamily="34" charset="-122"/>
                <a:cs typeface="Montserrat" pitchFamily="34" charset="-120"/>
              </a:rPr>
              <a:t>The 5Cs</a:t>
            </a:r>
            <a:endParaRPr lang="en-US" sz="3200" dirty="0"/>
          </a:p>
        </p:txBody>
      </p:sp>
      <p:sp>
        <p:nvSpPr>
          <p:cNvPr id="4" name="Shape 1"/>
          <p:cNvSpPr/>
          <p:nvPr/>
        </p:nvSpPr>
        <p:spPr>
          <a:xfrm>
            <a:off x="406400" y="1191220"/>
            <a:ext cx="762000" cy="57150"/>
          </a:xfrm>
          <a:prstGeom prst="rect">
            <a:avLst/>
          </a:prstGeom>
          <a:solidFill>
            <a:srgbClr val="EAB830"/>
          </a:solidFill>
          <a:ln/>
        </p:spPr>
        <p:txBody>
          <a:bodyPr/>
          <a:lstStyle/>
          <a:p>
            <a:endParaRPr lang="en-AU"/>
          </a:p>
        </p:txBody>
      </p:sp>
      <p:sp>
        <p:nvSpPr>
          <p:cNvPr id="5" name="Text 2"/>
          <p:cNvSpPr/>
          <p:nvPr/>
        </p:nvSpPr>
        <p:spPr>
          <a:xfrm>
            <a:off x="406400" y="1362670"/>
            <a:ext cx="2000250" cy="614561"/>
          </a:xfrm>
          <a:prstGeom prst="rect">
            <a:avLst/>
          </a:prstGeom>
          <a:noFill/>
          <a:ln/>
        </p:spPr>
        <p:txBody>
          <a:bodyPr wrap="square" lIns="0" tIns="0" rIns="0" bIns="0" rtlCol="0" anchor="t"/>
          <a:lstStyle/>
          <a:p>
            <a:pPr marL="0" indent="0" algn="l">
              <a:lnSpc>
                <a:spcPts val="2420"/>
              </a:lnSpc>
              <a:buNone/>
            </a:pPr>
            <a:r>
              <a:rPr lang="en-US" sz="2200" dirty="0">
                <a:solidFill>
                  <a:srgbClr val="00798A"/>
                </a:solidFill>
                <a:latin typeface="Caveat" pitchFamily="34" charset="0"/>
                <a:ea typeface="Caveat" pitchFamily="34" charset="-122"/>
                <a:cs typeface="Caveat" pitchFamily="34" charset="-120"/>
              </a:rPr>
              <a:t>Building Innovator Mindsets</a:t>
            </a:r>
            <a:endParaRPr lang="en-US" sz="2200" dirty="0"/>
          </a:p>
        </p:txBody>
      </p:sp>
      <p:sp>
        <p:nvSpPr>
          <p:cNvPr id="6" name="Text 3"/>
          <p:cNvSpPr/>
          <p:nvPr/>
        </p:nvSpPr>
        <p:spPr>
          <a:xfrm>
            <a:off x="374650" y="2620764"/>
            <a:ext cx="2000250" cy="231080"/>
          </a:xfrm>
          <a:prstGeom prst="rect">
            <a:avLst/>
          </a:prstGeom>
          <a:noFill/>
          <a:ln/>
        </p:spPr>
        <p:txBody>
          <a:bodyPr wrap="square" lIns="0" tIns="0" rIns="0" bIns="0" rtlCol="0" anchor="t"/>
          <a:lstStyle/>
          <a:p>
            <a:pPr marL="0" indent="0" algn="l">
              <a:lnSpc>
                <a:spcPts val="1820"/>
              </a:lnSpc>
              <a:buNone/>
            </a:pPr>
            <a:r>
              <a:rPr lang="en-US" sz="1300" b="1" dirty="0">
                <a:solidFill>
                  <a:srgbClr val="005AA7"/>
                </a:solidFill>
                <a:latin typeface="Montserrat" pitchFamily="34" charset="0"/>
                <a:ea typeface="Montserrat" pitchFamily="34" charset="-122"/>
                <a:cs typeface="Montserrat" pitchFamily="34" charset="-120"/>
              </a:rPr>
              <a:t>Community</a:t>
            </a:r>
            <a:endParaRPr lang="en-US" sz="1300" dirty="0"/>
          </a:p>
        </p:txBody>
      </p:sp>
      <p:sp>
        <p:nvSpPr>
          <p:cNvPr id="7" name="Text 4"/>
          <p:cNvSpPr/>
          <p:nvPr/>
        </p:nvSpPr>
        <p:spPr>
          <a:xfrm>
            <a:off x="374650" y="2907754"/>
            <a:ext cx="2000250" cy="231080"/>
          </a:xfrm>
          <a:prstGeom prst="rect">
            <a:avLst/>
          </a:prstGeom>
          <a:noFill/>
          <a:ln/>
        </p:spPr>
        <p:txBody>
          <a:bodyPr wrap="square" lIns="0" tIns="0" rIns="0" bIns="0" rtlCol="0" anchor="t"/>
          <a:lstStyle/>
          <a:p>
            <a:pPr marL="0" indent="0" algn="l">
              <a:lnSpc>
                <a:spcPts val="1820"/>
              </a:lnSpc>
              <a:buNone/>
            </a:pPr>
            <a:r>
              <a:rPr lang="en-US" sz="1300" b="1" dirty="0">
                <a:solidFill>
                  <a:srgbClr val="005AA7"/>
                </a:solidFill>
                <a:latin typeface="Montserrat" pitchFamily="34" charset="0"/>
                <a:ea typeface="Montserrat" pitchFamily="34" charset="-122"/>
                <a:cs typeface="Montserrat" pitchFamily="34" charset="-120"/>
              </a:rPr>
              <a:t>Communication</a:t>
            </a:r>
            <a:endParaRPr lang="en-US" sz="1300" dirty="0"/>
          </a:p>
        </p:txBody>
      </p:sp>
      <p:sp>
        <p:nvSpPr>
          <p:cNvPr id="8" name="Text 5"/>
          <p:cNvSpPr/>
          <p:nvPr/>
        </p:nvSpPr>
        <p:spPr>
          <a:xfrm>
            <a:off x="374650" y="3217514"/>
            <a:ext cx="2000250" cy="231080"/>
          </a:xfrm>
          <a:prstGeom prst="rect">
            <a:avLst/>
          </a:prstGeom>
          <a:noFill/>
          <a:ln/>
        </p:spPr>
        <p:txBody>
          <a:bodyPr wrap="square" lIns="0" tIns="0" rIns="0" bIns="0" rtlCol="0" anchor="t"/>
          <a:lstStyle/>
          <a:p>
            <a:pPr marL="0" indent="0" algn="l">
              <a:lnSpc>
                <a:spcPts val="1820"/>
              </a:lnSpc>
              <a:buNone/>
            </a:pPr>
            <a:r>
              <a:rPr lang="en-US" sz="1300" b="1" dirty="0">
                <a:solidFill>
                  <a:srgbClr val="005AA7"/>
                </a:solidFill>
                <a:latin typeface="Montserrat" pitchFamily="34" charset="0"/>
                <a:ea typeface="Montserrat" pitchFamily="34" charset="-122"/>
                <a:cs typeface="Montserrat" pitchFamily="34" charset="-120"/>
              </a:rPr>
              <a:t>Collaboration</a:t>
            </a:r>
            <a:endParaRPr lang="en-US" sz="1300" dirty="0"/>
          </a:p>
        </p:txBody>
      </p:sp>
      <p:sp>
        <p:nvSpPr>
          <p:cNvPr id="9" name="Text 6"/>
          <p:cNvSpPr/>
          <p:nvPr/>
        </p:nvSpPr>
        <p:spPr>
          <a:xfrm>
            <a:off x="374650" y="3524946"/>
            <a:ext cx="2000250" cy="231080"/>
          </a:xfrm>
          <a:prstGeom prst="rect">
            <a:avLst/>
          </a:prstGeom>
          <a:noFill/>
          <a:ln/>
        </p:spPr>
        <p:txBody>
          <a:bodyPr wrap="square" lIns="0" tIns="0" rIns="0" bIns="0" rtlCol="0" anchor="t"/>
          <a:lstStyle/>
          <a:p>
            <a:pPr marL="0" indent="0" algn="l">
              <a:lnSpc>
                <a:spcPts val="1820"/>
              </a:lnSpc>
              <a:buNone/>
            </a:pPr>
            <a:r>
              <a:rPr lang="en-US" sz="1300" b="1" dirty="0">
                <a:solidFill>
                  <a:srgbClr val="005AA7"/>
                </a:solidFill>
                <a:latin typeface="Montserrat" pitchFamily="34" charset="0"/>
                <a:ea typeface="Montserrat" pitchFamily="34" charset="-122"/>
                <a:cs typeface="Montserrat" pitchFamily="34" charset="-120"/>
              </a:rPr>
              <a:t>Critical Thinking</a:t>
            </a:r>
            <a:endParaRPr lang="en-US" sz="1300" dirty="0"/>
          </a:p>
        </p:txBody>
      </p:sp>
      <p:sp>
        <p:nvSpPr>
          <p:cNvPr id="10" name="Text 7"/>
          <p:cNvSpPr/>
          <p:nvPr/>
        </p:nvSpPr>
        <p:spPr>
          <a:xfrm>
            <a:off x="374650" y="3818284"/>
            <a:ext cx="2000250" cy="231080"/>
          </a:xfrm>
          <a:prstGeom prst="rect">
            <a:avLst/>
          </a:prstGeom>
          <a:noFill/>
          <a:ln/>
        </p:spPr>
        <p:txBody>
          <a:bodyPr wrap="square" lIns="0" tIns="0" rIns="0" bIns="0" rtlCol="0" anchor="t"/>
          <a:lstStyle/>
          <a:p>
            <a:pPr marL="0" indent="0" algn="l">
              <a:lnSpc>
                <a:spcPts val="1820"/>
              </a:lnSpc>
              <a:buNone/>
            </a:pPr>
            <a:r>
              <a:rPr lang="en-US" sz="1300" b="1" dirty="0">
                <a:solidFill>
                  <a:srgbClr val="005AA7"/>
                </a:solidFill>
                <a:latin typeface="Montserrat" pitchFamily="34" charset="0"/>
                <a:ea typeface="Montserrat" pitchFamily="34" charset="-122"/>
                <a:cs typeface="Montserrat" pitchFamily="34" charset="-120"/>
              </a:rPr>
              <a:t>Creativity</a:t>
            </a:r>
            <a:endParaRPr lang="en-US" sz="1300" dirty="0"/>
          </a:p>
        </p:txBody>
      </p:sp>
      <p:sp>
        <p:nvSpPr>
          <p:cNvPr id="11" name="Text 8"/>
          <p:cNvSpPr/>
          <p:nvPr/>
        </p:nvSpPr>
        <p:spPr>
          <a:xfrm>
            <a:off x="406400" y="6441480"/>
            <a:ext cx="2000250" cy="213320"/>
          </a:xfrm>
          <a:prstGeom prst="rect">
            <a:avLst/>
          </a:prstGeom>
          <a:noFill/>
          <a:ln/>
        </p:spPr>
        <p:txBody>
          <a:bodyPr wrap="square" lIns="0" tIns="0" rIns="0" bIns="0" rtlCol="0" anchor="t"/>
          <a:lstStyle/>
          <a:p>
            <a:pPr marL="0" indent="0" algn="l">
              <a:lnSpc>
                <a:spcPts val="1680"/>
              </a:lnSpc>
              <a:buNone/>
            </a:pPr>
            <a:r>
              <a:rPr lang="en-US" sz="1200" dirty="0">
                <a:solidFill>
                  <a:srgbClr val="6B6B6B"/>
                </a:solidFill>
                <a:latin typeface="Open Sans" pitchFamily="34" charset="0"/>
                <a:ea typeface="Open Sans" pitchFamily="34" charset="-122"/>
                <a:cs typeface="Open Sans" pitchFamily="34" charset="-120"/>
              </a:rPr>
              <a:t>6 / 17</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5"/>
        </a:solidFill>
        <a:effectLst/>
      </p:bgPr>
    </p:bg>
    <p:spTree>
      <p:nvGrpSpPr>
        <p:cNvPr id="1" name=""/>
        <p:cNvGrpSpPr/>
        <p:nvPr/>
      </p:nvGrpSpPr>
      <p:grpSpPr>
        <a:xfrm>
          <a:off x="0" y="0"/>
          <a:ext cx="0" cy="0"/>
          <a:chOff x="0" y="0"/>
          <a:chExt cx="0" cy="0"/>
        </a:xfrm>
      </p:grpSpPr>
      <p:sp>
        <p:nvSpPr>
          <p:cNvPr id="2" name="Text 0"/>
          <p:cNvSpPr/>
          <p:nvPr/>
        </p:nvSpPr>
        <p:spPr>
          <a:xfrm>
            <a:off x="8496300" y="355600"/>
            <a:ext cx="3073400" cy="332680"/>
          </a:xfrm>
          <a:prstGeom prst="roundRect">
            <a:avLst>
              <a:gd name="adj" fmla="val 15270"/>
            </a:avLst>
          </a:prstGeom>
          <a:solidFill>
            <a:srgbClr val="EAB830"/>
          </a:solidFill>
          <a:ln/>
        </p:spPr>
        <p:txBody>
          <a:bodyPr wrap="none" lIns="101600" tIns="50800" rIns="101600" bIns="50800" rtlCol="0" anchor="ctr"/>
          <a:lstStyle/>
          <a:p>
            <a:pPr marL="0" indent="0" algn="ctr">
              <a:lnSpc>
                <a:spcPts val="1820"/>
              </a:lnSpc>
              <a:buNone/>
            </a:pPr>
            <a:r>
              <a:rPr lang="en-US" sz="1300" b="1" kern="0" spc="150" dirty="0">
                <a:solidFill>
                  <a:srgbClr val="23282D"/>
                </a:solidFill>
                <a:latin typeface="Montserrat" pitchFamily="34" charset="0"/>
                <a:ea typeface="Montserrat" pitchFamily="34" charset="-122"/>
                <a:cs typeface="Montserrat" pitchFamily="34" charset="-120"/>
              </a:rPr>
              <a:t>THINK · PAIR · SHARE</a:t>
            </a:r>
            <a:endParaRPr lang="en-US" sz="1300" dirty="0"/>
          </a:p>
        </p:txBody>
      </p:sp>
      <p:sp>
        <p:nvSpPr>
          <p:cNvPr id="3" name="Text 1"/>
          <p:cNvSpPr/>
          <p:nvPr/>
        </p:nvSpPr>
        <p:spPr>
          <a:xfrm>
            <a:off x="762000" y="609600"/>
            <a:ext cx="11201400" cy="496491"/>
          </a:xfrm>
          <a:prstGeom prst="rect">
            <a:avLst/>
          </a:prstGeom>
          <a:noFill/>
          <a:ln/>
        </p:spPr>
        <p:txBody>
          <a:bodyPr wrap="square" lIns="0" tIns="0" rIns="0" bIns="0" rtlCol="0" anchor="t"/>
          <a:lstStyle/>
          <a:p>
            <a:pPr marL="0" indent="0" algn="l">
              <a:lnSpc>
                <a:spcPts val="3910"/>
              </a:lnSpc>
              <a:buNone/>
            </a:pPr>
            <a:r>
              <a:rPr lang="en-US" sz="3400" b="1" dirty="0">
                <a:solidFill>
                  <a:srgbClr val="005AA7"/>
                </a:solidFill>
                <a:latin typeface="Montserrat" pitchFamily="34" charset="0"/>
                <a:ea typeface="Montserrat" pitchFamily="34" charset="-122"/>
                <a:cs typeface="Montserrat" pitchFamily="34" charset="-120"/>
              </a:rPr>
              <a:t>Discuss</a:t>
            </a:r>
            <a:endParaRPr lang="en-US" sz="3400" dirty="0"/>
          </a:p>
        </p:txBody>
      </p:sp>
      <p:sp>
        <p:nvSpPr>
          <p:cNvPr id="4" name="Shape 2"/>
          <p:cNvSpPr/>
          <p:nvPr/>
        </p:nvSpPr>
        <p:spPr>
          <a:xfrm>
            <a:off x="762000" y="1220391"/>
            <a:ext cx="850900" cy="57150"/>
          </a:xfrm>
          <a:prstGeom prst="rect">
            <a:avLst/>
          </a:prstGeom>
          <a:solidFill>
            <a:srgbClr val="EAB830"/>
          </a:solidFill>
          <a:ln/>
        </p:spPr>
        <p:txBody>
          <a:bodyPr/>
          <a:lstStyle/>
          <a:p>
            <a:endParaRPr lang="en-AU"/>
          </a:p>
        </p:txBody>
      </p:sp>
      <p:sp>
        <p:nvSpPr>
          <p:cNvPr id="5" name="Text 3"/>
          <p:cNvSpPr/>
          <p:nvPr/>
        </p:nvSpPr>
        <p:spPr>
          <a:xfrm>
            <a:off x="762000" y="2158901"/>
            <a:ext cx="5574030" cy="1139130"/>
          </a:xfrm>
          <a:prstGeom prst="rect">
            <a:avLst/>
          </a:prstGeom>
          <a:noFill/>
          <a:ln/>
        </p:spPr>
        <p:txBody>
          <a:bodyPr wrap="square" lIns="0" tIns="0" rIns="0" bIns="0" rtlCol="0" anchor="t"/>
          <a:lstStyle/>
          <a:p>
            <a:pPr marL="0" indent="0" algn="l">
              <a:lnSpc>
                <a:spcPts val="2990"/>
              </a:lnSpc>
              <a:buNone/>
            </a:pPr>
            <a:r>
              <a:rPr lang="en-US" sz="2300" dirty="0">
                <a:solidFill>
                  <a:srgbClr val="23282D"/>
                </a:solidFill>
                <a:latin typeface="Open Sans" pitchFamily="34" charset="0"/>
                <a:ea typeface="Open Sans" pitchFamily="34" charset="-122"/>
                <a:cs typeface="Open Sans" pitchFamily="34" charset="-120"/>
              </a:rPr>
              <a:t>Think about a recent lesson you taught. Which of the 5Cs did your students practise most effectively?</a:t>
            </a:r>
            <a:endParaRPr lang="en-US" sz="2300" dirty="0"/>
          </a:p>
        </p:txBody>
      </p:sp>
      <p:sp>
        <p:nvSpPr>
          <p:cNvPr id="6" name="Text 4"/>
          <p:cNvSpPr/>
          <p:nvPr/>
        </p:nvSpPr>
        <p:spPr>
          <a:xfrm>
            <a:off x="762000" y="3501231"/>
            <a:ext cx="5574030" cy="419100"/>
          </a:xfrm>
          <a:prstGeom prst="rect">
            <a:avLst/>
          </a:prstGeom>
          <a:noFill/>
          <a:ln/>
        </p:spPr>
        <p:txBody>
          <a:bodyPr wrap="square" lIns="0" tIns="0" rIns="0" bIns="0" rtlCol="0" anchor="t"/>
          <a:lstStyle/>
          <a:p>
            <a:pPr marL="0" indent="0" algn="l">
              <a:lnSpc>
                <a:spcPts val="3300"/>
              </a:lnSpc>
              <a:buNone/>
            </a:pPr>
            <a:r>
              <a:rPr lang="en-US" sz="3000" dirty="0">
                <a:solidFill>
                  <a:srgbClr val="00798A"/>
                </a:solidFill>
                <a:latin typeface="Caveat" pitchFamily="34" charset="0"/>
                <a:ea typeface="Caveat" pitchFamily="34" charset="-122"/>
                <a:cs typeface="Caveat" pitchFamily="34" charset="-120"/>
              </a:rPr>
              <a:t>How did you observe this?</a:t>
            </a:r>
            <a:endParaRPr lang="en-US" sz="3000" dirty="0"/>
          </a:p>
        </p:txBody>
      </p:sp>
      <p:pic>
        <p:nvPicPr>
          <p:cNvPr id="8" name="Image 0" descr="Illustrated icons for the 5Cs: Community, Communication, Collaboration, Critical Thinking and Creativity"/>
          <p:cNvPicPr>
            <a:picLocks noChangeAspect="1"/>
          </p:cNvPicPr>
          <p:nvPr/>
        </p:nvPicPr>
        <p:blipFill>
          <a:blip r:embed="rId3"/>
          <a:srcRect/>
          <a:stretch/>
        </p:blipFill>
        <p:spPr>
          <a:xfrm>
            <a:off x="5715001" y="2787849"/>
            <a:ext cx="6088039" cy="3418284"/>
          </a:xfrm>
          <a:prstGeom prst="rect">
            <a:avLst/>
          </a:prstGeom>
        </p:spPr>
      </p:pic>
      <p:sp>
        <p:nvSpPr>
          <p:cNvPr id="9" name="Text 6"/>
          <p:cNvSpPr/>
          <p:nvPr/>
        </p:nvSpPr>
        <p:spPr>
          <a:xfrm>
            <a:off x="762000" y="6441480"/>
            <a:ext cx="8001000" cy="213320"/>
          </a:xfrm>
          <a:prstGeom prst="rect">
            <a:avLst/>
          </a:prstGeom>
          <a:noFill/>
          <a:ln/>
        </p:spPr>
        <p:txBody>
          <a:bodyPr wrap="square" lIns="0" tIns="0" rIns="0" bIns="0" rtlCol="0" anchor="t"/>
          <a:lstStyle/>
          <a:p>
            <a:pPr marL="0" indent="0" algn="l">
              <a:lnSpc>
                <a:spcPts val="1680"/>
              </a:lnSpc>
              <a:buNone/>
            </a:pPr>
            <a:r>
              <a:rPr lang="en-US" sz="1200" dirty="0">
                <a:solidFill>
                  <a:srgbClr val="6B6B6B"/>
                </a:solidFill>
                <a:latin typeface="Open Sans" pitchFamily="34" charset="0"/>
                <a:ea typeface="Open Sans" pitchFamily="34" charset="-122"/>
                <a:cs typeface="Open Sans" pitchFamily="34" charset="-120"/>
              </a:rPr>
              <a:t>Future Ready Skills Academy · frs.srczone.net</a:t>
            </a:r>
            <a:endParaRPr lang="en-US" sz="1200" dirty="0"/>
          </a:p>
        </p:txBody>
      </p:sp>
      <p:sp>
        <p:nvSpPr>
          <p:cNvPr id="10" name="Text 7"/>
          <p:cNvSpPr/>
          <p:nvPr/>
        </p:nvSpPr>
        <p:spPr>
          <a:xfrm>
            <a:off x="10083800" y="6441480"/>
            <a:ext cx="1346200" cy="213320"/>
          </a:xfrm>
          <a:prstGeom prst="rect">
            <a:avLst/>
          </a:prstGeom>
          <a:noFill/>
          <a:ln/>
        </p:spPr>
        <p:txBody>
          <a:bodyPr wrap="square" lIns="0" tIns="0" rIns="0" bIns="0" rtlCol="0" anchor="t"/>
          <a:lstStyle/>
          <a:p>
            <a:pPr marL="0" indent="0" algn="r">
              <a:lnSpc>
                <a:spcPts val="1680"/>
              </a:lnSpc>
              <a:buNone/>
            </a:pPr>
            <a:r>
              <a:rPr lang="en-US" sz="1200" dirty="0">
                <a:solidFill>
                  <a:srgbClr val="6B6B6B"/>
                </a:solidFill>
                <a:latin typeface="Open Sans" pitchFamily="34" charset="0"/>
                <a:ea typeface="Open Sans" pitchFamily="34" charset="-122"/>
                <a:cs typeface="Open Sans" pitchFamily="34" charset="-120"/>
              </a:rPr>
              <a:t>7 / 17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pic>
        <p:nvPicPr>
          <p:cNvPr id="2" name="Image 0" descr="People working on ideas around a table covered in sketches and a light bulb drawing"/>
          <p:cNvPicPr>
            <a:picLocks noChangeAspect="1"/>
          </p:cNvPicPr>
          <p:nvPr/>
        </p:nvPicPr>
        <p:blipFill>
          <a:blip r:embed="rId3"/>
          <a:srcRect/>
          <a:stretch/>
        </p:blipFill>
        <p:spPr>
          <a:xfrm>
            <a:off x="0" y="1639093"/>
            <a:ext cx="3810000" cy="3579813"/>
          </a:xfrm>
          <a:prstGeom prst="rect">
            <a:avLst/>
          </a:prstGeom>
        </p:spPr>
      </p:pic>
      <p:sp>
        <p:nvSpPr>
          <p:cNvPr id="3" name="Shape 0"/>
          <p:cNvSpPr/>
          <p:nvPr/>
        </p:nvSpPr>
        <p:spPr>
          <a:xfrm>
            <a:off x="3810000" y="0"/>
            <a:ext cx="76200" cy="6858000"/>
          </a:xfrm>
          <a:prstGeom prst="rect">
            <a:avLst/>
          </a:prstGeom>
          <a:solidFill>
            <a:srgbClr val="EAB830"/>
          </a:solidFill>
          <a:ln/>
        </p:spPr>
        <p:txBody>
          <a:bodyPr/>
          <a:lstStyle/>
          <a:p>
            <a:endParaRPr lang="en-AU"/>
          </a:p>
        </p:txBody>
      </p:sp>
      <p:sp>
        <p:nvSpPr>
          <p:cNvPr id="4" name="Text 1"/>
          <p:cNvSpPr/>
          <p:nvPr/>
        </p:nvSpPr>
        <p:spPr>
          <a:xfrm>
            <a:off x="4572000" y="609600"/>
            <a:ext cx="7200900" cy="496491"/>
          </a:xfrm>
          <a:prstGeom prst="rect">
            <a:avLst/>
          </a:prstGeom>
          <a:noFill/>
          <a:ln/>
        </p:spPr>
        <p:txBody>
          <a:bodyPr wrap="square" lIns="0" tIns="0" rIns="0" bIns="0" rtlCol="0" anchor="t"/>
          <a:lstStyle/>
          <a:p>
            <a:pPr marL="0" indent="0" algn="l">
              <a:lnSpc>
                <a:spcPts val="3910"/>
              </a:lnSpc>
              <a:buNone/>
            </a:pPr>
            <a:r>
              <a:rPr lang="en-US" sz="3400" b="1" dirty="0">
                <a:solidFill>
                  <a:srgbClr val="005AA7"/>
                </a:solidFill>
                <a:latin typeface="Montserrat" pitchFamily="34" charset="0"/>
                <a:ea typeface="Montserrat" pitchFamily="34" charset="-122"/>
                <a:cs typeface="Montserrat" pitchFamily="34" charset="-120"/>
              </a:rPr>
              <a:t>You might have said…</a:t>
            </a:r>
            <a:endParaRPr lang="en-US" sz="3400" dirty="0"/>
          </a:p>
        </p:txBody>
      </p:sp>
      <p:sp>
        <p:nvSpPr>
          <p:cNvPr id="5" name="Shape 2"/>
          <p:cNvSpPr/>
          <p:nvPr/>
        </p:nvSpPr>
        <p:spPr>
          <a:xfrm>
            <a:off x="4572000" y="1220391"/>
            <a:ext cx="850900" cy="57150"/>
          </a:xfrm>
          <a:prstGeom prst="rect">
            <a:avLst/>
          </a:prstGeom>
          <a:solidFill>
            <a:srgbClr val="EAB830"/>
          </a:solidFill>
          <a:ln/>
        </p:spPr>
        <p:txBody>
          <a:bodyPr/>
          <a:lstStyle/>
          <a:p>
            <a:endParaRPr lang="en-AU"/>
          </a:p>
        </p:txBody>
      </p:sp>
      <p:sp>
        <p:nvSpPr>
          <p:cNvPr id="6" name="Shape 3"/>
          <p:cNvSpPr/>
          <p:nvPr/>
        </p:nvSpPr>
        <p:spPr>
          <a:xfrm>
            <a:off x="4572000" y="2161381"/>
            <a:ext cx="6858000" cy="6350"/>
          </a:xfrm>
          <a:prstGeom prst="rect">
            <a:avLst/>
          </a:prstGeom>
          <a:solidFill>
            <a:srgbClr val="DFE5EC"/>
          </a:solidFill>
          <a:ln/>
        </p:spPr>
        <p:txBody>
          <a:bodyPr/>
          <a:lstStyle/>
          <a:p>
            <a:endParaRPr lang="en-AU"/>
          </a:p>
        </p:txBody>
      </p:sp>
      <p:sp>
        <p:nvSpPr>
          <p:cNvPr id="7" name="Text 4"/>
          <p:cNvSpPr/>
          <p:nvPr/>
        </p:nvSpPr>
        <p:spPr>
          <a:xfrm>
            <a:off x="4572000" y="1695351"/>
            <a:ext cx="2933908" cy="302220"/>
          </a:xfrm>
          <a:prstGeom prst="rect">
            <a:avLst/>
          </a:prstGeom>
          <a:noFill/>
          <a:ln/>
        </p:spPr>
        <p:txBody>
          <a:bodyPr wrap="square" lIns="0" tIns="0" rIns="0" bIns="0" rtlCol="0" anchor="t"/>
          <a:lstStyle/>
          <a:p>
            <a:pPr marL="0" indent="0" algn="l">
              <a:lnSpc>
                <a:spcPts val="2380"/>
              </a:lnSpc>
              <a:buNone/>
            </a:pPr>
            <a:r>
              <a:rPr lang="en-US" sz="1700" dirty="0">
                <a:solidFill>
                  <a:srgbClr val="333333"/>
                </a:solidFill>
                <a:latin typeface="Open Sans" pitchFamily="34" charset="0"/>
                <a:ea typeface="Open Sans" pitchFamily="34" charset="-122"/>
                <a:cs typeface="Open Sans" pitchFamily="34" charset="-120"/>
              </a:rPr>
              <a:t>Group work: assigning roles</a:t>
            </a:r>
            <a:endParaRPr lang="en-US" sz="1700" dirty="0"/>
          </a:p>
        </p:txBody>
      </p:sp>
      <p:sp>
        <p:nvSpPr>
          <p:cNvPr id="8" name="Text 5"/>
          <p:cNvSpPr/>
          <p:nvPr/>
        </p:nvSpPr>
        <p:spPr>
          <a:xfrm>
            <a:off x="9826987" y="1671241"/>
            <a:ext cx="1679347" cy="350441"/>
          </a:xfrm>
          <a:prstGeom prst="roundRect">
            <a:avLst>
              <a:gd name="adj" fmla="val 25368"/>
            </a:avLst>
          </a:prstGeom>
          <a:solidFill>
            <a:srgbClr val="EAF3FB"/>
          </a:solidFill>
          <a:ln/>
        </p:spPr>
        <p:txBody>
          <a:bodyPr wrap="none" lIns="139700" tIns="50800" rIns="139700" bIns="50800" rtlCol="0" anchor="ctr"/>
          <a:lstStyle/>
          <a:p>
            <a:pPr marL="0" indent="0" algn="l">
              <a:lnSpc>
                <a:spcPts val="1960"/>
              </a:lnSpc>
              <a:buNone/>
            </a:pPr>
            <a:r>
              <a:rPr lang="en-US" sz="1400" b="1" dirty="0">
                <a:solidFill>
                  <a:srgbClr val="005AA7"/>
                </a:solidFill>
                <a:latin typeface="Montserrat" pitchFamily="34" charset="0"/>
                <a:ea typeface="Montserrat" pitchFamily="34" charset="-122"/>
                <a:cs typeface="Montserrat" pitchFamily="34" charset="-120"/>
              </a:rPr>
              <a:t>Collaboration</a:t>
            </a:r>
            <a:endParaRPr lang="en-US" sz="1400" dirty="0"/>
          </a:p>
        </p:txBody>
      </p:sp>
      <p:sp>
        <p:nvSpPr>
          <p:cNvPr id="9" name="Shape 6"/>
          <p:cNvSpPr/>
          <p:nvPr/>
        </p:nvSpPr>
        <p:spPr>
          <a:xfrm>
            <a:off x="4572000" y="2797572"/>
            <a:ext cx="6858000" cy="6350"/>
          </a:xfrm>
          <a:prstGeom prst="rect">
            <a:avLst/>
          </a:prstGeom>
          <a:solidFill>
            <a:srgbClr val="DFE5EC"/>
          </a:solidFill>
          <a:ln/>
        </p:spPr>
        <p:txBody>
          <a:bodyPr/>
          <a:lstStyle/>
          <a:p>
            <a:endParaRPr lang="en-AU"/>
          </a:p>
        </p:txBody>
      </p:sp>
      <p:sp>
        <p:nvSpPr>
          <p:cNvPr id="10" name="Text 7"/>
          <p:cNvSpPr/>
          <p:nvPr/>
        </p:nvSpPr>
        <p:spPr>
          <a:xfrm>
            <a:off x="4572000" y="2331541"/>
            <a:ext cx="2855357" cy="302220"/>
          </a:xfrm>
          <a:prstGeom prst="rect">
            <a:avLst/>
          </a:prstGeom>
          <a:noFill/>
          <a:ln/>
        </p:spPr>
        <p:txBody>
          <a:bodyPr wrap="square" lIns="0" tIns="0" rIns="0" bIns="0" rtlCol="0" anchor="t"/>
          <a:lstStyle/>
          <a:p>
            <a:pPr marL="0" indent="0" algn="l">
              <a:lnSpc>
                <a:spcPts val="2380"/>
              </a:lnSpc>
              <a:buNone/>
            </a:pPr>
            <a:r>
              <a:rPr lang="en-US" sz="1700" dirty="0">
                <a:solidFill>
                  <a:srgbClr val="333333"/>
                </a:solidFill>
                <a:latin typeface="Open Sans" pitchFamily="34" charset="0"/>
                <a:ea typeface="Open Sans" pitchFamily="34" charset="-122"/>
                <a:cs typeface="Open Sans" pitchFamily="34" charset="-120"/>
              </a:rPr>
              <a:t>Debates and presentations</a:t>
            </a:r>
            <a:endParaRPr lang="en-US" sz="1700" dirty="0"/>
          </a:p>
        </p:txBody>
      </p:sp>
      <p:sp>
        <p:nvSpPr>
          <p:cNvPr id="11" name="Text 8"/>
          <p:cNvSpPr/>
          <p:nvPr/>
        </p:nvSpPr>
        <p:spPr>
          <a:xfrm>
            <a:off x="9563308" y="2307431"/>
            <a:ext cx="1955582" cy="350441"/>
          </a:xfrm>
          <a:prstGeom prst="roundRect">
            <a:avLst>
              <a:gd name="adj" fmla="val 25368"/>
            </a:avLst>
          </a:prstGeom>
          <a:solidFill>
            <a:srgbClr val="EAF3FB"/>
          </a:solidFill>
          <a:ln/>
        </p:spPr>
        <p:txBody>
          <a:bodyPr wrap="none" lIns="139700" tIns="50800" rIns="139700" bIns="50800" rtlCol="0" anchor="ctr"/>
          <a:lstStyle/>
          <a:p>
            <a:pPr marL="0" indent="0" algn="l">
              <a:lnSpc>
                <a:spcPts val="1960"/>
              </a:lnSpc>
              <a:buNone/>
            </a:pPr>
            <a:r>
              <a:rPr lang="en-US" sz="1400" b="1" dirty="0">
                <a:solidFill>
                  <a:srgbClr val="005AA7"/>
                </a:solidFill>
                <a:latin typeface="Montserrat" pitchFamily="34" charset="0"/>
                <a:ea typeface="Montserrat" pitchFamily="34" charset="-122"/>
                <a:cs typeface="Montserrat" pitchFamily="34" charset="-120"/>
              </a:rPr>
              <a:t>Communication</a:t>
            </a:r>
            <a:endParaRPr lang="en-US" sz="1400" dirty="0"/>
          </a:p>
        </p:txBody>
      </p:sp>
      <p:sp>
        <p:nvSpPr>
          <p:cNvPr id="12" name="Shape 9"/>
          <p:cNvSpPr/>
          <p:nvPr/>
        </p:nvSpPr>
        <p:spPr>
          <a:xfrm>
            <a:off x="4572000" y="3433763"/>
            <a:ext cx="6858000" cy="6350"/>
          </a:xfrm>
          <a:prstGeom prst="rect">
            <a:avLst/>
          </a:prstGeom>
          <a:solidFill>
            <a:srgbClr val="DFE5EC"/>
          </a:solidFill>
          <a:ln/>
        </p:spPr>
        <p:txBody>
          <a:bodyPr/>
          <a:lstStyle/>
          <a:p>
            <a:endParaRPr lang="en-AU"/>
          </a:p>
        </p:txBody>
      </p:sp>
      <p:sp>
        <p:nvSpPr>
          <p:cNvPr id="13" name="Text 10"/>
          <p:cNvSpPr/>
          <p:nvPr/>
        </p:nvSpPr>
        <p:spPr>
          <a:xfrm>
            <a:off x="4572000" y="2967732"/>
            <a:ext cx="2963391" cy="302220"/>
          </a:xfrm>
          <a:prstGeom prst="rect">
            <a:avLst/>
          </a:prstGeom>
          <a:noFill/>
          <a:ln/>
        </p:spPr>
        <p:txBody>
          <a:bodyPr wrap="square" lIns="0" tIns="0" rIns="0" bIns="0" rtlCol="0" anchor="t"/>
          <a:lstStyle/>
          <a:p>
            <a:pPr marL="0" indent="0" algn="l">
              <a:lnSpc>
                <a:spcPts val="2380"/>
              </a:lnSpc>
              <a:buNone/>
            </a:pPr>
            <a:r>
              <a:rPr lang="en-US" sz="1700" dirty="0">
                <a:solidFill>
                  <a:srgbClr val="333333"/>
                </a:solidFill>
                <a:latin typeface="Open Sans" pitchFamily="34" charset="0"/>
                <a:ea typeface="Open Sans" pitchFamily="34" charset="-122"/>
                <a:cs typeface="Open Sans" pitchFamily="34" charset="-120"/>
              </a:rPr>
              <a:t>Problem-solving: fixing bugs</a:t>
            </a:r>
            <a:endParaRPr lang="en-US" sz="1700" dirty="0"/>
          </a:p>
        </p:txBody>
      </p:sp>
      <p:sp>
        <p:nvSpPr>
          <p:cNvPr id="14" name="Text 11"/>
          <p:cNvSpPr/>
          <p:nvPr/>
        </p:nvSpPr>
        <p:spPr>
          <a:xfrm>
            <a:off x="9525074" y="2943622"/>
            <a:ext cx="1995636" cy="350441"/>
          </a:xfrm>
          <a:prstGeom prst="roundRect">
            <a:avLst>
              <a:gd name="adj" fmla="val 25368"/>
            </a:avLst>
          </a:prstGeom>
          <a:solidFill>
            <a:srgbClr val="EAF3FB"/>
          </a:solidFill>
          <a:ln/>
        </p:spPr>
        <p:txBody>
          <a:bodyPr wrap="none" lIns="139700" tIns="50800" rIns="139700" bIns="50800" rtlCol="0" anchor="ctr"/>
          <a:lstStyle/>
          <a:p>
            <a:pPr marL="0" indent="0" algn="l">
              <a:lnSpc>
                <a:spcPts val="1960"/>
              </a:lnSpc>
              <a:buNone/>
            </a:pPr>
            <a:r>
              <a:rPr lang="en-US" sz="1400" b="1" dirty="0">
                <a:solidFill>
                  <a:srgbClr val="005AA7"/>
                </a:solidFill>
                <a:latin typeface="Montserrat" pitchFamily="34" charset="0"/>
                <a:ea typeface="Montserrat" pitchFamily="34" charset="-122"/>
                <a:cs typeface="Montserrat" pitchFamily="34" charset="-120"/>
              </a:rPr>
              <a:t>Critical Thinking</a:t>
            </a:r>
            <a:endParaRPr lang="en-US" sz="1400" dirty="0"/>
          </a:p>
        </p:txBody>
      </p:sp>
      <p:sp>
        <p:nvSpPr>
          <p:cNvPr id="15" name="Shape 12"/>
          <p:cNvSpPr/>
          <p:nvPr/>
        </p:nvSpPr>
        <p:spPr>
          <a:xfrm>
            <a:off x="4572000" y="4069953"/>
            <a:ext cx="6858000" cy="6350"/>
          </a:xfrm>
          <a:prstGeom prst="rect">
            <a:avLst/>
          </a:prstGeom>
          <a:solidFill>
            <a:srgbClr val="DFE5EC"/>
          </a:solidFill>
          <a:ln/>
        </p:spPr>
        <p:txBody>
          <a:bodyPr/>
          <a:lstStyle/>
          <a:p>
            <a:endParaRPr lang="en-AU"/>
          </a:p>
        </p:txBody>
      </p:sp>
      <p:sp>
        <p:nvSpPr>
          <p:cNvPr id="16" name="Text 13"/>
          <p:cNvSpPr/>
          <p:nvPr/>
        </p:nvSpPr>
        <p:spPr>
          <a:xfrm>
            <a:off x="4572000" y="3603923"/>
            <a:ext cx="1534914" cy="302220"/>
          </a:xfrm>
          <a:prstGeom prst="rect">
            <a:avLst/>
          </a:prstGeom>
          <a:noFill/>
          <a:ln/>
        </p:spPr>
        <p:txBody>
          <a:bodyPr wrap="square" lIns="0" tIns="0" rIns="0" bIns="0" rtlCol="0" anchor="t"/>
          <a:lstStyle/>
          <a:p>
            <a:pPr marL="0" indent="0" algn="l">
              <a:lnSpc>
                <a:spcPts val="2380"/>
              </a:lnSpc>
              <a:buNone/>
            </a:pPr>
            <a:r>
              <a:rPr lang="en-US" sz="1700" dirty="0">
                <a:solidFill>
                  <a:srgbClr val="333333"/>
                </a:solidFill>
                <a:latin typeface="Open Sans" pitchFamily="34" charset="0"/>
                <a:ea typeface="Open Sans" pitchFamily="34" charset="-122"/>
                <a:cs typeface="Open Sans" pitchFamily="34" charset="-120"/>
              </a:rPr>
              <a:t>Art and design</a:t>
            </a:r>
            <a:endParaRPr lang="en-US" sz="1700" dirty="0"/>
          </a:p>
        </p:txBody>
      </p:sp>
      <p:sp>
        <p:nvSpPr>
          <p:cNvPr id="17" name="Text 14"/>
          <p:cNvSpPr/>
          <p:nvPr/>
        </p:nvSpPr>
        <p:spPr>
          <a:xfrm>
            <a:off x="10198804" y="3579813"/>
            <a:ext cx="1289824" cy="350441"/>
          </a:xfrm>
          <a:prstGeom prst="roundRect">
            <a:avLst>
              <a:gd name="adj" fmla="val 25368"/>
            </a:avLst>
          </a:prstGeom>
          <a:solidFill>
            <a:srgbClr val="EAF3FB"/>
          </a:solidFill>
          <a:ln/>
        </p:spPr>
        <p:txBody>
          <a:bodyPr wrap="none" lIns="139700" tIns="50800" rIns="139700" bIns="50800" rtlCol="0" anchor="ctr"/>
          <a:lstStyle/>
          <a:p>
            <a:pPr marL="0" indent="0" algn="l">
              <a:lnSpc>
                <a:spcPts val="1960"/>
              </a:lnSpc>
              <a:buNone/>
            </a:pPr>
            <a:r>
              <a:rPr lang="en-US" sz="1400" b="1" dirty="0">
                <a:solidFill>
                  <a:srgbClr val="005AA7"/>
                </a:solidFill>
                <a:latin typeface="Montserrat" pitchFamily="34" charset="0"/>
                <a:ea typeface="Montserrat" pitchFamily="34" charset="-122"/>
                <a:cs typeface="Montserrat" pitchFamily="34" charset="-120"/>
              </a:rPr>
              <a:t>Creativity</a:t>
            </a:r>
            <a:endParaRPr lang="en-US" sz="1400" dirty="0"/>
          </a:p>
        </p:txBody>
      </p:sp>
      <p:sp>
        <p:nvSpPr>
          <p:cNvPr id="18" name="Shape 15"/>
          <p:cNvSpPr/>
          <p:nvPr/>
        </p:nvSpPr>
        <p:spPr>
          <a:xfrm>
            <a:off x="4572000" y="4706144"/>
            <a:ext cx="6858000" cy="6350"/>
          </a:xfrm>
          <a:prstGeom prst="rect">
            <a:avLst/>
          </a:prstGeom>
          <a:solidFill>
            <a:srgbClr val="DFE5EC"/>
          </a:solidFill>
          <a:ln/>
        </p:spPr>
        <p:txBody>
          <a:bodyPr/>
          <a:lstStyle/>
          <a:p>
            <a:endParaRPr lang="en-AU"/>
          </a:p>
        </p:txBody>
      </p:sp>
      <p:sp>
        <p:nvSpPr>
          <p:cNvPr id="19" name="Text 16"/>
          <p:cNvSpPr/>
          <p:nvPr/>
        </p:nvSpPr>
        <p:spPr>
          <a:xfrm>
            <a:off x="4572000" y="4240113"/>
            <a:ext cx="3216444" cy="302220"/>
          </a:xfrm>
          <a:prstGeom prst="rect">
            <a:avLst/>
          </a:prstGeom>
          <a:noFill/>
          <a:ln/>
        </p:spPr>
        <p:txBody>
          <a:bodyPr wrap="square" lIns="0" tIns="0" rIns="0" bIns="0" rtlCol="0" anchor="t"/>
          <a:lstStyle/>
          <a:p>
            <a:pPr marL="0" indent="0" algn="l">
              <a:lnSpc>
                <a:spcPts val="2380"/>
              </a:lnSpc>
              <a:buNone/>
            </a:pPr>
            <a:r>
              <a:rPr lang="en-US" sz="1700" dirty="0">
                <a:solidFill>
                  <a:srgbClr val="333333"/>
                </a:solidFill>
                <a:latin typeface="Open Sans" pitchFamily="34" charset="0"/>
                <a:ea typeface="Open Sans" pitchFamily="34" charset="-122"/>
                <a:cs typeface="Open Sans" pitchFamily="34" charset="-120"/>
              </a:rPr>
              <a:t>Local history and environment</a:t>
            </a:r>
            <a:endParaRPr lang="en-US" sz="1700" dirty="0"/>
          </a:p>
        </p:txBody>
      </p:sp>
      <p:sp>
        <p:nvSpPr>
          <p:cNvPr id="20" name="Text 17"/>
          <p:cNvSpPr/>
          <p:nvPr/>
        </p:nvSpPr>
        <p:spPr>
          <a:xfrm>
            <a:off x="8669134" y="4216003"/>
            <a:ext cx="2892336" cy="350441"/>
          </a:xfrm>
          <a:prstGeom prst="roundRect">
            <a:avLst>
              <a:gd name="adj" fmla="val 25368"/>
            </a:avLst>
          </a:prstGeom>
          <a:solidFill>
            <a:srgbClr val="EAF3FB"/>
          </a:solidFill>
          <a:ln/>
        </p:spPr>
        <p:txBody>
          <a:bodyPr wrap="none" lIns="139700" tIns="50800" rIns="139700" bIns="50800" rtlCol="0" anchor="ctr"/>
          <a:lstStyle/>
          <a:p>
            <a:pPr marL="0" indent="0" algn="l">
              <a:lnSpc>
                <a:spcPts val="1960"/>
              </a:lnSpc>
              <a:buNone/>
            </a:pPr>
            <a:r>
              <a:rPr lang="en-US" sz="1400" b="1" dirty="0">
                <a:solidFill>
                  <a:srgbClr val="005AA7"/>
                </a:solidFill>
                <a:latin typeface="Montserrat" pitchFamily="34" charset="0"/>
                <a:ea typeface="Montserrat" pitchFamily="34" charset="-122"/>
                <a:cs typeface="Montserrat" pitchFamily="34" charset="-120"/>
              </a:rPr>
              <a:t>Community engagement</a:t>
            </a:r>
            <a:endParaRPr lang="en-US" sz="1400" dirty="0"/>
          </a:p>
        </p:txBody>
      </p:sp>
      <p:sp>
        <p:nvSpPr>
          <p:cNvPr id="21" name="Text 18"/>
          <p:cNvSpPr/>
          <p:nvPr/>
        </p:nvSpPr>
        <p:spPr>
          <a:xfrm>
            <a:off x="4572000" y="6441480"/>
            <a:ext cx="5334000" cy="213320"/>
          </a:xfrm>
          <a:prstGeom prst="rect">
            <a:avLst/>
          </a:prstGeom>
          <a:noFill/>
          <a:ln/>
        </p:spPr>
        <p:txBody>
          <a:bodyPr wrap="square" lIns="0" tIns="0" rIns="0" bIns="0" rtlCol="0" anchor="t"/>
          <a:lstStyle/>
          <a:p>
            <a:pPr marL="0" indent="0" algn="l">
              <a:lnSpc>
                <a:spcPts val="1680"/>
              </a:lnSpc>
              <a:buNone/>
            </a:pPr>
            <a:r>
              <a:rPr lang="en-US" sz="1200" dirty="0">
                <a:solidFill>
                  <a:srgbClr val="6B6B6B"/>
                </a:solidFill>
                <a:latin typeface="Open Sans" pitchFamily="34" charset="0"/>
                <a:ea typeface="Open Sans" pitchFamily="34" charset="-122"/>
                <a:cs typeface="Open Sans" pitchFamily="34" charset="-120"/>
              </a:rPr>
              <a:t>Future Ready Skills Academy · frs.srczone.net</a:t>
            </a:r>
            <a:endParaRPr lang="en-US" sz="1200" dirty="0"/>
          </a:p>
        </p:txBody>
      </p:sp>
      <p:sp>
        <p:nvSpPr>
          <p:cNvPr id="22" name="Text 19"/>
          <p:cNvSpPr/>
          <p:nvPr/>
        </p:nvSpPr>
        <p:spPr>
          <a:xfrm>
            <a:off x="10083800" y="6441480"/>
            <a:ext cx="1346200" cy="213320"/>
          </a:xfrm>
          <a:prstGeom prst="rect">
            <a:avLst/>
          </a:prstGeom>
          <a:noFill/>
          <a:ln/>
        </p:spPr>
        <p:txBody>
          <a:bodyPr wrap="square" lIns="0" tIns="0" rIns="0" bIns="0" rtlCol="0" anchor="t"/>
          <a:lstStyle/>
          <a:p>
            <a:pPr marL="0" indent="0" algn="r">
              <a:lnSpc>
                <a:spcPts val="1680"/>
              </a:lnSpc>
              <a:buNone/>
            </a:pPr>
            <a:r>
              <a:rPr lang="en-US" sz="1200" dirty="0">
                <a:solidFill>
                  <a:srgbClr val="6B6B6B"/>
                </a:solidFill>
                <a:latin typeface="Open Sans" pitchFamily="34" charset="0"/>
                <a:ea typeface="Open Sans" pitchFamily="34" charset="-122"/>
                <a:cs typeface="Open Sans" pitchFamily="34" charset="-120"/>
              </a:rPr>
              <a:t>8 / 17</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62000" y="609600"/>
            <a:ext cx="11201400" cy="496491"/>
          </a:xfrm>
          <a:prstGeom prst="rect">
            <a:avLst/>
          </a:prstGeom>
          <a:noFill/>
          <a:ln/>
        </p:spPr>
        <p:txBody>
          <a:bodyPr wrap="square" lIns="0" tIns="0" rIns="0" bIns="0" rtlCol="0" anchor="t"/>
          <a:lstStyle/>
          <a:p>
            <a:pPr marL="0" indent="0" algn="l">
              <a:lnSpc>
                <a:spcPts val="3910"/>
              </a:lnSpc>
              <a:buNone/>
            </a:pPr>
            <a:r>
              <a:rPr lang="en-US" sz="3400" b="1" dirty="0">
                <a:solidFill>
                  <a:srgbClr val="005AA7"/>
                </a:solidFill>
                <a:latin typeface="Montserrat" pitchFamily="34" charset="0"/>
                <a:ea typeface="Montserrat" pitchFamily="34" charset="-122"/>
                <a:cs typeface="Montserrat" pitchFamily="34" charset="-120"/>
              </a:rPr>
              <a:t>How the progressions work</a:t>
            </a:r>
            <a:endParaRPr lang="en-US" sz="3400" dirty="0"/>
          </a:p>
        </p:txBody>
      </p:sp>
      <p:sp>
        <p:nvSpPr>
          <p:cNvPr id="3" name="Shape 1"/>
          <p:cNvSpPr/>
          <p:nvPr/>
        </p:nvSpPr>
        <p:spPr>
          <a:xfrm>
            <a:off x="762000" y="1220391"/>
            <a:ext cx="850900" cy="57150"/>
          </a:xfrm>
          <a:prstGeom prst="rect">
            <a:avLst/>
          </a:prstGeom>
          <a:solidFill>
            <a:srgbClr val="EAB830"/>
          </a:solidFill>
          <a:ln/>
        </p:spPr>
        <p:txBody>
          <a:bodyPr/>
          <a:lstStyle/>
          <a:p>
            <a:endParaRPr lang="en-AU"/>
          </a:p>
        </p:txBody>
      </p:sp>
      <p:sp>
        <p:nvSpPr>
          <p:cNvPr id="4" name="Shape 2"/>
          <p:cNvSpPr/>
          <p:nvPr/>
        </p:nvSpPr>
        <p:spPr>
          <a:xfrm>
            <a:off x="762000" y="1531541"/>
            <a:ext cx="5461000" cy="1651000"/>
          </a:xfrm>
          <a:prstGeom prst="rect">
            <a:avLst/>
          </a:prstGeom>
          <a:solidFill>
            <a:srgbClr val="F4F8FC"/>
          </a:solidFill>
          <a:ln/>
        </p:spPr>
        <p:txBody>
          <a:bodyPr/>
          <a:lstStyle/>
          <a:p>
            <a:endParaRPr lang="en-AU"/>
          </a:p>
        </p:txBody>
      </p:sp>
      <p:sp>
        <p:nvSpPr>
          <p:cNvPr id="5" name="Shape 3"/>
          <p:cNvSpPr/>
          <p:nvPr/>
        </p:nvSpPr>
        <p:spPr>
          <a:xfrm>
            <a:off x="762000" y="1531541"/>
            <a:ext cx="5461000" cy="38100"/>
          </a:xfrm>
          <a:prstGeom prst="rect">
            <a:avLst/>
          </a:prstGeom>
          <a:solidFill>
            <a:srgbClr val="00BED6"/>
          </a:solidFill>
          <a:ln/>
        </p:spPr>
        <p:txBody>
          <a:bodyPr/>
          <a:lstStyle/>
          <a:p>
            <a:endParaRPr lang="en-AU"/>
          </a:p>
        </p:txBody>
      </p:sp>
      <p:pic>
        <p:nvPicPr>
          <p:cNvPr id="6" name="Image 0" descr="Chart icon"/>
          <p:cNvPicPr>
            <a:picLocks noChangeAspect="1"/>
          </p:cNvPicPr>
          <p:nvPr/>
        </p:nvPicPr>
        <p:blipFill>
          <a:blip r:embed="rId3"/>
          <a:stretch>
            <a:fillRect/>
          </a:stretch>
        </p:blipFill>
        <p:spPr>
          <a:xfrm>
            <a:off x="990600" y="1798241"/>
            <a:ext cx="279400" cy="279400"/>
          </a:xfrm>
          <a:prstGeom prst="rect">
            <a:avLst/>
          </a:prstGeom>
        </p:spPr>
      </p:pic>
      <p:sp>
        <p:nvSpPr>
          <p:cNvPr id="7" name="Text 4"/>
          <p:cNvSpPr/>
          <p:nvPr/>
        </p:nvSpPr>
        <p:spPr>
          <a:xfrm>
            <a:off x="1371600" y="1800820"/>
            <a:ext cx="2081302" cy="274241"/>
          </a:xfrm>
          <a:prstGeom prst="rect">
            <a:avLst/>
          </a:prstGeom>
          <a:noFill/>
          <a:ln/>
        </p:spPr>
        <p:txBody>
          <a:bodyPr wrap="square" lIns="0" tIns="0" rIns="0" bIns="0" rtlCol="0" anchor="t"/>
          <a:lstStyle/>
          <a:p>
            <a:pPr marL="0" indent="0" algn="l">
              <a:lnSpc>
                <a:spcPts val="2160"/>
              </a:lnSpc>
              <a:buNone/>
            </a:pPr>
            <a:r>
              <a:rPr lang="en-US" sz="1800" b="1" dirty="0">
                <a:solidFill>
                  <a:srgbClr val="005AA7"/>
                </a:solidFill>
                <a:latin typeface="Montserrat" pitchFamily="34" charset="0"/>
                <a:ea typeface="Montserrat" pitchFamily="34" charset="-122"/>
                <a:cs typeface="Montserrat" pitchFamily="34" charset="-120"/>
              </a:rPr>
              <a:t>Tracking growth</a:t>
            </a:r>
            <a:endParaRPr lang="en-US" sz="1800" dirty="0"/>
          </a:p>
        </p:txBody>
      </p:sp>
      <p:sp>
        <p:nvSpPr>
          <p:cNvPr id="8" name="Text 5"/>
          <p:cNvSpPr/>
          <p:nvPr/>
        </p:nvSpPr>
        <p:spPr>
          <a:xfrm>
            <a:off x="990600" y="2153841"/>
            <a:ext cx="5253990" cy="800100"/>
          </a:xfrm>
          <a:prstGeom prst="rect">
            <a:avLst/>
          </a:prstGeom>
          <a:noFill/>
          <a:ln/>
        </p:spPr>
        <p:txBody>
          <a:bodyPr wrap="square" lIns="0" tIns="0" rIns="0" bIns="0" rtlCol="0" anchor="t"/>
          <a:lstStyle/>
          <a:p>
            <a:pPr marL="0" indent="0" algn="l">
              <a:lnSpc>
                <a:spcPts val="2100"/>
              </a:lnSpc>
              <a:buNone/>
            </a:pPr>
            <a:r>
              <a:rPr lang="en-US" sz="1500" dirty="0">
                <a:solidFill>
                  <a:srgbClr val="333333"/>
                </a:solidFill>
                <a:latin typeface="Open Sans" pitchFamily="34" charset="0"/>
                <a:ea typeface="Open Sans" pitchFamily="34" charset="-122"/>
                <a:cs typeface="Open Sans" pitchFamily="34" charset="-120"/>
              </a:rPr>
              <a:t>The resources on frs.srczone.net help teachers from Foundation to Year 10 </a:t>
            </a:r>
            <a:r>
              <a:rPr lang="en-US" sz="1500" b="1" dirty="0">
                <a:solidFill>
                  <a:srgbClr val="333333"/>
                </a:solidFill>
                <a:latin typeface="Open Sans" pitchFamily="34" charset="0"/>
                <a:ea typeface="Open Sans" pitchFamily="34" charset="-122"/>
                <a:cs typeface="Open Sans" pitchFamily="34" charset="-120"/>
              </a:rPr>
              <a:t>teach and record</a:t>
            </a:r>
            <a:r>
              <a:rPr lang="en-US" sz="1500" dirty="0">
                <a:solidFill>
                  <a:srgbClr val="333333"/>
                </a:solidFill>
                <a:latin typeface="Open Sans" pitchFamily="34" charset="0"/>
                <a:ea typeface="Open Sans" pitchFamily="34" charset="-122"/>
                <a:cs typeface="Open Sans" pitchFamily="34" charset="-120"/>
              </a:rPr>
              <a:t> students' progress in each skill.</a:t>
            </a:r>
            <a:endParaRPr lang="en-US" sz="1500" dirty="0"/>
          </a:p>
        </p:txBody>
      </p:sp>
      <p:sp>
        <p:nvSpPr>
          <p:cNvPr id="9" name="Shape 6"/>
          <p:cNvSpPr/>
          <p:nvPr/>
        </p:nvSpPr>
        <p:spPr>
          <a:xfrm>
            <a:off x="762000" y="3360341"/>
            <a:ext cx="5461000" cy="1651000"/>
          </a:xfrm>
          <a:prstGeom prst="rect">
            <a:avLst/>
          </a:prstGeom>
          <a:solidFill>
            <a:srgbClr val="F4F8FC"/>
          </a:solidFill>
          <a:ln/>
        </p:spPr>
        <p:txBody>
          <a:bodyPr/>
          <a:lstStyle/>
          <a:p>
            <a:endParaRPr lang="en-AU"/>
          </a:p>
        </p:txBody>
      </p:sp>
      <p:sp>
        <p:nvSpPr>
          <p:cNvPr id="10" name="Shape 7"/>
          <p:cNvSpPr/>
          <p:nvPr/>
        </p:nvSpPr>
        <p:spPr>
          <a:xfrm>
            <a:off x="762000" y="3360341"/>
            <a:ext cx="5461000" cy="38100"/>
          </a:xfrm>
          <a:prstGeom prst="rect">
            <a:avLst/>
          </a:prstGeom>
          <a:solidFill>
            <a:srgbClr val="EAB830"/>
          </a:solidFill>
          <a:ln/>
        </p:spPr>
        <p:txBody>
          <a:bodyPr/>
          <a:lstStyle/>
          <a:p>
            <a:endParaRPr lang="en-AU"/>
          </a:p>
        </p:txBody>
      </p:sp>
      <p:pic>
        <p:nvPicPr>
          <p:cNvPr id="11" name="Image 1" descr="Settings icon"/>
          <p:cNvPicPr>
            <a:picLocks noChangeAspect="1"/>
          </p:cNvPicPr>
          <p:nvPr/>
        </p:nvPicPr>
        <p:blipFill>
          <a:blip r:embed="rId4"/>
          <a:stretch>
            <a:fillRect/>
          </a:stretch>
        </p:blipFill>
        <p:spPr>
          <a:xfrm>
            <a:off x="990600" y="3627041"/>
            <a:ext cx="279400" cy="279400"/>
          </a:xfrm>
          <a:prstGeom prst="rect">
            <a:avLst/>
          </a:prstGeom>
        </p:spPr>
      </p:pic>
      <p:sp>
        <p:nvSpPr>
          <p:cNvPr id="12" name="Text 8"/>
          <p:cNvSpPr/>
          <p:nvPr/>
        </p:nvSpPr>
        <p:spPr>
          <a:xfrm>
            <a:off x="1371600" y="3629620"/>
            <a:ext cx="1700629" cy="274241"/>
          </a:xfrm>
          <a:prstGeom prst="rect">
            <a:avLst/>
          </a:prstGeom>
          <a:noFill/>
          <a:ln/>
        </p:spPr>
        <p:txBody>
          <a:bodyPr wrap="square" lIns="0" tIns="0" rIns="0" bIns="0" rtlCol="0" anchor="t"/>
          <a:lstStyle/>
          <a:p>
            <a:pPr marL="0" indent="0" algn="l">
              <a:lnSpc>
                <a:spcPts val="2160"/>
              </a:lnSpc>
              <a:buNone/>
            </a:pPr>
            <a:r>
              <a:rPr lang="en-US" sz="1800" b="1" dirty="0">
                <a:solidFill>
                  <a:srgbClr val="005AA7"/>
                </a:solidFill>
                <a:latin typeface="Montserrat" pitchFamily="34" charset="0"/>
                <a:ea typeface="Montserrat" pitchFamily="34" charset="-122"/>
                <a:cs typeface="Montserrat" pitchFamily="34" charset="-120"/>
              </a:rPr>
              <a:t>The structure</a:t>
            </a:r>
            <a:endParaRPr lang="en-US" sz="1800" dirty="0"/>
          </a:p>
        </p:txBody>
      </p:sp>
      <p:sp>
        <p:nvSpPr>
          <p:cNvPr id="13" name="Text 9"/>
          <p:cNvSpPr/>
          <p:nvPr/>
        </p:nvSpPr>
        <p:spPr>
          <a:xfrm>
            <a:off x="990600" y="3982641"/>
            <a:ext cx="5253990" cy="800100"/>
          </a:xfrm>
          <a:prstGeom prst="rect">
            <a:avLst/>
          </a:prstGeom>
          <a:noFill/>
          <a:ln/>
        </p:spPr>
        <p:txBody>
          <a:bodyPr wrap="square" lIns="0" tIns="0" rIns="0" bIns="0" rtlCol="0" anchor="t"/>
          <a:lstStyle/>
          <a:p>
            <a:pPr marL="0" indent="0" algn="l">
              <a:lnSpc>
                <a:spcPts val="2100"/>
              </a:lnSpc>
              <a:buNone/>
            </a:pPr>
            <a:r>
              <a:rPr lang="en-US" sz="1500" dirty="0">
                <a:solidFill>
                  <a:srgbClr val="333333"/>
                </a:solidFill>
                <a:latin typeface="Open Sans" pitchFamily="34" charset="0"/>
                <a:ea typeface="Open Sans" pitchFamily="34" charset="-122"/>
                <a:cs typeface="Open Sans" pitchFamily="34" charset="-120"/>
              </a:rPr>
              <a:t>The progressions describe the small steps students take as they develop each skill. </a:t>
            </a:r>
            <a:r>
              <a:rPr lang="en-US" sz="1500" b="1" dirty="0">
                <a:solidFill>
                  <a:srgbClr val="333333"/>
                </a:solidFill>
                <a:latin typeface="Open Sans" pitchFamily="34" charset="0"/>
                <a:ea typeface="Open Sans" pitchFamily="34" charset="-122"/>
                <a:cs typeface="Open Sans" pitchFamily="34" charset="-120"/>
              </a:rPr>
              <a:t>Bold text</a:t>
            </a:r>
            <a:r>
              <a:rPr lang="en-US" sz="1500" dirty="0">
                <a:solidFill>
                  <a:srgbClr val="333333"/>
                </a:solidFill>
                <a:latin typeface="Open Sans" pitchFamily="34" charset="0"/>
                <a:ea typeface="Open Sans" pitchFamily="34" charset="-122"/>
                <a:cs typeface="Open Sans" pitchFamily="34" charset="-120"/>
              </a:rPr>
              <a:t> marks a </a:t>
            </a:r>
            <a:r>
              <a:rPr lang="en-US" sz="1500" b="1" dirty="0">
                <a:solidFill>
                  <a:srgbClr val="333333"/>
                </a:solidFill>
                <a:latin typeface="Open Sans" pitchFamily="34" charset="0"/>
                <a:ea typeface="Open Sans" pitchFamily="34" charset="-122"/>
                <a:cs typeface="Open Sans" pitchFamily="34" charset="-120"/>
              </a:rPr>
              <a:t>new focus or element</a:t>
            </a:r>
            <a:r>
              <a:rPr lang="en-US" sz="1500" dirty="0">
                <a:solidFill>
                  <a:srgbClr val="333333"/>
                </a:solidFill>
                <a:latin typeface="Open Sans" pitchFamily="34" charset="0"/>
                <a:ea typeface="Open Sans" pitchFamily="34" charset="-122"/>
                <a:cs typeface="Open Sans" pitchFamily="34" charset="-120"/>
              </a:rPr>
              <a:t> at that stage of learning.</a:t>
            </a:r>
            <a:endParaRPr lang="en-US" sz="1500" dirty="0"/>
          </a:p>
        </p:txBody>
      </p:sp>
      <p:sp>
        <p:nvSpPr>
          <p:cNvPr id="14" name="Shape 10"/>
          <p:cNvSpPr/>
          <p:nvPr/>
        </p:nvSpPr>
        <p:spPr>
          <a:xfrm>
            <a:off x="6527800" y="1531541"/>
            <a:ext cx="4902200" cy="2959100"/>
          </a:xfrm>
          <a:prstGeom prst="rect">
            <a:avLst/>
          </a:prstGeom>
          <a:solidFill>
            <a:srgbClr val="FFFFFF"/>
          </a:solidFill>
          <a:ln w="6350">
            <a:solidFill>
              <a:srgbClr val="DFE5EC"/>
            </a:solidFill>
            <a:prstDash val="solid"/>
          </a:ln>
        </p:spPr>
        <p:txBody>
          <a:bodyPr/>
          <a:lstStyle/>
          <a:p>
            <a:endParaRPr lang="en-AU"/>
          </a:p>
        </p:txBody>
      </p:sp>
      <p:pic>
        <p:nvPicPr>
          <p:cNvPr id="15" name="Image 2" descr="Extract of the Future Ready Skills secondary framework table showing Year 7 and Year 9 'I can' statements for Community, Communication and Collaboration"/>
          <p:cNvPicPr>
            <a:picLocks noChangeAspect="1"/>
          </p:cNvPicPr>
          <p:nvPr/>
        </p:nvPicPr>
        <p:blipFill>
          <a:blip r:embed="rId5"/>
          <a:srcRect/>
          <a:stretch/>
        </p:blipFill>
        <p:spPr>
          <a:xfrm>
            <a:off x="6275396" y="1639490"/>
            <a:ext cx="5046654" cy="2954139"/>
          </a:xfrm>
          <a:prstGeom prst="rect">
            <a:avLst/>
          </a:prstGeom>
        </p:spPr>
      </p:pic>
      <p:sp>
        <p:nvSpPr>
          <p:cNvPr id="16" name="Text 11"/>
          <p:cNvSpPr/>
          <p:nvPr/>
        </p:nvSpPr>
        <p:spPr>
          <a:xfrm>
            <a:off x="762000" y="6441480"/>
            <a:ext cx="8001000" cy="213320"/>
          </a:xfrm>
          <a:prstGeom prst="rect">
            <a:avLst/>
          </a:prstGeom>
          <a:noFill/>
          <a:ln/>
        </p:spPr>
        <p:txBody>
          <a:bodyPr wrap="square" lIns="0" tIns="0" rIns="0" bIns="0" rtlCol="0" anchor="t"/>
          <a:lstStyle/>
          <a:p>
            <a:pPr marL="0" indent="0" algn="l">
              <a:lnSpc>
                <a:spcPts val="1680"/>
              </a:lnSpc>
              <a:buNone/>
            </a:pPr>
            <a:r>
              <a:rPr lang="en-US" sz="1200" dirty="0">
                <a:solidFill>
                  <a:srgbClr val="6B6B6B"/>
                </a:solidFill>
                <a:latin typeface="Open Sans" pitchFamily="34" charset="0"/>
                <a:ea typeface="Open Sans" pitchFamily="34" charset="-122"/>
                <a:cs typeface="Open Sans" pitchFamily="34" charset="-120"/>
              </a:rPr>
              <a:t>Future Ready Skills Academy · frs.srczone.net</a:t>
            </a:r>
            <a:endParaRPr lang="en-US" sz="1200" dirty="0"/>
          </a:p>
        </p:txBody>
      </p:sp>
      <p:sp>
        <p:nvSpPr>
          <p:cNvPr id="17" name="Text 12"/>
          <p:cNvSpPr/>
          <p:nvPr/>
        </p:nvSpPr>
        <p:spPr>
          <a:xfrm>
            <a:off x="10083800" y="6441480"/>
            <a:ext cx="1346200" cy="213320"/>
          </a:xfrm>
          <a:prstGeom prst="rect">
            <a:avLst/>
          </a:prstGeom>
          <a:noFill/>
          <a:ln/>
        </p:spPr>
        <p:txBody>
          <a:bodyPr wrap="square" lIns="0" tIns="0" rIns="0" bIns="0" rtlCol="0" anchor="t"/>
          <a:lstStyle/>
          <a:p>
            <a:pPr marL="0" indent="0" algn="r">
              <a:lnSpc>
                <a:spcPts val="1680"/>
              </a:lnSpc>
              <a:buNone/>
            </a:pPr>
            <a:r>
              <a:rPr lang="en-US" sz="1200" dirty="0">
                <a:solidFill>
                  <a:srgbClr val="6B6B6B"/>
                </a:solidFill>
                <a:latin typeface="Open Sans" pitchFamily="34" charset="0"/>
                <a:ea typeface="Open Sans" pitchFamily="34" charset="-122"/>
                <a:cs typeface="Open Sans" pitchFamily="34" charset="-120"/>
              </a:rPr>
              <a:t>9 / 17</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6711950"/>
            <a:ext cx="12192000" cy="146050"/>
          </a:xfrm>
          <a:prstGeom prst="rect">
            <a:avLst/>
          </a:prstGeom>
          <a:solidFill>
            <a:srgbClr val="EAB830"/>
          </a:solidFill>
          <a:ln/>
        </p:spPr>
        <p:txBody>
          <a:bodyPr/>
          <a:lstStyle/>
          <a:p>
            <a:endParaRPr lang="en-AU"/>
          </a:p>
        </p:txBody>
      </p:sp>
      <p:sp>
        <p:nvSpPr>
          <p:cNvPr id="3" name="Shape 1"/>
          <p:cNvSpPr/>
          <p:nvPr/>
        </p:nvSpPr>
        <p:spPr>
          <a:xfrm>
            <a:off x="10198100" y="254000"/>
            <a:ext cx="1587500" cy="838200"/>
          </a:xfrm>
          <a:prstGeom prst="roundRect">
            <a:avLst>
              <a:gd name="adj" fmla="val 9091"/>
            </a:avLst>
          </a:prstGeom>
          <a:solidFill>
            <a:srgbClr val="FFFFFF"/>
          </a:solidFill>
          <a:ln/>
        </p:spPr>
        <p:txBody>
          <a:bodyPr/>
          <a:lstStyle/>
          <a:p>
            <a:endParaRPr lang="en-AU"/>
          </a:p>
        </p:txBody>
      </p:sp>
      <p:pic>
        <p:nvPicPr>
          <p:cNvPr id="4" name="Image 0" descr="Southern River College logo"/>
          <p:cNvPicPr>
            <a:picLocks noChangeAspect="1"/>
          </p:cNvPicPr>
          <p:nvPr/>
        </p:nvPicPr>
        <p:blipFill>
          <a:blip r:embed="rId4"/>
          <a:srcRect/>
          <a:stretch/>
        </p:blipFill>
        <p:spPr>
          <a:xfrm>
            <a:off x="10325100" y="355600"/>
            <a:ext cx="1333500" cy="635000"/>
          </a:xfrm>
          <a:prstGeom prst="rect">
            <a:avLst/>
          </a:prstGeom>
        </p:spPr>
      </p:pic>
      <p:sp>
        <p:nvSpPr>
          <p:cNvPr id="5" name="Text 2"/>
          <p:cNvSpPr/>
          <p:nvPr/>
        </p:nvSpPr>
        <p:spPr>
          <a:xfrm>
            <a:off x="762000" y="2190750"/>
            <a:ext cx="4987290" cy="284460"/>
          </a:xfrm>
          <a:prstGeom prst="rect">
            <a:avLst/>
          </a:prstGeom>
          <a:noFill/>
          <a:ln/>
        </p:spPr>
        <p:txBody>
          <a:bodyPr wrap="square" lIns="0" tIns="0" rIns="0" bIns="0" rtlCol="0" anchor="t"/>
          <a:lstStyle/>
          <a:p>
            <a:pPr marL="0" indent="0" algn="l">
              <a:lnSpc>
                <a:spcPts val="2240"/>
              </a:lnSpc>
              <a:buNone/>
            </a:pPr>
            <a:r>
              <a:rPr lang="en-US" sz="1600" b="1" kern="0" spc="250" dirty="0">
                <a:solidFill>
                  <a:srgbClr val="BFE9F3"/>
                </a:solidFill>
                <a:latin typeface="Montserrat" pitchFamily="34" charset="0"/>
                <a:ea typeface="Montserrat" pitchFamily="34" charset="-122"/>
                <a:cs typeface="Montserrat" pitchFamily="34" charset="-120"/>
              </a:rPr>
              <a:t>FUTURE READY SKILLS ACADEMY</a:t>
            </a:r>
            <a:endParaRPr lang="en-US" sz="1600" dirty="0"/>
          </a:p>
        </p:txBody>
      </p:sp>
      <p:sp>
        <p:nvSpPr>
          <p:cNvPr id="6" name="Text 3"/>
          <p:cNvSpPr/>
          <p:nvPr/>
        </p:nvSpPr>
        <p:spPr>
          <a:xfrm>
            <a:off x="762000" y="2627610"/>
            <a:ext cx="4987290" cy="1397000"/>
          </a:xfrm>
          <a:prstGeom prst="rect">
            <a:avLst/>
          </a:prstGeom>
          <a:noFill/>
          <a:ln/>
        </p:spPr>
        <p:txBody>
          <a:bodyPr wrap="square" lIns="0" tIns="0" rIns="0" bIns="0" rtlCol="0" anchor="t"/>
          <a:lstStyle/>
          <a:p>
            <a:pPr marL="0" indent="0" algn="l">
              <a:lnSpc>
                <a:spcPts val="5500"/>
              </a:lnSpc>
              <a:buNone/>
            </a:pPr>
            <a:r>
              <a:rPr lang="en-US" sz="5000" b="1" dirty="0">
                <a:solidFill>
                  <a:srgbClr val="FFFFFF"/>
                </a:solidFill>
                <a:latin typeface="Montserrat" pitchFamily="34" charset="0"/>
                <a:ea typeface="Montserrat" pitchFamily="34" charset="-122"/>
                <a:cs typeface="Montserrat" pitchFamily="34" charset="-120"/>
              </a:rPr>
              <a:t>Where to next?</a:t>
            </a:r>
            <a:endParaRPr lang="en-US" sz="5000" dirty="0"/>
          </a:p>
        </p:txBody>
      </p:sp>
      <p:sp>
        <p:nvSpPr>
          <p:cNvPr id="7" name="Text 4"/>
          <p:cNvSpPr/>
          <p:nvPr/>
        </p:nvSpPr>
        <p:spPr>
          <a:xfrm>
            <a:off x="762000" y="4177010"/>
            <a:ext cx="4987290" cy="363141"/>
          </a:xfrm>
          <a:prstGeom prst="rect">
            <a:avLst/>
          </a:prstGeom>
          <a:noFill/>
          <a:ln/>
        </p:spPr>
        <p:txBody>
          <a:bodyPr wrap="square" lIns="0" tIns="0" rIns="0" bIns="0" rtlCol="0" anchor="t"/>
          <a:lstStyle/>
          <a:p>
            <a:pPr marL="0" indent="0" algn="l">
              <a:lnSpc>
                <a:spcPts val="2860"/>
              </a:lnSpc>
              <a:buNone/>
            </a:pPr>
            <a:r>
              <a:rPr lang="en-US" sz="2200" dirty="0">
                <a:solidFill>
                  <a:srgbClr val="F1F6FB"/>
                </a:solidFill>
                <a:latin typeface="Open Sans" pitchFamily="34" charset="0"/>
                <a:ea typeface="Open Sans" pitchFamily="34" charset="-122"/>
                <a:cs typeface="Open Sans" pitchFamily="34" charset="-120"/>
              </a:rPr>
              <a:t>Inspire · Aspire · Engage</a:t>
            </a:r>
            <a:endParaRPr lang="en-US" sz="2200" dirty="0"/>
          </a:p>
        </p:txBody>
      </p:sp>
      <p:sp>
        <p:nvSpPr>
          <p:cNvPr id="8" name="Shape 5"/>
          <p:cNvSpPr/>
          <p:nvPr/>
        </p:nvSpPr>
        <p:spPr>
          <a:xfrm>
            <a:off x="5969000" y="1495425"/>
            <a:ext cx="5461000" cy="3740150"/>
          </a:xfrm>
          <a:prstGeom prst="roundRect">
            <a:avLst>
              <a:gd name="adj" fmla="val 2037"/>
            </a:avLst>
          </a:prstGeom>
          <a:solidFill>
            <a:srgbClr val="FFFFFF"/>
          </a:solidFill>
          <a:ln/>
          <a:effectLst>
            <a:outerShdw blurRad="76200" dist="25400" dir="5400000" algn="bl" rotWithShape="0">
              <a:srgbClr val="000000">
                <a:alpha val="12000"/>
              </a:srgbClr>
            </a:outerShdw>
          </a:effectLst>
        </p:spPr>
        <p:txBody>
          <a:bodyPr/>
          <a:lstStyle/>
          <a:p>
            <a:endParaRPr lang="en-AU"/>
          </a:p>
        </p:txBody>
      </p:sp>
      <p:pic>
        <p:nvPicPr>
          <p:cNvPr id="9" name="Image 1" descr="Future Ready Skills Academy logo with the five skills: Community, Communication, Collaboration, Critical Thinking and Creativity"/>
          <p:cNvPicPr>
            <a:picLocks noChangeAspect="1"/>
          </p:cNvPicPr>
          <p:nvPr/>
        </p:nvPicPr>
        <p:blipFill>
          <a:blip r:embed="rId5"/>
          <a:srcRect/>
          <a:stretch/>
        </p:blipFill>
        <p:spPr>
          <a:xfrm>
            <a:off x="6121400" y="1647825"/>
            <a:ext cx="5156200" cy="3435350"/>
          </a:xfrm>
          <a:prstGeom prst="rect">
            <a:avLst/>
          </a:prstGeom>
        </p:spPr>
      </p:pic>
      <p:sp>
        <p:nvSpPr>
          <p:cNvPr id="10" name="Text 6"/>
          <p:cNvSpPr/>
          <p:nvPr/>
        </p:nvSpPr>
        <p:spPr>
          <a:xfrm>
            <a:off x="10083800" y="6365280"/>
            <a:ext cx="1346200" cy="213320"/>
          </a:xfrm>
          <a:prstGeom prst="rect">
            <a:avLst/>
          </a:prstGeom>
          <a:noFill/>
          <a:ln/>
        </p:spPr>
        <p:txBody>
          <a:bodyPr wrap="square" lIns="0" tIns="0" rIns="0" bIns="0" rtlCol="0" anchor="t"/>
          <a:lstStyle/>
          <a:p>
            <a:pPr marL="0" indent="0" algn="r">
              <a:lnSpc>
                <a:spcPts val="1680"/>
              </a:lnSpc>
              <a:buNone/>
            </a:pPr>
            <a:r>
              <a:rPr lang="en-US" sz="1200" dirty="0">
                <a:solidFill>
                  <a:srgbClr val="DCE9F6"/>
                </a:solidFill>
                <a:latin typeface="Open Sans" pitchFamily="34" charset="0"/>
                <a:ea typeface="Open Sans" pitchFamily="34" charset="-122"/>
                <a:cs typeface="Open Sans" pitchFamily="34" charset="-120"/>
              </a:rPr>
              <a:t>10 / 17</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62000" y="609600"/>
            <a:ext cx="11201400" cy="496491"/>
          </a:xfrm>
          <a:prstGeom prst="rect">
            <a:avLst/>
          </a:prstGeom>
          <a:noFill/>
          <a:ln/>
        </p:spPr>
        <p:txBody>
          <a:bodyPr wrap="square" lIns="0" tIns="0" rIns="0" bIns="0" rtlCol="0" anchor="t"/>
          <a:lstStyle/>
          <a:p>
            <a:pPr marL="0" indent="0" algn="l">
              <a:lnSpc>
                <a:spcPts val="3910"/>
              </a:lnSpc>
              <a:buNone/>
            </a:pPr>
            <a:r>
              <a:rPr lang="en-US" sz="3400" b="1" dirty="0">
                <a:solidFill>
                  <a:srgbClr val="005AA7"/>
                </a:solidFill>
                <a:latin typeface="Montserrat" pitchFamily="34" charset="0"/>
                <a:ea typeface="Montserrat" pitchFamily="34" charset="-122"/>
                <a:cs typeface="Montserrat" pitchFamily="34" charset="-120"/>
              </a:rPr>
              <a:t>Inspire · Aspire · Engage</a:t>
            </a:r>
            <a:endParaRPr lang="en-US" sz="3400" dirty="0"/>
          </a:p>
        </p:txBody>
      </p:sp>
      <p:sp>
        <p:nvSpPr>
          <p:cNvPr id="3" name="Shape 1"/>
          <p:cNvSpPr/>
          <p:nvPr/>
        </p:nvSpPr>
        <p:spPr>
          <a:xfrm>
            <a:off x="762000" y="1220391"/>
            <a:ext cx="850900" cy="57150"/>
          </a:xfrm>
          <a:prstGeom prst="rect">
            <a:avLst/>
          </a:prstGeom>
          <a:solidFill>
            <a:srgbClr val="EAB830"/>
          </a:solidFill>
          <a:ln/>
        </p:spPr>
        <p:txBody>
          <a:bodyPr/>
          <a:lstStyle/>
          <a:p>
            <a:endParaRPr lang="en-AU"/>
          </a:p>
        </p:txBody>
      </p:sp>
      <p:sp>
        <p:nvSpPr>
          <p:cNvPr id="4" name="Text 2"/>
          <p:cNvSpPr/>
          <p:nvPr/>
        </p:nvSpPr>
        <p:spPr>
          <a:xfrm>
            <a:off x="762000" y="1480741"/>
            <a:ext cx="11201400" cy="533400"/>
          </a:xfrm>
          <a:prstGeom prst="rect">
            <a:avLst/>
          </a:prstGeom>
          <a:noFill/>
          <a:ln/>
        </p:spPr>
        <p:txBody>
          <a:bodyPr wrap="square" lIns="0" tIns="0" rIns="0" bIns="0" rtlCol="0" anchor="t"/>
          <a:lstStyle/>
          <a:p>
            <a:pPr marL="0" indent="0" algn="l">
              <a:lnSpc>
                <a:spcPts val="2100"/>
              </a:lnSpc>
              <a:buNone/>
            </a:pPr>
            <a:r>
              <a:rPr lang="en-US" sz="1500" dirty="0">
                <a:solidFill>
                  <a:srgbClr val="333333"/>
                </a:solidFill>
                <a:latin typeface="Open Sans" pitchFamily="34" charset="0"/>
                <a:ea typeface="Open Sans" pitchFamily="34" charset="-122"/>
                <a:cs typeface="Open Sans" pitchFamily="34" charset="-120"/>
              </a:rPr>
              <a:t>A connected network of schools, teachers, universities, industry and education foundations. </a:t>
            </a:r>
            <a:r>
              <a:rPr lang="en-US" sz="1500" b="1" dirty="0">
                <a:solidFill>
                  <a:srgbClr val="333333"/>
                </a:solidFill>
                <a:latin typeface="Open Sans" pitchFamily="34" charset="0"/>
                <a:ea typeface="Open Sans" pitchFamily="34" charset="-122"/>
                <a:cs typeface="Open Sans" pitchFamily="34" charset="-120"/>
              </a:rPr>
              <a:t>Bringing the expertise to students, instead of students travelling to the expertise.</a:t>
            </a:r>
            <a:endParaRPr lang="en-US" sz="1500" dirty="0"/>
          </a:p>
        </p:txBody>
      </p:sp>
      <p:sp>
        <p:nvSpPr>
          <p:cNvPr id="5" name="Shape 3"/>
          <p:cNvSpPr/>
          <p:nvPr/>
        </p:nvSpPr>
        <p:spPr>
          <a:xfrm>
            <a:off x="762000" y="2217341"/>
            <a:ext cx="3420467" cy="2691011"/>
          </a:xfrm>
          <a:prstGeom prst="rect">
            <a:avLst/>
          </a:prstGeom>
          <a:solidFill>
            <a:srgbClr val="F4F8FC"/>
          </a:solidFill>
          <a:ln/>
        </p:spPr>
        <p:txBody>
          <a:bodyPr/>
          <a:lstStyle/>
          <a:p>
            <a:endParaRPr lang="en-AU"/>
          </a:p>
        </p:txBody>
      </p:sp>
      <p:sp>
        <p:nvSpPr>
          <p:cNvPr id="6" name="Shape 4"/>
          <p:cNvSpPr/>
          <p:nvPr/>
        </p:nvSpPr>
        <p:spPr>
          <a:xfrm>
            <a:off x="762000" y="2217341"/>
            <a:ext cx="3420467" cy="38100"/>
          </a:xfrm>
          <a:prstGeom prst="rect">
            <a:avLst/>
          </a:prstGeom>
          <a:solidFill>
            <a:srgbClr val="00BED6"/>
          </a:solidFill>
          <a:ln/>
        </p:spPr>
        <p:txBody>
          <a:bodyPr/>
          <a:lstStyle/>
          <a:p>
            <a:endParaRPr lang="en-AU"/>
          </a:p>
        </p:txBody>
      </p:sp>
      <p:sp>
        <p:nvSpPr>
          <p:cNvPr id="7" name="Text 5"/>
          <p:cNvSpPr/>
          <p:nvPr/>
        </p:nvSpPr>
        <p:spPr>
          <a:xfrm>
            <a:off x="990600" y="2484041"/>
            <a:ext cx="3111431" cy="259060"/>
          </a:xfrm>
          <a:prstGeom prst="rect">
            <a:avLst/>
          </a:prstGeom>
          <a:noFill/>
          <a:ln/>
        </p:spPr>
        <p:txBody>
          <a:bodyPr wrap="square" lIns="0" tIns="0" rIns="0" bIns="0" rtlCol="0" anchor="t"/>
          <a:lstStyle/>
          <a:p>
            <a:pPr marL="0" indent="0" algn="l">
              <a:lnSpc>
                <a:spcPts val="2040"/>
              </a:lnSpc>
              <a:buNone/>
            </a:pPr>
            <a:r>
              <a:rPr lang="en-US" sz="1700" b="1" kern="0" spc="150" dirty="0">
                <a:solidFill>
                  <a:srgbClr val="005AA7"/>
                </a:solidFill>
                <a:latin typeface="Montserrat" pitchFamily="34" charset="0"/>
                <a:ea typeface="Montserrat" pitchFamily="34" charset="-122"/>
                <a:cs typeface="Montserrat" pitchFamily="34" charset="-120"/>
              </a:rPr>
              <a:t>INSPIRE</a:t>
            </a:r>
            <a:endParaRPr lang="en-US" sz="1700" dirty="0"/>
          </a:p>
        </p:txBody>
      </p:sp>
      <p:sp>
        <p:nvSpPr>
          <p:cNvPr id="8" name="Text 6"/>
          <p:cNvSpPr/>
          <p:nvPr/>
        </p:nvSpPr>
        <p:spPr>
          <a:xfrm>
            <a:off x="990600" y="2832001"/>
            <a:ext cx="3111431" cy="1200051"/>
          </a:xfrm>
          <a:prstGeom prst="rect">
            <a:avLst/>
          </a:prstGeom>
          <a:noFill/>
          <a:ln/>
        </p:spPr>
        <p:txBody>
          <a:bodyPr wrap="square" lIns="0" tIns="0" rIns="0" bIns="0" rtlCol="0" anchor="t"/>
          <a:lstStyle/>
          <a:p>
            <a:pPr marL="0" indent="0" algn="l">
              <a:lnSpc>
                <a:spcPts val="1890"/>
              </a:lnSpc>
              <a:buNone/>
            </a:pPr>
            <a:r>
              <a:rPr lang="en-US" sz="1350" dirty="0">
                <a:solidFill>
                  <a:srgbClr val="333333"/>
                </a:solidFill>
                <a:latin typeface="Open Sans" pitchFamily="34" charset="0"/>
                <a:ea typeface="Open Sans" pitchFamily="34" charset="-122"/>
                <a:cs typeface="Open Sans" pitchFamily="34" charset="-120"/>
              </a:rPr>
              <a:t>Meet STEM as exciting and accessible through robotics, AI, engineering, coding, cybersecurity, sustainability, design challenges and STEM professionals.</a:t>
            </a:r>
            <a:endParaRPr lang="en-US" sz="1350" dirty="0"/>
          </a:p>
        </p:txBody>
      </p:sp>
      <p:sp>
        <p:nvSpPr>
          <p:cNvPr id="9" name="Text 7"/>
          <p:cNvSpPr/>
          <p:nvPr/>
        </p:nvSpPr>
        <p:spPr>
          <a:xfrm>
            <a:off x="990600" y="4120952"/>
            <a:ext cx="3111431" cy="558800"/>
          </a:xfrm>
          <a:prstGeom prst="rect">
            <a:avLst/>
          </a:prstGeom>
          <a:noFill/>
          <a:ln/>
        </p:spPr>
        <p:txBody>
          <a:bodyPr wrap="square" lIns="0" tIns="0" rIns="0" bIns="0" rtlCol="0" anchor="t"/>
          <a:lstStyle/>
          <a:p>
            <a:pPr marL="0" indent="0" algn="l">
              <a:lnSpc>
                <a:spcPts val="2200"/>
              </a:lnSpc>
              <a:buNone/>
            </a:pPr>
            <a:r>
              <a:rPr lang="en-US" sz="2000" dirty="0">
                <a:solidFill>
                  <a:srgbClr val="00798A"/>
                </a:solidFill>
                <a:latin typeface="Caveat" pitchFamily="34" charset="0"/>
                <a:ea typeface="Caveat" pitchFamily="34" charset="-122"/>
                <a:cs typeface="Caveat" pitchFamily="34" charset="-120"/>
              </a:rPr>
              <a:t>Could STEM be something I'm interested in?</a:t>
            </a:r>
            <a:endParaRPr lang="en-US" sz="2000" dirty="0"/>
          </a:p>
        </p:txBody>
      </p:sp>
      <p:sp>
        <p:nvSpPr>
          <p:cNvPr id="10" name="Shape 8"/>
          <p:cNvSpPr/>
          <p:nvPr/>
        </p:nvSpPr>
        <p:spPr>
          <a:xfrm>
            <a:off x="4385667" y="2217341"/>
            <a:ext cx="3420566" cy="2691011"/>
          </a:xfrm>
          <a:prstGeom prst="rect">
            <a:avLst/>
          </a:prstGeom>
          <a:solidFill>
            <a:srgbClr val="F4F8FC"/>
          </a:solidFill>
          <a:ln/>
        </p:spPr>
        <p:txBody>
          <a:bodyPr/>
          <a:lstStyle/>
          <a:p>
            <a:endParaRPr lang="en-AU"/>
          </a:p>
        </p:txBody>
      </p:sp>
      <p:sp>
        <p:nvSpPr>
          <p:cNvPr id="11" name="Shape 9"/>
          <p:cNvSpPr/>
          <p:nvPr/>
        </p:nvSpPr>
        <p:spPr>
          <a:xfrm>
            <a:off x="4385667" y="2217341"/>
            <a:ext cx="3420566" cy="38100"/>
          </a:xfrm>
          <a:prstGeom prst="rect">
            <a:avLst/>
          </a:prstGeom>
          <a:solidFill>
            <a:srgbClr val="005AA7"/>
          </a:solidFill>
          <a:ln/>
        </p:spPr>
        <p:txBody>
          <a:bodyPr/>
          <a:lstStyle/>
          <a:p>
            <a:endParaRPr lang="en-AU"/>
          </a:p>
        </p:txBody>
      </p:sp>
      <p:sp>
        <p:nvSpPr>
          <p:cNvPr id="12" name="Text 10"/>
          <p:cNvSpPr/>
          <p:nvPr/>
        </p:nvSpPr>
        <p:spPr>
          <a:xfrm>
            <a:off x="4614267" y="2484041"/>
            <a:ext cx="3111535" cy="259060"/>
          </a:xfrm>
          <a:prstGeom prst="rect">
            <a:avLst/>
          </a:prstGeom>
          <a:noFill/>
          <a:ln/>
        </p:spPr>
        <p:txBody>
          <a:bodyPr wrap="square" lIns="0" tIns="0" rIns="0" bIns="0" rtlCol="0" anchor="t"/>
          <a:lstStyle/>
          <a:p>
            <a:pPr marL="0" indent="0" algn="l">
              <a:lnSpc>
                <a:spcPts val="2040"/>
              </a:lnSpc>
              <a:buNone/>
            </a:pPr>
            <a:r>
              <a:rPr lang="en-US" sz="1700" b="1" kern="0" spc="150" dirty="0">
                <a:solidFill>
                  <a:srgbClr val="005AA7"/>
                </a:solidFill>
                <a:latin typeface="Montserrat" pitchFamily="34" charset="0"/>
                <a:ea typeface="Montserrat" pitchFamily="34" charset="-122"/>
                <a:cs typeface="Montserrat" pitchFamily="34" charset="-120"/>
              </a:rPr>
              <a:t>ASPIRE</a:t>
            </a:r>
            <a:endParaRPr lang="en-US" sz="1700" dirty="0"/>
          </a:p>
        </p:txBody>
      </p:sp>
      <p:sp>
        <p:nvSpPr>
          <p:cNvPr id="13" name="Text 11"/>
          <p:cNvSpPr/>
          <p:nvPr/>
        </p:nvSpPr>
        <p:spPr>
          <a:xfrm>
            <a:off x="4614267" y="2832001"/>
            <a:ext cx="3111535" cy="1200051"/>
          </a:xfrm>
          <a:prstGeom prst="rect">
            <a:avLst/>
          </a:prstGeom>
          <a:noFill/>
          <a:ln/>
        </p:spPr>
        <p:txBody>
          <a:bodyPr wrap="square" lIns="0" tIns="0" rIns="0" bIns="0" rtlCol="0" anchor="t"/>
          <a:lstStyle/>
          <a:p>
            <a:pPr marL="0" indent="0" algn="l">
              <a:lnSpc>
                <a:spcPts val="1890"/>
              </a:lnSpc>
              <a:buNone/>
            </a:pPr>
            <a:r>
              <a:rPr lang="en-US" sz="1350" dirty="0">
                <a:solidFill>
                  <a:srgbClr val="333333"/>
                </a:solidFill>
                <a:latin typeface="Open Sans" pitchFamily="34" charset="0"/>
                <a:ea typeface="Open Sans" pitchFamily="34" charset="-122"/>
                <a:cs typeface="Open Sans" pitchFamily="34" charset="-120"/>
              </a:rPr>
              <a:t>Discover the breadth of STEM careers and the pathways through school, TAFE, university, apprenticeships and industry, guided by role models.</a:t>
            </a:r>
            <a:endParaRPr lang="en-US" sz="1350" dirty="0"/>
          </a:p>
        </p:txBody>
      </p:sp>
      <p:sp>
        <p:nvSpPr>
          <p:cNvPr id="14" name="Text 12"/>
          <p:cNvSpPr/>
          <p:nvPr/>
        </p:nvSpPr>
        <p:spPr>
          <a:xfrm>
            <a:off x="4614267" y="4120952"/>
            <a:ext cx="3111535" cy="279400"/>
          </a:xfrm>
          <a:prstGeom prst="rect">
            <a:avLst/>
          </a:prstGeom>
          <a:noFill/>
          <a:ln/>
        </p:spPr>
        <p:txBody>
          <a:bodyPr wrap="square" lIns="0" tIns="0" rIns="0" bIns="0" rtlCol="0" anchor="t"/>
          <a:lstStyle/>
          <a:p>
            <a:pPr marL="0" indent="0" algn="l">
              <a:lnSpc>
                <a:spcPts val="2200"/>
              </a:lnSpc>
              <a:buNone/>
            </a:pPr>
            <a:r>
              <a:rPr lang="en-US" sz="2000" dirty="0">
                <a:solidFill>
                  <a:srgbClr val="00798A"/>
                </a:solidFill>
                <a:latin typeface="Caveat" pitchFamily="34" charset="0"/>
                <a:ea typeface="Caveat" pitchFamily="34" charset="-122"/>
                <a:cs typeface="Caveat" pitchFamily="34" charset="-120"/>
              </a:rPr>
              <a:t>Could I have a future in STEM?</a:t>
            </a:r>
            <a:endParaRPr lang="en-US" sz="2000" dirty="0"/>
          </a:p>
        </p:txBody>
      </p:sp>
      <p:sp>
        <p:nvSpPr>
          <p:cNvPr id="15" name="Shape 13"/>
          <p:cNvSpPr/>
          <p:nvPr/>
        </p:nvSpPr>
        <p:spPr>
          <a:xfrm>
            <a:off x="8009434" y="2217341"/>
            <a:ext cx="3420566" cy="2691011"/>
          </a:xfrm>
          <a:prstGeom prst="rect">
            <a:avLst/>
          </a:prstGeom>
          <a:solidFill>
            <a:srgbClr val="F4F8FC"/>
          </a:solidFill>
          <a:ln/>
        </p:spPr>
        <p:txBody>
          <a:bodyPr/>
          <a:lstStyle/>
          <a:p>
            <a:endParaRPr lang="en-AU"/>
          </a:p>
        </p:txBody>
      </p:sp>
      <p:sp>
        <p:nvSpPr>
          <p:cNvPr id="16" name="Shape 14"/>
          <p:cNvSpPr/>
          <p:nvPr/>
        </p:nvSpPr>
        <p:spPr>
          <a:xfrm>
            <a:off x="8009434" y="2217341"/>
            <a:ext cx="3420566" cy="38100"/>
          </a:xfrm>
          <a:prstGeom prst="rect">
            <a:avLst/>
          </a:prstGeom>
          <a:solidFill>
            <a:srgbClr val="EAB830"/>
          </a:solidFill>
          <a:ln/>
        </p:spPr>
        <p:txBody>
          <a:bodyPr/>
          <a:lstStyle/>
          <a:p>
            <a:endParaRPr lang="en-AU"/>
          </a:p>
        </p:txBody>
      </p:sp>
      <p:sp>
        <p:nvSpPr>
          <p:cNvPr id="17" name="Text 15"/>
          <p:cNvSpPr/>
          <p:nvPr/>
        </p:nvSpPr>
        <p:spPr>
          <a:xfrm>
            <a:off x="8238034" y="2484041"/>
            <a:ext cx="3111535" cy="259060"/>
          </a:xfrm>
          <a:prstGeom prst="rect">
            <a:avLst/>
          </a:prstGeom>
          <a:noFill/>
          <a:ln/>
        </p:spPr>
        <p:txBody>
          <a:bodyPr wrap="square" lIns="0" tIns="0" rIns="0" bIns="0" rtlCol="0" anchor="t"/>
          <a:lstStyle/>
          <a:p>
            <a:pPr marL="0" indent="0" algn="l">
              <a:lnSpc>
                <a:spcPts val="2040"/>
              </a:lnSpc>
              <a:buNone/>
            </a:pPr>
            <a:r>
              <a:rPr lang="en-US" sz="1700" b="1" kern="0" spc="150" dirty="0">
                <a:solidFill>
                  <a:srgbClr val="005AA7"/>
                </a:solidFill>
                <a:latin typeface="Montserrat" pitchFamily="34" charset="0"/>
                <a:ea typeface="Montserrat" pitchFamily="34" charset="-122"/>
                <a:cs typeface="Montserrat" pitchFamily="34" charset="-120"/>
              </a:rPr>
              <a:t>ENGAGE</a:t>
            </a:r>
            <a:endParaRPr lang="en-US" sz="1700" dirty="0"/>
          </a:p>
        </p:txBody>
      </p:sp>
      <p:sp>
        <p:nvSpPr>
          <p:cNvPr id="18" name="Text 16"/>
          <p:cNvSpPr/>
          <p:nvPr/>
        </p:nvSpPr>
        <p:spPr>
          <a:xfrm>
            <a:off x="8238034" y="2832001"/>
            <a:ext cx="3111535" cy="960041"/>
          </a:xfrm>
          <a:prstGeom prst="rect">
            <a:avLst/>
          </a:prstGeom>
          <a:noFill/>
          <a:ln/>
        </p:spPr>
        <p:txBody>
          <a:bodyPr wrap="square" lIns="0" tIns="0" rIns="0" bIns="0" rtlCol="0" anchor="t"/>
          <a:lstStyle/>
          <a:p>
            <a:pPr marL="0" indent="0" algn="l">
              <a:lnSpc>
                <a:spcPts val="1890"/>
              </a:lnSpc>
              <a:buNone/>
            </a:pPr>
            <a:r>
              <a:rPr lang="en-US" sz="1350" dirty="0">
                <a:solidFill>
                  <a:srgbClr val="333333"/>
                </a:solidFill>
                <a:latin typeface="Open Sans" pitchFamily="34" charset="0"/>
                <a:ea typeface="Open Sans" pitchFamily="34" charset="-122"/>
                <a:cs typeface="Open Sans" pitchFamily="34" charset="-120"/>
              </a:rPr>
              <a:t>Work on real community and industry problems with mentors, university programs, competitions and workplace experiences.</a:t>
            </a:r>
            <a:endParaRPr lang="en-US" sz="1350" dirty="0"/>
          </a:p>
        </p:txBody>
      </p:sp>
      <p:sp>
        <p:nvSpPr>
          <p:cNvPr id="19" name="Text 17"/>
          <p:cNvSpPr/>
          <p:nvPr/>
        </p:nvSpPr>
        <p:spPr>
          <a:xfrm>
            <a:off x="8238034" y="4120174"/>
            <a:ext cx="3111535" cy="558800"/>
          </a:xfrm>
          <a:prstGeom prst="rect">
            <a:avLst/>
          </a:prstGeom>
          <a:noFill/>
          <a:ln/>
        </p:spPr>
        <p:txBody>
          <a:bodyPr wrap="square" lIns="0" tIns="0" rIns="0" bIns="0" rtlCol="0" anchor="t"/>
          <a:lstStyle/>
          <a:p>
            <a:pPr marL="0" indent="0" algn="l">
              <a:lnSpc>
                <a:spcPts val="2200"/>
              </a:lnSpc>
              <a:buNone/>
            </a:pPr>
            <a:r>
              <a:rPr lang="en-US" sz="2000" dirty="0">
                <a:solidFill>
                  <a:srgbClr val="00798A"/>
                </a:solidFill>
                <a:latin typeface="Caveat" pitchFamily="34" charset="0"/>
                <a:ea typeface="Caveat" pitchFamily="34" charset="-122"/>
                <a:cs typeface="Caveat" pitchFamily="34" charset="-120"/>
              </a:rPr>
              <a:t>How can I use STEM to make a difference?</a:t>
            </a:r>
            <a:endParaRPr lang="en-US" sz="2000" dirty="0"/>
          </a:p>
        </p:txBody>
      </p:sp>
      <p:sp>
        <p:nvSpPr>
          <p:cNvPr id="20" name="Text 18"/>
          <p:cNvSpPr/>
          <p:nvPr/>
        </p:nvSpPr>
        <p:spPr>
          <a:xfrm>
            <a:off x="4034696" y="5111552"/>
            <a:ext cx="1201311" cy="332680"/>
          </a:xfrm>
          <a:prstGeom prst="rect">
            <a:avLst/>
          </a:prstGeom>
          <a:solidFill>
            <a:srgbClr val="005AA7"/>
          </a:solidFill>
          <a:ln/>
        </p:spPr>
        <p:txBody>
          <a:bodyPr wrap="none" lIns="152400" tIns="50800" rIns="152400" bIns="50800" rtlCol="0" anchor="ctr"/>
          <a:lstStyle/>
          <a:p>
            <a:pPr marL="0" indent="0" algn="l">
              <a:lnSpc>
                <a:spcPts val="1820"/>
              </a:lnSpc>
              <a:buNone/>
            </a:pPr>
            <a:r>
              <a:rPr lang="en-US" sz="1300" b="1" kern="0" spc="100" dirty="0">
                <a:solidFill>
                  <a:srgbClr val="FFFFFF"/>
                </a:solidFill>
                <a:latin typeface="Montserrat" pitchFamily="34" charset="0"/>
                <a:ea typeface="Montserrat" pitchFamily="34" charset="-122"/>
                <a:cs typeface="Montserrat" pitchFamily="34" charset="-120"/>
              </a:rPr>
              <a:t>INSPIRE</a:t>
            </a:r>
            <a:endParaRPr lang="en-US" sz="1300" dirty="0"/>
          </a:p>
        </p:txBody>
      </p:sp>
      <p:sp>
        <p:nvSpPr>
          <p:cNvPr id="21" name="Text 19"/>
          <p:cNvSpPr/>
          <p:nvPr/>
        </p:nvSpPr>
        <p:spPr>
          <a:xfrm>
            <a:off x="5283002" y="5144492"/>
            <a:ext cx="266700" cy="266700"/>
          </a:xfrm>
          <a:prstGeom prst="rect">
            <a:avLst/>
          </a:prstGeom>
          <a:noFill/>
          <a:ln/>
        </p:spPr>
        <p:txBody>
          <a:bodyPr wrap="square" lIns="0" tIns="0" rIns="0" bIns="0" rtlCol="0" anchor="t"/>
          <a:lstStyle/>
          <a:p>
            <a:pPr marL="0" indent="0" algn="l">
              <a:lnSpc>
                <a:spcPts val="2100"/>
              </a:lnSpc>
              <a:buNone/>
            </a:pPr>
            <a:r>
              <a:rPr lang="en-US" sz="1500" b="1" dirty="0">
                <a:solidFill>
                  <a:srgbClr val="B8860B"/>
                </a:solidFill>
                <a:latin typeface="Montserrat" pitchFamily="34" charset="0"/>
                <a:ea typeface="Montserrat" pitchFamily="34" charset="-122"/>
                <a:cs typeface="Montserrat" pitchFamily="34" charset="-120"/>
              </a:rPr>
              <a:t>→</a:t>
            </a:r>
            <a:endParaRPr lang="en-US" sz="1500" dirty="0"/>
          </a:p>
        </p:txBody>
      </p:sp>
      <p:sp>
        <p:nvSpPr>
          <p:cNvPr id="22" name="Text 20"/>
          <p:cNvSpPr/>
          <p:nvPr/>
        </p:nvSpPr>
        <p:spPr>
          <a:xfrm>
            <a:off x="5524183" y="5111552"/>
            <a:ext cx="1120219" cy="332680"/>
          </a:xfrm>
          <a:prstGeom prst="rect">
            <a:avLst/>
          </a:prstGeom>
          <a:solidFill>
            <a:srgbClr val="005AA7"/>
          </a:solidFill>
          <a:ln/>
        </p:spPr>
        <p:txBody>
          <a:bodyPr wrap="none" lIns="152400" tIns="50800" rIns="152400" bIns="50800" rtlCol="0" anchor="ctr"/>
          <a:lstStyle/>
          <a:p>
            <a:pPr marL="0" indent="0" algn="l">
              <a:lnSpc>
                <a:spcPts val="1820"/>
              </a:lnSpc>
              <a:buNone/>
            </a:pPr>
            <a:r>
              <a:rPr lang="en-US" sz="1300" b="1" kern="0" spc="100" dirty="0">
                <a:solidFill>
                  <a:srgbClr val="FFFFFF"/>
                </a:solidFill>
                <a:latin typeface="Montserrat" pitchFamily="34" charset="0"/>
                <a:ea typeface="Montserrat" pitchFamily="34" charset="-122"/>
                <a:cs typeface="Montserrat" pitchFamily="34" charset="-120"/>
              </a:rPr>
              <a:t>ASPIRE</a:t>
            </a:r>
            <a:endParaRPr lang="en-US" sz="1300" dirty="0"/>
          </a:p>
        </p:txBody>
      </p:sp>
      <p:sp>
        <p:nvSpPr>
          <p:cNvPr id="23" name="Text 21"/>
          <p:cNvSpPr/>
          <p:nvPr/>
        </p:nvSpPr>
        <p:spPr>
          <a:xfrm>
            <a:off x="6695083" y="5144492"/>
            <a:ext cx="266700" cy="266700"/>
          </a:xfrm>
          <a:prstGeom prst="rect">
            <a:avLst/>
          </a:prstGeom>
          <a:noFill/>
          <a:ln/>
        </p:spPr>
        <p:txBody>
          <a:bodyPr wrap="square" lIns="0" tIns="0" rIns="0" bIns="0" rtlCol="0" anchor="t"/>
          <a:lstStyle/>
          <a:p>
            <a:pPr marL="0" indent="0" algn="l">
              <a:lnSpc>
                <a:spcPts val="2100"/>
              </a:lnSpc>
              <a:buNone/>
            </a:pPr>
            <a:r>
              <a:rPr lang="en-US" sz="1500" b="1" dirty="0">
                <a:solidFill>
                  <a:srgbClr val="B8860B"/>
                </a:solidFill>
                <a:latin typeface="Montserrat" pitchFamily="34" charset="0"/>
                <a:ea typeface="Montserrat" pitchFamily="34" charset="-122"/>
                <a:cs typeface="Montserrat" pitchFamily="34" charset="-120"/>
              </a:rPr>
              <a:t>→</a:t>
            </a:r>
            <a:endParaRPr lang="en-US" sz="1500" dirty="0"/>
          </a:p>
        </p:txBody>
      </p:sp>
      <p:sp>
        <p:nvSpPr>
          <p:cNvPr id="24" name="Text 22"/>
          <p:cNvSpPr/>
          <p:nvPr/>
        </p:nvSpPr>
        <p:spPr>
          <a:xfrm>
            <a:off x="6931412" y="5111552"/>
            <a:ext cx="1226959" cy="332680"/>
          </a:xfrm>
          <a:prstGeom prst="rect">
            <a:avLst/>
          </a:prstGeom>
          <a:solidFill>
            <a:srgbClr val="005AA7"/>
          </a:solidFill>
          <a:ln/>
        </p:spPr>
        <p:txBody>
          <a:bodyPr wrap="none" lIns="152400" tIns="50800" rIns="152400" bIns="50800" rtlCol="0" anchor="ctr"/>
          <a:lstStyle/>
          <a:p>
            <a:pPr marL="0" indent="0" algn="l">
              <a:lnSpc>
                <a:spcPts val="1820"/>
              </a:lnSpc>
              <a:buNone/>
            </a:pPr>
            <a:r>
              <a:rPr lang="en-US" sz="1300" b="1" kern="0" spc="100" dirty="0">
                <a:solidFill>
                  <a:srgbClr val="FFFFFF"/>
                </a:solidFill>
                <a:latin typeface="Montserrat" pitchFamily="34" charset="0"/>
                <a:ea typeface="Montserrat" pitchFamily="34" charset="-122"/>
                <a:cs typeface="Montserrat" pitchFamily="34" charset="-120"/>
              </a:rPr>
              <a:t>ENGAGE</a:t>
            </a:r>
            <a:endParaRPr lang="en-US" sz="1300" dirty="0"/>
          </a:p>
        </p:txBody>
      </p:sp>
      <p:sp>
        <p:nvSpPr>
          <p:cNvPr id="25" name="Text 23"/>
          <p:cNvSpPr/>
          <p:nvPr/>
        </p:nvSpPr>
        <p:spPr>
          <a:xfrm>
            <a:off x="762000" y="6441480"/>
            <a:ext cx="8001000" cy="213320"/>
          </a:xfrm>
          <a:prstGeom prst="rect">
            <a:avLst/>
          </a:prstGeom>
          <a:noFill/>
          <a:ln/>
        </p:spPr>
        <p:txBody>
          <a:bodyPr wrap="square" lIns="0" tIns="0" rIns="0" bIns="0" rtlCol="0" anchor="t"/>
          <a:lstStyle/>
          <a:p>
            <a:pPr marL="0" indent="0" algn="l">
              <a:lnSpc>
                <a:spcPts val="1680"/>
              </a:lnSpc>
              <a:buNone/>
            </a:pPr>
            <a:r>
              <a:rPr lang="en-US" sz="1200" dirty="0">
                <a:solidFill>
                  <a:srgbClr val="6B6B6B"/>
                </a:solidFill>
                <a:latin typeface="Open Sans" pitchFamily="34" charset="0"/>
                <a:ea typeface="Open Sans" pitchFamily="34" charset="-122"/>
                <a:cs typeface="Open Sans" pitchFamily="34" charset="-120"/>
              </a:rPr>
              <a:t>Future Ready Skills Academy · frs.srczone.net</a:t>
            </a:r>
            <a:endParaRPr lang="en-US" sz="1200" dirty="0"/>
          </a:p>
        </p:txBody>
      </p:sp>
      <p:sp>
        <p:nvSpPr>
          <p:cNvPr id="26" name="Text 24"/>
          <p:cNvSpPr/>
          <p:nvPr/>
        </p:nvSpPr>
        <p:spPr>
          <a:xfrm>
            <a:off x="10083800" y="6441480"/>
            <a:ext cx="1346200" cy="213320"/>
          </a:xfrm>
          <a:prstGeom prst="rect">
            <a:avLst/>
          </a:prstGeom>
          <a:noFill/>
          <a:ln/>
        </p:spPr>
        <p:txBody>
          <a:bodyPr wrap="square" lIns="0" tIns="0" rIns="0" bIns="0" rtlCol="0" anchor="t"/>
          <a:lstStyle/>
          <a:p>
            <a:pPr marL="0" indent="0" algn="r">
              <a:lnSpc>
                <a:spcPts val="1680"/>
              </a:lnSpc>
              <a:buNone/>
            </a:pPr>
            <a:r>
              <a:rPr lang="en-US" sz="1200" dirty="0">
                <a:solidFill>
                  <a:srgbClr val="6B6B6B"/>
                </a:solidFill>
                <a:latin typeface="Open Sans" pitchFamily="34" charset="0"/>
                <a:ea typeface="Open Sans" pitchFamily="34" charset="-122"/>
                <a:cs typeface="Open Sans" pitchFamily="34" charset="-120"/>
              </a:rPr>
              <a:t>11 / 17</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62000" y="609600"/>
            <a:ext cx="11201400" cy="496491"/>
          </a:xfrm>
          <a:prstGeom prst="rect">
            <a:avLst/>
          </a:prstGeom>
          <a:noFill/>
          <a:ln/>
        </p:spPr>
        <p:txBody>
          <a:bodyPr wrap="square" lIns="0" tIns="0" rIns="0" bIns="0" rtlCol="0" anchor="t"/>
          <a:lstStyle/>
          <a:p>
            <a:pPr marL="0" indent="0" algn="l">
              <a:lnSpc>
                <a:spcPts val="3910"/>
              </a:lnSpc>
              <a:buNone/>
            </a:pPr>
            <a:r>
              <a:rPr lang="en-US" sz="3400" b="1" dirty="0">
                <a:solidFill>
                  <a:srgbClr val="005AA7"/>
                </a:solidFill>
                <a:latin typeface="Montserrat" pitchFamily="34" charset="0"/>
                <a:ea typeface="Montserrat" pitchFamily="34" charset="-122"/>
                <a:cs typeface="Montserrat" pitchFamily="34" charset="-120"/>
              </a:rPr>
              <a:t>13 schools, one Virtual Academy</a:t>
            </a:r>
            <a:endParaRPr lang="en-US" sz="3400" dirty="0"/>
          </a:p>
        </p:txBody>
      </p:sp>
      <p:sp>
        <p:nvSpPr>
          <p:cNvPr id="3" name="Shape 1"/>
          <p:cNvSpPr/>
          <p:nvPr/>
        </p:nvSpPr>
        <p:spPr>
          <a:xfrm>
            <a:off x="762000" y="1220391"/>
            <a:ext cx="850900" cy="57150"/>
          </a:xfrm>
          <a:prstGeom prst="rect">
            <a:avLst/>
          </a:prstGeom>
          <a:solidFill>
            <a:srgbClr val="EAB830"/>
          </a:solidFill>
          <a:ln/>
        </p:spPr>
        <p:txBody>
          <a:bodyPr/>
          <a:lstStyle/>
          <a:p>
            <a:endParaRPr lang="en-AU"/>
          </a:p>
        </p:txBody>
      </p:sp>
      <p:pic>
        <p:nvPicPr>
          <p:cNvPr id="4" name="Image 0" descr="/home/claude/pptx/gen/grad2.png"/>
          <p:cNvPicPr>
            <a:picLocks noChangeAspect="1"/>
          </p:cNvPicPr>
          <p:nvPr/>
        </p:nvPicPr>
        <p:blipFill>
          <a:blip r:embed="rId3"/>
          <a:stretch>
            <a:fillRect/>
          </a:stretch>
        </p:blipFill>
        <p:spPr>
          <a:xfrm>
            <a:off x="762000" y="1531541"/>
            <a:ext cx="3048000" cy="3649563"/>
          </a:xfrm>
          <a:prstGeom prst="rect">
            <a:avLst/>
          </a:prstGeom>
        </p:spPr>
      </p:pic>
      <p:sp>
        <p:nvSpPr>
          <p:cNvPr id="5" name="Shape 2"/>
          <p:cNvSpPr/>
          <p:nvPr/>
        </p:nvSpPr>
        <p:spPr>
          <a:xfrm>
            <a:off x="762000" y="5117604"/>
            <a:ext cx="3048000" cy="63500"/>
          </a:xfrm>
          <a:prstGeom prst="rect">
            <a:avLst/>
          </a:prstGeom>
          <a:solidFill>
            <a:srgbClr val="EAB830"/>
          </a:solidFill>
          <a:ln/>
        </p:spPr>
        <p:txBody>
          <a:bodyPr/>
          <a:lstStyle/>
          <a:p>
            <a:endParaRPr lang="en-AU"/>
          </a:p>
        </p:txBody>
      </p:sp>
      <p:sp>
        <p:nvSpPr>
          <p:cNvPr id="6" name="Text 3"/>
          <p:cNvSpPr/>
          <p:nvPr/>
        </p:nvSpPr>
        <p:spPr>
          <a:xfrm>
            <a:off x="1016000" y="1785541"/>
            <a:ext cx="2667000" cy="889000"/>
          </a:xfrm>
          <a:prstGeom prst="rect">
            <a:avLst/>
          </a:prstGeom>
          <a:noFill/>
          <a:ln/>
        </p:spPr>
        <p:txBody>
          <a:bodyPr wrap="square" lIns="0" tIns="0" rIns="0" bIns="0" rtlCol="0" anchor="t"/>
          <a:lstStyle/>
          <a:p>
            <a:pPr marL="0" indent="0" algn="l">
              <a:lnSpc>
                <a:spcPts val="7000"/>
              </a:lnSpc>
              <a:buNone/>
            </a:pPr>
            <a:r>
              <a:rPr lang="en-US" sz="7000" b="1" dirty="0">
                <a:solidFill>
                  <a:srgbClr val="FFFFFF"/>
                </a:solidFill>
                <a:latin typeface="Montserrat" pitchFamily="34" charset="0"/>
                <a:ea typeface="Montserrat" pitchFamily="34" charset="-122"/>
                <a:cs typeface="Montserrat" pitchFamily="34" charset="-120"/>
              </a:rPr>
              <a:t>13</a:t>
            </a:r>
            <a:endParaRPr lang="en-US" sz="7000" dirty="0"/>
          </a:p>
        </p:txBody>
      </p:sp>
      <p:sp>
        <p:nvSpPr>
          <p:cNvPr id="7" name="Text 4"/>
          <p:cNvSpPr/>
          <p:nvPr/>
        </p:nvSpPr>
        <p:spPr>
          <a:xfrm>
            <a:off x="1016000" y="2776141"/>
            <a:ext cx="2667000" cy="266700"/>
          </a:xfrm>
          <a:prstGeom prst="rect">
            <a:avLst/>
          </a:prstGeom>
          <a:noFill/>
          <a:ln/>
        </p:spPr>
        <p:txBody>
          <a:bodyPr wrap="square" lIns="0" tIns="0" rIns="0" bIns="0" rtlCol="0" anchor="t"/>
          <a:lstStyle/>
          <a:p>
            <a:pPr marL="0" indent="0" algn="l">
              <a:lnSpc>
                <a:spcPts val="2100"/>
              </a:lnSpc>
              <a:buNone/>
            </a:pPr>
            <a:r>
              <a:rPr lang="en-US" sz="1500" b="1" kern="0" spc="100" dirty="0">
                <a:solidFill>
                  <a:srgbClr val="BFE9F3"/>
                </a:solidFill>
                <a:latin typeface="Montserrat" pitchFamily="34" charset="0"/>
                <a:ea typeface="Montserrat" pitchFamily="34" charset="-122"/>
                <a:cs typeface="Montserrat" pitchFamily="34" charset="-120"/>
              </a:rPr>
              <a:t>ACADEMY SCHOOLS</a:t>
            </a:r>
            <a:endParaRPr lang="en-US" sz="1500" dirty="0"/>
          </a:p>
        </p:txBody>
      </p:sp>
      <p:sp>
        <p:nvSpPr>
          <p:cNvPr id="8" name="Text 5"/>
          <p:cNvSpPr/>
          <p:nvPr/>
        </p:nvSpPr>
        <p:spPr>
          <a:xfrm>
            <a:off x="1016000" y="3144441"/>
            <a:ext cx="2667000" cy="693241"/>
          </a:xfrm>
          <a:prstGeom prst="rect">
            <a:avLst/>
          </a:prstGeom>
          <a:noFill/>
          <a:ln/>
        </p:spPr>
        <p:txBody>
          <a:bodyPr wrap="square" lIns="0" tIns="0" rIns="0" bIns="0" rtlCol="0" anchor="t"/>
          <a:lstStyle/>
          <a:p>
            <a:pPr marL="0" indent="0" algn="l">
              <a:lnSpc>
                <a:spcPts val="1820"/>
              </a:lnSpc>
              <a:buNone/>
            </a:pPr>
            <a:r>
              <a:rPr lang="en-US" sz="1300" b="1" dirty="0">
                <a:solidFill>
                  <a:srgbClr val="FFFFFF"/>
                </a:solidFill>
                <a:latin typeface="Open Sans" pitchFamily="34" charset="0"/>
                <a:ea typeface="Open Sans" pitchFamily="34" charset="-122"/>
                <a:cs typeface="Open Sans" pitchFamily="34" charset="-120"/>
              </a:rPr>
              <a:t>9 metropolitan</a:t>
            </a:r>
            <a:r>
              <a:rPr lang="en-US" sz="1300" dirty="0">
                <a:solidFill>
                  <a:srgbClr val="FFFFFF"/>
                </a:solidFill>
                <a:latin typeface="Open Sans" pitchFamily="34" charset="0"/>
                <a:ea typeface="Open Sans" pitchFamily="34" charset="-122"/>
                <a:cs typeface="Open Sans" pitchFamily="34" charset="-120"/>
              </a:rPr>
              <a:t> schools in the Gosnells area, with Southern River College as Lead School</a:t>
            </a:r>
            <a:endParaRPr lang="en-US" sz="1300" dirty="0"/>
          </a:p>
        </p:txBody>
      </p:sp>
      <p:sp>
        <p:nvSpPr>
          <p:cNvPr id="9" name="Text 6"/>
          <p:cNvSpPr/>
          <p:nvPr/>
        </p:nvSpPr>
        <p:spPr>
          <a:xfrm>
            <a:off x="1016000" y="4125352"/>
            <a:ext cx="2667000" cy="924322"/>
          </a:xfrm>
          <a:prstGeom prst="rect">
            <a:avLst/>
          </a:prstGeom>
          <a:noFill/>
          <a:ln/>
        </p:spPr>
        <p:txBody>
          <a:bodyPr wrap="square" lIns="0" tIns="0" rIns="0" bIns="0" rtlCol="0" anchor="t"/>
          <a:lstStyle/>
          <a:p>
            <a:pPr marL="0" indent="0" algn="l">
              <a:lnSpc>
                <a:spcPts val="1820"/>
              </a:lnSpc>
              <a:buNone/>
            </a:pPr>
            <a:r>
              <a:rPr lang="en-US" sz="1300" b="1" dirty="0">
                <a:solidFill>
                  <a:srgbClr val="FFFFFF"/>
                </a:solidFill>
                <a:latin typeface="Open Sans" pitchFamily="34" charset="0"/>
                <a:ea typeface="Open Sans" pitchFamily="34" charset="-122"/>
                <a:cs typeface="Open Sans" pitchFamily="34" charset="-120"/>
              </a:rPr>
              <a:t>4 regional:</a:t>
            </a:r>
            <a:r>
              <a:rPr lang="en-US" sz="1300" dirty="0">
                <a:solidFill>
                  <a:srgbClr val="FFFFFF"/>
                </a:solidFill>
                <a:latin typeface="Open Sans" pitchFamily="34" charset="0"/>
                <a:ea typeface="Open Sans" pitchFamily="34" charset="-122"/>
                <a:cs typeface="Open Sans" pitchFamily="34" charset="-120"/>
              </a:rPr>
              <a:t> Kalgoorlie Boulder CHS, Newman SHS, Marble Bar PS and Eaton Community College</a:t>
            </a:r>
            <a:endParaRPr lang="en-US" sz="1300" dirty="0"/>
          </a:p>
        </p:txBody>
      </p:sp>
      <p:sp>
        <p:nvSpPr>
          <p:cNvPr id="10" name="Shape 7"/>
          <p:cNvSpPr/>
          <p:nvPr/>
        </p:nvSpPr>
        <p:spPr>
          <a:xfrm>
            <a:off x="4013200" y="1531541"/>
            <a:ext cx="3606800" cy="3299023"/>
          </a:xfrm>
          <a:prstGeom prst="rect">
            <a:avLst/>
          </a:prstGeom>
          <a:solidFill>
            <a:srgbClr val="F4F8FC"/>
          </a:solidFill>
          <a:ln/>
        </p:spPr>
        <p:txBody>
          <a:bodyPr/>
          <a:lstStyle/>
          <a:p>
            <a:endParaRPr lang="en-AU"/>
          </a:p>
        </p:txBody>
      </p:sp>
      <p:sp>
        <p:nvSpPr>
          <p:cNvPr id="11" name="Shape 8"/>
          <p:cNvSpPr/>
          <p:nvPr/>
        </p:nvSpPr>
        <p:spPr>
          <a:xfrm>
            <a:off x="4013200" y="1531541"/>
            <a:ext cx="3606800" cy="38100"/>
          </a:xfrm>
          <a:prstGeom prst="rect">
            <a:avLst/>
          </a:prstGeom>
          <a:solidFill>
            <a:srgbClr val="00BED6"/>
          </a:solidFill>
          <a:ln/>
        </p:spPr>
        <p:txBody>
          <a:bodyPr/>
          <a:lstStyle/>
          <a:p>
            <a:endParaRPr lang="en-AU"/>
          </a:p>
        </p:txBody>
      </p:sp>
      <p:pic>
        <p:nvPicPr>
          <p:cNvPr id="12" name="Image 1" descr="Globe icon"/>
          <p:cNvPicPr>
            <a:picLocks noChangeAspect="1"/>
          </p:cNvPicPr>
          <p:nvPr/>
        </p:nvPicPr>
        <p:blipFill>
          <a:blip r:embed="rId4"/>
          <a:stretch>
            <a:fillRect/>
          </a:stretch>
        </p:blipFill>
        <p:spPr>
          <a:xfrm>
            <a:off x="4267200" y="1823641"/>
            <a:ext cx="279400" cy="279400"/>
          </a:xfrm>
          <a:prstGeom prst="rect">
            <a:avLst/>
          </a:prstGeom>
        </p:spPr>
      </p:pic>
      <p:sp>
        <p:nvSpPr>
          <p:cNvPr id="13" name="Text 9"/>
          <p:cNvSpPr/>
          <p:nvPr/>
        </p:nvSpPr>
        <p:spPr>
          <a:xfrm>
            <a:off x="4648200" y="1833761"/>
            <a:ext cx="2487394" cy="259060"/>
          </a:xfrm>
          <a:prstGeom prst="rect">
            <a:avLst/>
          </a:prstGeom>
          <a:noFill/>
          <a:ln/>
        </p:spPr>
        <p:txBody>
          <a:bodyPr wrap="square" lIns="0" tIns="0" rIns="0" bIns="0" rtlCol="0" anchor="t"/>
          <a:lstStyle/>
          <a:p>
            <a:pPr marL="0" indent="0" algn="l">
              <a:lnSpc>
                <a:spcPts val="2040"/>
              </a:lnSpc>
              <a:buNone/>
            </a:pPr>
            <a:r>
              <a:rPr lang="en-US" sz="1700" b="1" dirty="0">
                <a:solidFill>
                  <a:srgbClr val="005AA7"/>
                </a:solidFill>
                <a:latin typeface="Montserrat" pitchFamily="34" charset="0"/>
                <a:ea typeface="Montserrat" pitchFamily="34" charset="-122"/>
                <a:cs typeface="Montserrat" pitchFamily="34" charset="-120"/>
              </a:rPr>
              <a:t>The Virtual Academy</a:t>
            </a:r>
            <a:endParaRPr lang="en-US" sz="1700" dirty="0"/>
          </a:p>
        </p:txBody>
      </p:sp>
      <p:sp>
        <p:nvSpPr>
          <p:cNvPr id="14" name="Text 10"/>
          <p:cNvSpPr/>
          <p:nvPr/>
        </p:nvSpPr>
        <p:spPr>
          <a:xfrm>
            <a:off x="4211241" y="2230041"/>
            <a:ext cx="3299797" cy="639961"/>
          </a:xfrm>
          <a:prstGeom prst="rect">
            <a:avLst/>
          </a:prstGeom>
          <a:noFill/>
          <a:ln/>
        </p:spPr>
        <p:txBody>
          <a:bodyPr wrap="square" lIns="0" tIns="0" rIns="0" bIns="0" rtlCol="0" anchor="t"/>
          <a:lstStyle/>
          <a:p>
            <a:pPr marL="254000" indent="-254000" algn="l">
              <a:lnSpc>
                <a:spcPts val="1680"/>
              </a:lnSpc>
              <a:buSzPct val="100000"/>
              <a:buChar char="•"/>
            </a:pPr>
            <a:r>
              <a:rPr lang="en-US" sz="1200" dirty="0">
                <a:solidFill>
                  <a:srgbClr val="333333"/>
                </a:solidFill>
                <a:latin typeface="Open Sans" pitchFamily="34" charset="0"/>
                <a:ea typeface="Open Sans" pitchFamily="34" charset="-122"/>
                <a:cs typeface="Open Sans" pitchFamily="34" charset="-120"/>
              </a:rPr>
              <a:t>A specialist teacher at one school can teach students across several Academy schools.</a:t>
            </a:r>
            <a:endParaRPr lang="en-US" sz="1200" dirty="0"/>
          </a:p>
        </p:txBody>
      </p:sp>
      <p:sp>
        <p:nvSpPr>
          <p:cNvPr id="15" name="Text 11"/>
          <p:cNvSpPr/>
          <p:nvPr/>
        </p:nvSpPr>
        <p:spPr>
          <a:xfrm>
            <a:off x="4211241" y="2870002"/>
            <a:ext cx="3299797" cy="639961"/>
          </a:xfrm>
          <a:prstGeom prst="rect">
            <a:avLst/>
          </a:prstGeom>
          <a:noFill/>
          <a:ln/>
        </p:spPr>
        <p:txBody>
          <a:bodyPr wrap="square" lIns="0" tIns="0" rIns="0" bIns="0" rtlCol="0" anchor="t"/>
          <a:lstStyle/>
          <a:p>
            <a:pPr marL="254000" indent="-254000" algn="l">
              <a:lnSpc>
                <a:spcPts val="1680"/>
              </a:lnSpc>
              <a:buSzPct val="100000"/>
              <a:buChar char="•"/>
            </a:pPr>
            <a:r>
              <a:rPr lang="en-US" sz="1200" dirty="0">
                <a:solidFill>
                  <a:srgbClr val="333333"/>
                </a:solidFill>
                <a:latin typeface="Open Sans" pitchFamily="34" charset="0"/>
                <a:ea typeface="Open Sans" pitchFamily="34" charset="-122"/>
                <a:cs typeface="Open Sans" pitchFamily="34" charset="-120"/>
              </a:rPr>
              <a:t>University academics and industry experts reach many schools without repeated travel.</a:t>
            </a:r>
            <a:endParaRPr lang="en-US" sz="1200" dirty="0"/>
          </a:p>
        </p:txBody>
      </p:sp>
      <p:sp>
        <p:nvSpPr>
          <p:cNvPr id="16" name="Text 12"/>
          <p:cNvSpPr/>
          <p:nvPr/>
        </p:nvSpPr>
        <p:spPr>
          <a:xfrm>
            <a:off x="4211241" y="3509963"/>
            <a:ext cx="3299797" cy="639961"/>
          </a:xfrm>
          <a:prstGeom prst="rect">
            <a:avLst/>
          </a:prstGeom>
          <a:noFill/>
          <a:ln/>
        </p:spPr>
        <p:txBody>
          <a:bodyPr wrap="square" lIns="0" tIns="0" rIns="0" bIns="0" rtlCol="0" anchor="t"/>
          <a:lstStyle/>
          <a:p>
            <a:pPr marL="254000" indent="-254000" algn="l">
              <a:lnSpc>
                <a:spcPts val="1680"/>
              </a:lnSpc>
              <a:buSzPct val="100000"/>
              <a:buChar char="•"/>
            </a:pPr>
            <a:r>
              <a:rPr lang="en-US" sz="1200" dirty="0">
                <a:solidFill>
                  <a:srgbClr val="333333"/>
                </a:solidFill>
                <a:latin typeface="Open Sans" pitchFamily="34" charset="0"/>
                <a:ea typeface="Open Sans" pitchFamily="34" charset="-122"/>
                <a:cs typeface="Open Sans" pitchFamily="34" charset="-120"/>
              </a:rPr>
              <a:t>Regional schools join specialist experiences without the full cost of travel.</a:t>
            </a:r>
            <a:endParaRPr lang="en-US" sz="1200" dirty="0"/>
          </a:p>
        </p:txBody>
      </p:sp>
      <p:sp>
        <p:nvSpPr>
          <p:cNvPr id="17" name="Text 13"/>
          <p:cNvSpPr/>
          <p:nvPr/>
        </p:nvSpPr>
        <p:spPr>
          <a:xfrm>
            <a:off x="4211241" y="4149923"/>
            <a:ext cx="3299797" cy="426641"/>
          </a:xfrm>
          <a:prstGeom prst="rect">
            <a:avLst/>
          </a:prstGeom>
          <a:noFill/>
          <a:ln/>
        </p:spPr>
        <p:txBody>
          <a:bodyPr wrap="square" lIns="0" tIns="0" rIns="0" bIns="0" rtlCol="0" anchor="t"/>
          <a:lstStyle/>
          <a:p>
            <a:pPr marL="254000" indent="-254000" algn="l">
              <a:lnSpc>
                <a:spcPts val="1680"/>
              </a:lnSpc>
              <a:buSzPct val="100000"/>
              <a:buChar char="•"/>
            </a:pPr>
            <a:r>
              <a:rPr lang="en-US" sz="1200" dirty="0">
                <a:solidFill>
                  <a:srgbClr val="333333"/>
                </a:solidFill>
                <a:latin typeface="Open Sans" pitchFamily="34" charset="0"/>
                <a:ea typeface="Open Sans" pitchFamily="34" charset="-122"/>
                <a:cs typeface="Open Sans" pitchFamily="34" charset="-120"/>
              </a:rPr>
              <a:t>One expert lesson can inspire hundreds of students across the network.</a:t>
            </a:r>
            <a:endParaRPr lang="en-US" sz="1200" dirty="0"/>
          </a:p>
        </p:txBody>
      </p:sp>
      <p:sp>
        <p:nvSpPr>
          <p:cNvPr id="18" name="Shape 14"/>
          <p:cNvSpPr/>
          <p:nvPr/>
        </p:nvSpPr>
        <p:spPr>
          <a:xfrm>
            <a:off x="7823200" y="1531541"/>
            <a:ext cx="3606800" cy="3365103"/>
          </a:xfrm>
          <a:prstGeom prst="rect">
            <a:avLst/>
          </a:prstGeom>
          <a:solidFill>
            <a:srgbClr val="F4F8FC"/>
          </a:solidFill>
          <a:ln/>
        </p:spPr>
        <p:txBody>
          <a:bodyPr/>
          <a:lstStyle/>
          <a:p>
            <a:endParaRPr lang="en-AU"/>
          </a:p>
        </p:txBody>
      </p:sp>
      <p:sp>
        <p:nvSpPr>
          <p:cNvPr id="19" name="Shape 15"/>
          <p:cNvSpPr/>
          <p:nvPr/>
        </p:nvSpPr>
        <p:spPr>
          <a:xfrm>
            <a:off x="7823200" y="1531541"/>
            <a:ext cx="3606800" cy="38100"/>
          </a:xfrm>
          <a:prstGeom prst="rect">
            <a:avLst/>
          </a:prstGeom>
          <a:solidFill>
            <a:srgbClr val="EAB830"/>
          </a:solidFill>
          <a:ln/>
        </p:spPr>
        <p:txBody>
          <a:bodyPr/>
          <a:lstStyle/>
          <a:p>
            <a:endParaRPr lang="en-AU"/>
          </a:p>
        </p:txBody>
      </p:sp>
      <p:pic>
        <p:nvPicPr>
          <p:cNvPr id="20" name="Image 2" descr="Activity icon"/>
          <p:cNvPicPr>
            <a:picLocks noChangeAspect="1"/>
          </p:cNvPicPr>
          <p:nvPr/>
        </p:nvPicPr>
        <p:blipFill>
          <a:blip r:embed="rId5"/>
          <a:stretch>
            <a:fillRect/>
          </a:stretch>
        </p:blipFill>
        <p:spPr>
          <a:xfrm>
            <a:off x="8077200" y="1943001"/>
            <a:ext cx="279400" cy="279400"/>
          </a:xfrm>
          <a:prstGeom prst="rect">
            <a:avLst/>
          </a:prstGeom>
        </p:spPr>
      </p:pic>
      <p:sp>
        <p:nvSpPr>
          <p:cNvPr id="21" name="Text 16"/>
          <p:cNvSpPr/>
          <p:nvPr/>
        </p:nvSpPr>
        <p:spPr>
          <a:xfrm>
            <a:off x="8458200" y="1823641"/>
            <a:ext cx="2853690" cy="518120"/>
          </a:xfrm>
          <a:prstGeom prst="rect">
            <a:avLst/>
          </a:prstGeom>
          <a:noFill/>
          <a:ln/>
        </p:spPr>
        <p:txBody>
          <a:bodyPr wrap="square" lIns="0" tIns="0" rIns="0" bIns="0" rtlCol="0" anchor="t"/>
          <a:lstStyle/>
          <a:p>
            <a:pPr marL="0" indent="0" algn="l">
              <a:lnSpc>
                <a:spcPts val="2040"/>
              </a:lnSpc>
              <a:buNone/>
            </a:pPr>
            <a:r>
              <a:rPr lang="en-US" sz="1700" b="1" dirty="0">
                <a:solidFill>
                  <a:srgbClr val="005AA7"/>
                </a:solidFill>
                <a:latin typeface="Montserrat" pitchFamily="34" charset="0"/>
                <a:ea typeface="Montserrat" pitchFamily="34" charset="-122"/>
                <a:cs typeface="Montserrat" pitchFamily="34" charset="-120"/>
              </a:rPr>
              <a:t>Building lasting capability</a:t>
            </a:r>
            <a:endParaRPr lang="en-US" sz="1700" dirty="0"/>
          </a:p>
        </p:txBody>
      </p:sp>
      <p:sp>
        <p:nvSpPr>
          <p:cNvPr id="22" name="Text 17"/>
          <p:cNvSpPr/>
          <p:nvPr/>
        </p:nvSpPr>
        <p:spPr>
          <a:xfrm>
            <a:off x="8077200" y="2468761"/>
            <a:ext cx="3253740" cy="639961"/>
          </a:xfrm>
          <a:prstGeom prst="rect">
            <a:avLst/>
          </a:prstGeom>
          <a:noFill/>
          <a:ln/>
        </p:spPr>
        <p:txBody>
          <a:bodyPr wrap="square" lIns="0" tIns="0" rIns="0" bIns="0" rtlCol="0" anchor="t"/>
          <a:lstStyle/>
          <a:p>
            <a:pPr marL="0" indent="0" algn="l">
              <a:lnSpc>
                <a:spcPts val="1680"/>
              </a:lnSpc>
              <a:buNone/>
            </a:pPr>
            <a:r>
              <a:rPr lang="en-US" sz="1200" b="1" dirty="0">
                <a:solidFill>
                  <a:srgbClr val="005AA7"/>
                </a:solidFill>
                <a:latin typeface="Open Sans" pitchFamily="34" charset="0"/>
                <a:ea typeface="Open Sans" pitchFamily="34" charset="-122"/>
                <a:cs typeface="Open Sans" pitchFamily="34" charset="-120"/>
              </a:rPr>
              <a:t>Year 1</a:t>
            </a:r>
            <a:r>
              <a:rPr lang="en-US" sz="1200" dirty="0">
                <a:solidFill>
                  <a:srgbClr val="333333"/>
                </a:solidFill>
                <a:latin typeface="Open Sans" pitchFamily="34" charset="0"/>
                <a:ea typeface="Open Sans" pitchFamily="34" charset="-122"/>
                <a:cs typeface="Open Sans" pitchFamily="34" charset="-120"/>
              </a:rPr>
              <a:t> External experts and partners lead experiences while Lead Teachers build capability.</a:t>
            </a:r>
            <a:endParaRPr lang="en-US" sz="1200" dirty="0"/>
          </a:p>
        </p:txBody>
      </p:sp>
      <p:sp>
        <p:nvSpPr>
          <p:cNvPr id="23" name="Text 18"/>
          <p:cNvSpPr/>
          <p:nvPr/>
        </p:nvSpPr>
        <p:spPr>
          <a:xfrm>
            <a:off x="8077200" y="3235722"/>
            <a:ext cx="3253740" cy="639961"/>
          </a:xfrm>
          <a:prstGeom prst="rect">
            <a:avLst/>
          </a:prstGeom>
          <a:noFill/>
          <a:ln/>
        </p:spPr>
        <p:txBody>
          <a:bodyPr wrap="square" lIns="0" tIns="0" rIns="0" bIns="0" rtlCol="0" anchor="t"/>
          <a:lstStyle/>
          <a:p>
            <a:pPr marL="0" indent="0" algn="l">
              <a:lnSpc>
                <a:spcPts val="1680"/>
              </a:lnSpc>
              <a:buNone/>
            </a:pPr>
            <a:r>
              <a:rPr lang="en-US" sz="1200" b="1" dirty="0">
                <a:solidFill>
                  <a:srgbClr val="005AA7"/>
                </a:solidFill>
                <a:latin typeface="Open Sans" pitchFamily="34" charset="0"/>
                <a:ea typeface="Open Sans" pitchFamily="34" charset="-122"/>
                <a:cs typeface="Open Sans" pitchFamily="34" charset="-120"/>
              </a:rPr>
              <a:t>Year 2</a:t>
            </a:r>
            <a:r>
              <a:rPr lang="en-US" sz="1200" dirty="0">
                <a:solidFill>
                  <a:srgbClr val="333333"/>
                </a:solidFill>
                <a:latin typeface="Open Sans" pitchFamily="34" charset="0"/>
                <a:ea typeface="Open Sans" pitchFamily="34" charset="-122"/>
                <a:cs typeface="Open Sans" pitchFamily="34" charset="-120"/>
              </a:rPr>
              <a:t> Lead Teachers mentor colleagues and pre-service teachers and deliver professional learning.</a:t>
            </a:r>
            <a:endParaRPr lang="en-US" sz="1200" dirty="0"/>
          </a:p>
        </p:txBody>
      </p:sp>
      <p:sp>
        <p:nvSpPr>
          <p:cNvPr id="24" name="Text 19"/>
          <p:cNvSpPr/>
          <p:nvPr/>
        </p:nvSpPr>
        <p:spPr>
          <a:xfrm>
            <a:off x="8077200" y="4002683"/>
            <a:ext cx="3253740" cy="639961"/>
          </a:xfrm>
          <a:prstGeom prst="rect">
            <a:avLst/>
          </a:prstGeom>
          <a:noFill/>
          <a:ln/>
        </p:spPr>
        <p:txBody>
          <a:bodyPr wrap="square" lIns="0" tIns="0" rIns="0" bIns="0" rtlCol="0" anchor="t"/>
          <a:lstStyle/>
          <a:p>
            <a:pPr marL="0" indent="0" algn="l">
              <a:lnSpc>
                <a:spcPts val="1680"/>
              </a:lnSpc>
              <a:buNone/>
            </a:pPr>
            <a:r>
              <a:rPr lang="en-US" sz="1200" b="1" dirty="0">
                <a:solidFill>
                  <a:srgbClr val="005AA7"/>
                </a:solidFill>
                <a:latin typeface="Open Sans" pitchFamily="34" charset="0"/>
                <a:ea typeface="Open Sans" pitchFamily="34" charset="-122"/>
                <a:cs typeface="Open Sans" pitchFamily="34" charset="-120"/>
              </a:rPr>
              <a:t>Year 3</a:t>
            </a:r>
            <a:r>
              <a:rPr lang="en-US" sz="1200" dirty="0">
                <a:solidFill>
                  <a:srgbClr val="333333"/>
                </a:solidFill>
                <a:latin typeface="Open Sans" pitchFamily="34" charset="0"/>
                <a:ea typeface="Open Sans" pitchFamily="34" charset="-122"/>
                <a:cs typeface="Open Sans" pitchFamily="34" charset="-120"/>
              </a:rPr>
              <a:t> Experienced teachers train and mentor new schools as the Academy grows.</a:t>
            </a:r>
            <a:endParaRPr lang="en-US" sz="1200" dirty="0"/>
          </a:p>
        </p:txBody>
      </p:sp>
      <p:sp>
        <p:nvSpPr>
          <p:cNvPr id="25" name="Text 20"/>
          <p:cNvSpPr/>
          <p:nvPr/>
        </p:nvSpPr>
        <p:spPr>
          <a:xfrm>
            <a:off x="762000" y="6441480"/>
            <a:ext cx="8001000" cy="213320"/>
          </a:xfrm>
          <a:prstGeom prst="rect">
            <a:avLst/>
          </a:prstGeom>
          <a:noFill/>
          <a:ln/>
        </p:spPr>
        <p:txBody>
          <a:bodyPr wrap="square" lIns="0" tIns="0" rIns="0" bIns="0" rtlCol="0" anchor="t"/>
          <a:lstStyle/>
          <a:p>
            <a:pPr marL="0" indent="0" algn="l">
              <a:lnSpc>
                <a:spcPts val="1680"/>
              </a:lnSpc>
              <a:buNone/>
            </a:pPr>
            <a:r>
              <a:rPr lang="en-US" sz="1200" dirty="0">
                <a:solidFill>
                  <a:srgbClr val="6B6B6B"/>
                </a:solidFill>
                <a:latin typeface="Open Sans" pitchFamily="34" charset="0"/>
                <a:ea typeface="Open Sans" pitchFamily="34" charset="-122"/>
                <a:cs typeface="Open Sans" pitchFamily="34" charset="-120"/>
              </a:rPr>
              <a:t>Future Ready Skills Academy · frs.srczone.net</a:t>
            </a:r>
            <a:endParaRPr lang="en-US" sz="1200" dirty="0"/>
          </a:p>
        </p:txBody>
      </p:sp>
      <p:sp>
        <p:nvSpPr>
          <p:cNvPr id="26" name="Text 21"/>
          <p:cNvSpPr/>
          <p:nvPr/>
        </p:nvSpPr>
        <p:spPr>
          <a:xfrm>
            <a:off x="10083800" y="6441480"/>
            <a:ext cx="1346200" cy="213320"/>
          </a:xfrm>
          <a:prstGeom prst="rect">
            <a:avLst/>
          </a:prstGeom>
          <a:noFill/>
          <a:ln/>
        </p:spPr>
        <p:txBody>
          <a:bodyPr wrap="square" lIns="0" tIns="0" rIns="0" bIns="0" rtlCol="0" anchor="t"/>
          <a:lstStyle/>
          <a:p>
            <a:pPr marL="0" indent="0" algn="r">
              <a:lnSpc>
                <a:spcPts val="1680"/>
              </a:lnSpc>
              <a:buNone/>
            </a:pPr>
            <a:r>
              <a:rPr lang="en-US" sz="1200" dirty="0">
                <a:solidFill>
                  <a:srgbClr val="6B6B6B"/>
                </a:solidFill>
                <a:latin typeface="Open Sans" pitchFamily="34" charset="0"/>
                <a:ea typeface="Open Sans" pitchFamily="34" charset="-122"/>
                <a:cs typeface="Open Sans" pitchFamily="34" charset="-120"/>
              </a:rPr>
              <a:t>12 / 17</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62000" y="609600"/>
            <a:ext cx="11201400" cy="992981"/>
          </a:xfrm>
          <a:prstGeom prst="rect">
            <a:avLst/>
          </a:prstGeom>
          <a:noFill/>
          <a:ln/>
        </p:spPr>
        <p:txBody>
          <a:bodyPr wrap="square" lIns="0" tIns="0" rIns="0" bIns="0" rtlCol="0" anchor="t"/>
          <a:lstStyle/>
          <a:p>
            <a:pPr marL="0" indent="0" algn="l">
              <a:lnSpc>
                <a:spcPts val="3910"/>
              </a:lnSpc>
              <a:buNone/>
            </a:pPr>
            <a:r>
              <a:rPr lang="en-US" sz="3400" b="1" dirty="0">
                <a:solidFill>
                  <a:srgbClr val="005AA7"/>
                </a:solidFill>
                <a:latin typeface="Montserrat" pitchFamily="34" charset="0"/>
                <a:ea typeface="Montserrat" pitchFamily="34" charset="-122"/>
                <a:cs typeface="Montserrat" pitchFamily="34" charset="-120"/>
              </a:rPr>
              <a:t>The Academy App: plan a report in six questions</a:t>
            </a:r>
            <a:endParaRPr lang="en-US" sz="3400" dirty="0"/>
          </a:p>
        </p:txBody>
      </p:sp>
      <p:sp>
        <p:nvSpPr>
          <p:cNvPr id="3" name="Shape 1"/>
          <p:cNvSpPr/>
          <p:nvPr/>
        </p:nvSpPr>
        <p:spPr>
          <a:xfrm>
            <a:off x="762000" y="1716881"/>
            <a:ext cx="850900" cy="57150"/>
          </a:xfrm>
          <a:prstGeom prst="rect">
            <a:avLst/>
          </a:prstGeom>
          <a:solidFill>
            <a:srgbClr val="EAB830"/>
          </a:solidFill>
          <a:ln/>
        </p:spPr>
        <p:txBody>
          <a:bodyPr/>
          <a:lstStyle/>
          <a:p>
            <a:endParaRPr lang="en-AU"/>
          </a:p>
        </p:txBody>
      </p:sp>
      <p:sp>
        <p:nvSpPr>
          <p:cNvPr id="4" name="Shape 2"/>
          <p:cNvSpPr/>
          <p:nvPr/>
        </p:nvSpPr>
        <p:spPr>
          <a:xfrm>
            <a:off x="762000" y="1977231"/>
            <a:ext cx="3437434" cy="1441450"/>
          </a:xfrm>
          <a:prstGeom prst="rect">
            <a:avLst/>
          </a:prstGeom>
          <a:solidFill>
            <a:srgbClr val="F4F8FC"/>
          </a:solidFill>
          <a:ln/>
        </p:spPr>
        <p:txBody>
          <a:bodyPr/>
          <a:lstStyle/>
          <a:p>
            <a:endParaRPr lang="en-AU"/>
          </a:p>
        </p:txBody>
      </p:sp>
      <p:sp>
        <p:nvSpPr>
          <p:cNvPr id="5" name="Shape 3"/>
          <p:cNvSpPr/>
          <p:nvPr/>
        </p:nvSpPr>
        <p:spPr>
          <a:xfrm>
            <a:off x="762000" y="1977231"/>
            <a:ext cx="3437434" cy="38100"/>
          </a:xfrm>
          <a:prstGeom prst="rect">
            <a:avLst/>
          </a:prstGeom>
          <a:solidFill>
            <a:srgbClr val="00BED6"/>
          </a:solidFill>
          <a:ln/>
        </p:spPr>
        <p:txBody>
          <a:bodyPr/>
          <a:lstStyle/>
          <a:p>
            <a:endParaRPr lang="en-AU"/>
          </a:p>
        </p:txBody>
      </p:sp>
      <p:pic>
        <p:nvPicPr>
          <p:cNvPr id="6" name="Image 0" descr="Lightbulb icon"/>
          <p:cNvPicPr>
            <a:picLocks noChangeAspect="1"/>
          </p:cNvPicPr>
          <p:nvPr/>
        </p:nvPicPr>
        <p:blipFill>
          <a:blip r:embed="rId3"/>
          <a:stretch>
            <a:fillRect/>
          </a:stretch>
        </p:blipFill>
        <p:spPr>
          <a:xfrm>
            <a:off x="965200" y="2218531"/>
            <a:ext cx="254000" cy="254000"/>
          </a:xfrm>
          <a:prstGeom prst="rect">
            <a:avLst/>
          </a:prstGeom>
        </p:spPr>
      </p:pic>
      <p:sp>
        <p:nvSpPr>
          <p:cNvPr id="7" name="Text 4"/>
          <p:cNvSpPr/>
          <p:nvPr/>
        </p:nvSpPr>
        <p:spPr>
          <a:xfrm>
            <a:off x="1320800" y="2231231"/>
            <a:ext cx="1661666" cy="228600"/>
          </a:xfrm>
          <a:prstGeom prst="rect">
            <a:avLst/>
          </a:prstGeom>
          <a:noFill/>
          <a:ln/>
        </p:spPr>
        <p:txBody>
          <a:bodyPr wrap="square" lIns="0" tIns="0" rIns="0" bIns="0" rtlCol="0" anchor="t"/>
          <a:lstStyle/>
          <a:p>
            <a:pPr marL="0" indent="0" algn="l">
              <a:lnSpc>
                <a:spcPts val="1800"/>
              </a:lnSpc>
              <a:buNone/>
            </a:pPr>
            <a:r>
              <a:rPr lang="en-US" sz="1500" b="1" dirty="0">
                <a:solidFill>
                  <a:srgbClr val="005AA7"/>
                </a:solidFill>
                <a:latin typeface="Montserrat" pitchFamily="34" charset="0"/>
                <a:ea typeface="Montserrat" pitchFamily="34" charset="-122"/>
                <a:cs typeface="Montserrat" pitchFamily="34" charset="-120"/>
              </a:rPr>
              <a:t>AI learning plan</a:t>
            </a:r>
            <a:endParaRPr lang="en-US" sz="1500" dirty="0"/>
          </a:p>
        </p:txBody>
      </p:sp>
      <p:sp>
        <p:nvSpPr>
          <p:cNvPr id="8" name="Text 5"/>
          <p:cNvSpPr/>
          <p:nvPr/>
        </p:nvSpPr>
        <p:spPr>
          <a:xfrm>
            <a:off x="965200" y="2548731"/>
            <a:ext cx="3182585" cy="666750"/>
          </a:xfrm>
          <a:prstGeom prst="rect">
            <a:avLst/>
          </a:prstGeom>
          <a:noFill/>
          <a:ln/>
        </p:spPr>
        <p:txBody>
          <a:bodyPr wrap="square" lIns="0" tIns="0" rIns="0" bIns="0" rtlCol="0" anchor="t"/>
          <a:lstStyle/>
          <a:p>
            <a:pPr marL="0" indent="0" algn="l">
              <a:lnSpc>
                <a:spcPts val="1750"/>
              </a:lnSpc>
              <a:buNone/>
            </a:pPr>
            <a:r>
              <a:rPr lang="en-US" sz="1250" dirty="0">
                <a:solidFill>
                  <a:srgbClr val="333333"/>
                </a:solidFill>
                <a:latin typeface="Open Sans" pitchFamily="34" charset="0"/>
                <a:ea typeface="Open Sans" pitchFamily="34" charset="-122"/>
                <a:cs typeface="Open Sans" pitchFamily="34" charset="-120"/>
              </a:rPr>
              <a:t>Unit overview, key questions and a 4–6 lesson sequence, labelled as AI-assisted and checked by you.</a:t>
            </a:r>
            <a:endParaRPr lang="en-US" sz="1250" dirty="0"/>
          </a:p>
        </p:txBody>
      </p:sp>
      <p:sp>
        <p:nvSpPr>
          <p:cNvPr id="9" name="Shape 6"/>
          <p:cNvSpPr/>
          <p:nvPr/>
        </p:nvSpPr>
        <p:spPr>
          <a:xfrm>
            <a:off x="4377234" y="1977231"/>
            <a:ext cx="3437434" cy="1441450"/>
          </a:xfrm>
          <a:prstGeom prst="rect">
            <a:avLst/>
          </a:prstGeom>
          <a:solidFill>
            <a:srgbClr val="F4F8FC"/>
          </a:solidFill>
          <a:ln/>
        </p:spPr>
        <p:txBody>
          <a:bodyPr/>
          <a:lstStyle/>
          <a:p>
            <a:endParaRPr lang="en-AU"/>
          </a:p>
        </p:txBody>
      </p:sp>
      <p:sp>
        <p:nvSpPr>
          <p:cNvPr id="10" name="Shape 7"/>
          <p:cNvSpPr/>
          <p:nvPr/>
        </p:nvSpPr>
        <p:spPr>
          <a:xfrm>
            <a:off x="4377234" y="1977231"/>
            <a:ext cx="3437434" cy="38100"/>
          </a:xfrm>
          <a:prstGeom prst="rect">
            <a:avLst/>
          </a:prstGeom>
          <a:solidFill>
            <a:srgbClr val="005AA7"/>
          </a:solidFill>
          <a:ln/>
        </p:spPr>
        <p:txBody>
          <a:bodyPr/>
          <a:lstStyle/>
          <a:p>
            <a:endParaRPr lang="en-AU"/>
          </a:p>
        </p:txBody>
      </p:sp>
      <p:pic>
        <p:nvPicPr>
          <p:cNvPr id="11" name="Image 1" descr="CheckCircle icon"/>
          <p:cNvPicPr>
            <a:picLocks noChangeAspect="1"/>
          </p:cNvPicPr>
          <p:nvPr/>
        </p:nvPicPr>
        <p:blipFill>
          <a:blip r:embed="rId4"/>
          <a:stretch>
            <a:fillRect/>
          </a:stretch>
        </p:blipFill>
        <p:spPr>
          <a:xfrm>
            <a:off x="4580434" y="2218531"/>
            <a:ext cx="254000" cy="254000"/>
          </a:xfrm>
          <a:prstGeom prst="rect">
            <a:avLst/>
          </a:prstGeom>
        </p:spPr>
      </p:pic>
      <p:sp>
        <p:nvSpPr>
          <p:cNvPr id="12" name="Text 8"/>
          <p:cNvSpPr/>
          <p:nvPr/>
        </p:nvSpPr>
        <p:spPr>
          <a:xfrm>
            <a:off x="4936034" y="2231231"/>
            <a:ext cx="2076093" cy="228600"/>
          </a:xfrm>
          <a:prstGeom prst="rect">
            <a:avLst/>
          </a:prstGeom>
          <a:noFill/>
          <a:ln/>
        </p:spPr>
        <p:txBody>
          <a:bodyPr wrap="square" lIns="0" tIns="0" rIns="0" bIns="0" rtlCol="0" anchor="t"/>
          <a:lstStyle/>
          <a:p>
            <a:pPr marL="0" indent="0" algn="l">
              <a:lnSpc>
                <a:spcPts val="1800"/>
              </a:lnSpc>
              <a:buNone/>
            </a:pPr>
            <a:r>
              <a:rPr lang="en-US" sz="1500" b="1" dirty="0">
                <a:solidFill>
                  <a:srgbClr val="005AA7"/>
                </a:solidFill>
                <a:latin typeface="Montserrat" pitchFamily="34" charset="0"/>
                <a:ea typeface="Montserrat" pitchFamily="34" charset="-122"/>
                <a:cs typeface="Montserrat" pitchFamily="34" charset="-120"/>
              </a:rPr>
              <a:t>Intentions &amp; criteria</a:t>
            </a:r>
            <a:endParaRPr lang="en-US" sz="1500" dirty="0"/>
          </a:p>
        </p:txBody>
      </p:sp>
      <p:sp>
        <p:nvSpPr>
          <p:cNvPr id="13" name="Text 9"/>
          <p:cNvSpPr/>
          <p:nvPr/>
        </p:nvSpPr>
        <p:spPr>
          <a:xfrm>
            <a:off x="4580434" y="2548731"/>
            <a:ext cx="3182585" cy="666750"/>
          </a:xfrm>
          <a:prstGeom prst="rect">
            <a:avLst/>
          </a:prstGeom>
          <a:noFill/>
          <a:ln/>
        </p:spPr>
        <p:txBody>
          <a:bodyPr wrap="square" lIns="0" tIns="0" rIns="0" bIns="0" rtlCol="0" anchor="t"/>
          <a:lstStyle/>
          <a:p>
            <a:pPr marL="0" indent="0" algn="l">
              <a:lnSpc>
                <a:spcPts val="1750"/>
              </a:lnSpc>
              <a:buNone/>
            </a:pPr>
            <a:r>
              <a:rPr lang="en-US" sz="1250" dirty="0">
                <a:solidFill>
                  <a:srgbClr val="333333"/>
                </a:solidFill>
                <a:latin typeface="Open Sans" pitchFamily="34" charset="0"/>
                <a:ea typeface="Open Sans" pitchFamily="34" charset="-122"/>
                <a:cs typeface="Open Sans" pitchFamily="34" charset="-120"/>
              </a:rPr>
              <a:t>Learning intentions for the year level, with editable "I can" success criteria for your chosen skills.</a:t>
            </a:r>
            <a:endParaRPr lang="en-US" sz="1250" dirty="0"/>
          </a:p>
        </p:txBody>
      </p:sp>
      <p:sp>
        <p:nvSpPr>
          <p:cNvPr id="14" name="Shape 10"/>
          <p:cNvSpPr/>
          <p:nvPr/>
        </p:nvSpPr>
        <p:spPr>
          <a:xfrm>
            <a:off x="7992467" y="1977231"/>
            <a:ext cx="3437434" cy="1441450"/>
          </a:xfrm>
          <a:prstGeom prst="rect">
            <a:avLst/>
          </a:prstGeom>
          <a:solidFill>
            <a:srgbClr val="F4F8FC"/>
          </a:solidFill>
          <a:ln/>
        </p:spPr>
        <p:txBody>
          <a:bodyPr/>
          <a:lstStyle/>
          <a:p>
            <a:endParaRPr lang="en-AU"/>
          </a:p>
        </p:txBody>
      </p:sp>
      <p:sp>
        <p:nvSpPr>
          <p:cNvPr id="15" name="Shape 11"/>
          <p:cNvSpPr/>
          <p:nvPr/>
        </p:nvSpPr>
        <p:spPr>
          <a:xfrm>
            <a:off x="7992467" y="1977231"/>
            <a:ext cx="3437434" cy="38100"/>
          </a:xfrm>
          <a:prstGeom prst="rect">
            <a:avLst/>
          </a:prstGeom>
          <a:solidFill>
            <a:srgbClr val="EAB830"/>
          </a:solidFill>
          <a:ln/>
        </p:spPr>
        <p:txBody>
          <a:bodyPr/>
          <a:lstStyle/>
          <a:p>
            <a:endParaRPr lang="en-AU"/>
          </a:p>
        </p:txBody>
      </p:sp>
      <p:pic>
        <p:nvPicPr>
          <p:cNvPr id="16" name="Image 2" descr="Book icon"/>
          <p:cNvPicPr>
            <a:picLocks noChangeAspect="1"/>
          </p:cNvPicPr>
          <p:nvPr/>
        </p:nvPicPr>
        <p:blipFill>
          <a:blip r:embed="rId5"/>
          <a:stretch>
            <a:fillRect/>
          </a:stretch>
        </p:blipFill>
        <p:spPr>
          <a:xfrm>
            <a:off x="8195667" y="2218531"/>
            <a:ext cx="254000" cy="254000"/>
          </a:xfrm>
          <a:prstGeom prst="rect">
            <a:avLst/>
          </a:prstGeom>
        </p:spPr>
      </p:pic>
      <p:sp>
        <p:nvSpPr>
          <p:cNvPr id="17" name="Text 12"/>
          <p:cNvSpPr/>
          <p:nvPr/>
        </p:nvSpPr>
        <p:spPr>
          <a:xfrm>
            <a:off x="8551267" y="2231231"/>
            <a:ext cx="1722507" cy="228600"/>
          </a:xfrm>
          <a:prstGeom prst="rect">
            <a:avLst/>
          </a:prstGeom>
          <a:noFill/>
          <a:ln/>
        </p:spPr>
        <p:txBody>
          <a:bodyPr wrap="square" lIns="0" tIns="0" rIns="0" bIns="0" rtlCol="0" anchor="t"/>
          <a:lstStyle/>
          <a:p>
            <a:pPr marL="0" indent="0" algn="l">
              <a:lnSpc>
                <a:spcPts val="1800"/>
              </a:lnSpc>
              <a:buNone/>
            </a:pPr>
            <a:r>
              <a:rPr lang="en-US" sz="1500" b="1" dirty="0">
                <a:solidFill>
                  <a:srgbClr val="005AA7"/>
                </a:solidFill>
                <a:latin typeface="Montserrat" pitchFamily="34" charset="0"/>
                <a:ea typeface="Montserrat" pitchFamily="34" charset="-122"/>
                <a:cs typeface="Montserrat" pitchFamily="34" charset="-120"/>
              </a:rPr>
              <a:t>Curriculum links</a:t>
            </a:r>
            <a:endParaRPr lang="en-US" sz="1500" dirty="0"/>
          </a:p>
        </p:txBody>
      </p:sp>
      <p:sp>
        <p:nvSpPr>
          <p:cNvPr id="18" name="Text 13"/>
          <p:cNvSpPr/>
          <p:nvPr/>
        </p:nvSpPr>
        <p:spPr>
          <a:xfrm>
            <a:off x="8195667" y="2548731"/>
            <a:ext cx="3182585" cy="666750"/>
          </a:xfrm>
          <a:prstGeom prst="rect">
            <a:avLst/>
          </a:prstGeom>
          <a:noFill/>
          <a:ln/>
        </p:spPr>
        <p:txBody>
          <a:bodyPr wrap="square" lIns="0" tIns="0" rIns="0" bIns="0" rtlCol="0" anchor="t"/>
          <a:lstStyle/>
          <a:p>
            <a:pPr marL="0" indent="0" algn="l">
              <a:lnSpc>
                <a:spcPts val="1750"/>
              </a:lnSpc>
              <a:buNone/>
            </a:pPr>
            <a:r>
              <a:rPr lang="en-US" sz="1250" dirty="0">
                <a:solidFill>
                  <a:srgbClr val="333333"/>
                </a:solidFill>
                <a:latin typeface="Open Sans" pitchFamily="34" charset="0"/>
                <a:ea typeface="Open Sans" pitchFamily="34" charset="-122"/>
                <a:cs typeface="Open Sans" pitchFamily="34" charset="-120"/>
              </a:rPr>
              <a:t>WA Curriculum strand links, YEAWA entrepreneurial skills and WA STEM Learning Project modules.</a:t>
            </a:r>
            <a:endParaRPr lang="en-US" sz="1250" dirty="0"/>
          </a:p>
        </p:txBody>
      </p:sp>
      <p:sp>
        <p:nvSpPr>
          <p:cNvPr id="19" name="Shape 14"/>
          <p:cNvSpPr/>
          <p:nvPr/>
        </p:nvSpPr>
        <p:spPr>
          <a:xfrm>
            <a:off x="762000" y="3596481"/>
            <a:ext cx="3437434" cy="1441450"/>
          </a:xfrm>
          <a:prstGeom prst="rect">
            <a:avLst/>
          </a:prstGeom>
          <a:solidFill>
            <a:srgbClr val="F4F8FC"/>
          </a:solidFill>
          <a:ln/>
        </p:spPr>
        <p:txBody>
          <a:bodyPr/>
          <a:lstStyle/>
          <a:p>
            <a:endParaRPr lang="en-AU"/>
          </a:p>
        </p:txBody>
      </p:sp>
      <p:sp>
        <p:nvSpPr>
          <p:cNvPr id="20" name="Shape 15"/>
          <p:cNvSpPr/>
          <p:nvPr/>
        </p:nvSpPr>
        <p:spPr>
          <a:xfrm>
            <a:off x="762000" y="3596481"/>
            <a:ext cx="3437434" cy="38100"/>
          </a:xfrm>
          <a:prstGeom prst="rect">
            <a:avLst/>
          </a:prstGeom>
          <a:solidFill>
            <a:srgbClr val="EAB830"/>
          </a:solidFill>
          <a:ln/>
        </p:spPr>
        <p:txBody>
          <a:bodyPr/>
          <a:lstStyle/>
          <a:p>
            <a:endParaRPr lang="en-AU"/>
          </a:p>
        </p:txBody>
      </p:sp>
      <p:pic>
        <p:nvPicPr>
          <p:cNvPr id="21" name="Image 3" descr="Play icon"/>
          <p:cNvPicPr>
            <a:picLocks noChangeAspect="1"/>
          </p:cNvPicPr>
          <p:nvPr/>
        </p:nvPicPr>
        <p:blipFill>
          <a:blip r:embed="rId6"/>
          <a:stretch>
            <a:fillRect/>
          </a:stretch>
        </p:blipFill>
        <p:spPr>
          <a:xfrm>
            <a:off x="965200" y="3837781"/>
            <a:ext cx="254000" cy="254000"/>
          </a:xfrm>
          <a:prstGeom prst="rect">
            <a:avLst/>
          </a:prstGeom>
        </p:spPr>
      </p:pic>
      <p:sp>
        <p:nvSpPr>
          <p:cNvPr id="22" name="Text 16"/>
          <p:cNvSpPr/>
          <p:nvPr/>
        </p:nvSpPr>
        <p:spPr>
          <a:xfrm>
            <a:off x="1320800" y="3850481"/>
            <a:ext cx="1772305" cy="228600"/>
          </a:xfrm>
          <a:prstGeom prst="rect">
            <a:avLst/>
          </a:prstGeom>
          <a:noFill/>
          <a:ln/>
        </p:spPr>
        <p:txBody>
          <a:bodyPr wrap="square" lIns="0" tIns="0" rIns="0" bIns="0" rtlCol="0" anchor="t"/>
          <a:lstStyle/>
          <a:p>
            <a:pPr marL="0" indent="0" algn="l">
              <a:lnSpc>
                <a:spcPts val="1800"/>
              </a:lnSpc>
              <a:buNone/>
            </a:pPr>
            <a:r>
              <a:rPr lang="en-US" sz="1500" b="1" dirty="0">
                <a:solidFill>
                  <a:srgbClr val="005AA7"/>
                </a:solidFill>
                <a:latin typeface="Montserrat" pitchFamily="34" charset="0"/>
                <a:ea typeface="Montserrat" pitchFamily="34" charset="-122"/>
                <a:cs typeface="Montserrat" pitchFamily="34" charset="-120"/>
              </a:rPr>
              <a:t>Slides &amp; prompts</a:t>
            </a:r>
            <a:endParaRPr lang="en-US" sz="1500" dirty="0"/>
          </a:p>
        </p:txBody>
      </p:sp>
      <p:sp>
        <p:nvSpPr>
          <p:cNvPr id="23" name="Text 17"/>
          <p:cNvSpPr/>
          <p:nvPr/>
        </p:nvSpPr>
        <p:spPr>
          <a:xfrm>
            <a:off x="965200" y="4167981"/>
            <a:ext cx="3182585" cy="666750"/>
          </a:xfrm>
          <a:prstGeom prst="rect">
            <a:avLst/>
          </a:prstGeom>
          <a:noFill/>
          <a:ln/>
        </p:spPr>
        <p:txBody>
          <a:bodyPr wrap="square" lIns="0" tIns="0" rIns="0" bIns="0" rtlCol="0" anchor="t"/>
          <a:lstStyle/>
          <a:p>
            <a:pPr marL="0" indent="0" algn="l">
              <a:lnSpc>
                <a:spcPts val="1750"/>
              </a:lnSpc>
              <a:buNone/>
            </a:pPr>
            <a:r>
              <a:rPr lang="en-US" sz="1250" dirty="0">
                <a:solidFill>
                  <a:srgbClr val="333333"/>
                </a:solidFill>
                <a:latin typeface="Open Sans" pitchFamily="34" charset="0"/>
                <a:ea typeface="Open Sans" pitchFamily="34" charset="-122"/>
                <a:cs typeface="Open Sans" pitchFamily="34" charset="-120"/>
              </a:rPr>
              <a:t>Create a slide deck from your plan, or copy a lesson prompt for Chalkie and other AI tools.</a:t>
            </a:r>
            <a:endParaRPr lang="en-US" sz="1250" dirty="0"/>
          </a:p>
        </p:txBody>
      </p:sp>
      <p:sp>
        <p:nvSpPr>
          <p:cNvPr id="24" name="Shape 18"/>
          <p:cNvSpPr/>
          <p:nvPr/>
        </p:nvSpPr>
        <p:spPr>
          <a:xfrm>
            <a:off x="4377234" y="3596481"/>
            <a:ext cx="3437434" cy="1441450"/>
          </a:xfrm>
          <a:prstGeom prst="rect">
            <a:avLst/>
          </a:prstGeom>
          <a:solidFill>
            <a:srgbClr val="F4F8FC"/>
          </a:solidFill>
          <a:ln/>
        </p:spPr>
        <p:txBody>
          <a:bodyPr/>
          <a:lstStyle/>
          <a:p>
            <a:endParaRPr lang="en-AU"/>
          </a:p>
        </p:txBody>
      </p:sp>
      <p:sp>
        <p:nvSpPr>
          <p:cNvPr id="25" name="Shape 19"/>
          <p:cNvSpPr/>
          <p:nvPr/>
        </p:nvSpPr>
        <p:spPr>
          <a:xfrm>
            <a:off x="4377234" y="3596481"/>
            <a:ext cx="3437434" cy="38100"/>
          </a:xfrm>
          <a:prstGeom prst="rect">
            <a:avLst/>
          </a:prstGeom>
          <a:solidFill>
            <a:srgbClr val="00BED6"/>
          </a:solidFill>
          <a:ln/>
        </p:spPr>
        <p:txBody>
          <a:bodyPr/>
          <a:lstStyle/>
          <a:p>
            <a:endParaRPr lang="en-AU"/>
          </a:p>
        </p:txBody>
      </p:sp>
      <p:pic>
        <p:nvPicPr>
          <p:cNvPr id="26" name="Image 4" descr="Users icon"/>
          <p:cNvPicPr>
            <a:picLocks noChangeAspect="1"/>
          </p:cNvPicPr>
          <p:nvPr/>
        </p:nvPicPr>
        <p:blipFill>
          <a:blip r:embed="rId7"/>
          <a:stretch>
            <a:fillRect/>
          </a:stretch>
        </p:blipFill>
        <p:spPr>
          <a:xfrm>
            <a:off x="4580434" y="3837781"/>
            <a:ext cx="254000" cy="254000"/>
          </a:xfrm>
          <a:prstGeom prst="rect">
            <a:avLst/>
          </a:prstGeom>
        </p:spPr>
      </p:pic>
      <p:sp>
        <p:nvSpPr>
          <p:cNvPr id="27" name="Text 20"/>
          <p:cNvSpPr/>
          <p:nvPr/>
        </p:nvSpPr>
        <p:spPr>
          <a:xfrm>
            <a:off x="4936034" y="3850481"/>
            <a:ext cx="1950869" cy="228600"/>
          </a:xfrm>
          <a:prstGeom prst="rect">
            <a:avLst/>
          </a:prstGeom>
          <a:noFill/>
          <a:ln/>
        </p:spPr>
        <p:txBody>
          <a:bodyPr wrap="square" lIns="0" tIns="0" rIns="0" bIns="0" rtlCol="0" anchor="t"/>
          <a:lstStyle/>
          <a:p>
            <a:pPr marL="0" indent="0" algn="l">
              <a:lnSpc>
                <a:spcPts val="1800"/>
              </a:lnSpc>
              <a:buNone/>
            </a:pPr>
            <a:r>
              <a:rPr lang="en-US" sz="1500" b="1" dirty="0">
                <a:solidFill>
                  <a:srgbClr val="005AA7"/>
                </a:solidFill>
                <a:latin typeface="Montserrat" pitchFamily="34" charset="0"/>
                <a:ea typeface="Montserrat" pitchFamily="34" charset="-122"/>
                <a:cs typeface="Montserrat" pitchFamily="34" charset="-120"/>
              </a:rPr>
              <a:t>Experts &amp; partners</a:t>
            </a:r>
            <a:endParaRPr lang="en-US" sz="1500" dirty="0"/>
          </a:p>
        </p:txBody>
      </p:sp>
      <p:sp>
        <p:nvSpPr>
          <p:cNvPr id="28" name="Text 21"/>
          <p:cNvSpPr/>
          <p:nvPr/>
        </p:nvSpPr>
        <p:spPr>
          <a:xfrm>
            <a:off x="4580434" y="4167981"/>
            <a:ext cx="3182585" cy="666750"/>
          </a:xfrm>
          <a:prstGeom prst="rect">
            <a:avLst/>
          </a:prstGeom>
          <a:noFill/>
          <a:ln/>
        </p:spPr>
        <p:txBody>
          <a:bodyPr wrap="square" lIns="0" tIns="0" rIns="0" bIns="0" rtlCol="0" anchor="t"/>
          <a:lstStyle/>
          <a:p>
            <a:pPr marL="0" indent="0" algn="l">
              <a:lnSpc>
                <a:spcPts val="1750"/>
              </a:lnSpc>
              <a:buNone/>
            </a:pPr>
            <a:r>
              <a:rPr lang="en-US" sz="1250" dirty="0">
                <a:solidFill>
                  <a:srgbClr val="333333"/>
                </a:solidFill>
                <a:latin typeface="Open Sans" pitchFamily="34" charset="0"/>
                <a:ea typeface="Open Sans" pitchFamily="34" charset="-122"/>
                <a:cs typeface="Open Sans" pitchFamily="34" charset="-120"/>
              </a:rPr>
              <a:t>Request a guest talk, site visit or competition help from experts and industry partners who opt in.</a:t>
            </a:r>
            <a:endParaRPr lang="en-US" sz="1250" dirty="0"/>
          </a:p>
        </p:txBody>
      </p:sp>
      <p:sp>
        <p:nvSpPr>
          <p:cNvPr id="29" name="Shape 22"/>
          <p:cNvSpPr/>
          <p:nvPr/>
        </p:nvSpPr>
        <p:spPr>
          <a:xfrm>
            <a:off x="7992467" y="3596481"/>
            <a:ext cx="3437434" cy="1441450"/>
          </a:xfrm>
          <a:prstGeom prst="rect">
            <a:avLst/>
          </a:prstGeom>
          <a:solidFill>
            <a:srgbClr val="F4F8FC"/>
          </a:solidFill>
          <a:ln/>
        </p:spPr>
        <p:txBody>
          <a:bodyPr/>
          <a:lstStyle/>
          <a:p>
            <a:endParaRPr lang="en-AU"/>
          </a:p>
        </p:txBody>
      </p:sp>
      <p:sp>
        <p:nvSpPr>
          <p:cNvPr id="30" name="Shape 23"/>
          <p:cNvSpPr/>
          <p:nvPr/>
        </p:nvSpPr>
        <p:spPr>
          <a:xfrm>
            <a:off x="7992467" y="3596481"/>
            <a:ext cx="3437434" cy="38100"/>
          </a:xfrm>
          <a:prstGeom prst="rect">
            <a:avLst/>
          </a:prstGeom>
          <a:solidFill>
            <a:srgbClr val="005AA7"/>
          </a:solidFill>
          <a:ln/>
        </p:spPr>
        <p:txBody>
          <a:bodyPr/>
          <a:lstStyle/>
          <a:p>
            <a:endParaRPr lang="en-AU"/>
          </a:p>
        </p:txBody>
      </p:sp>
      <p:pic>
        <p:nvPicPr>
          <p:cNvPr id="31" name="Image 5" descr="Chart icon"/>
          <p:cNvPicPr>
            <a:picLocks noChangeAspect="1"/>
          </p:cNvPicPr>
          <p:nvPr/>
        </p:nvPicPr>
        <p:blipFill>
          <a:blip r:embed="rId8"/>
          <a:stretch>
            <a:fillRect/>
          </a:stretch>
        </p:blipFill>
        <p:spPr>
          <a:xfrm>
            <a:off x="8195667" y="3837781"/>
            <a:ext cx="254000" cy="254000"/>
          </a:xfrm>
          <a:prstGeom prst="rect">
            <a:avLst/>
          </a:prstGeom>
        </p:spPr>
      </p:pic>
      <p:sp>
        <p:nvSpPr>
          <p:cNvPr id="32" name="Text 24"/>
          <p:cNvSpPr/>
          <p:nvPr/>
        </p:nvSpPr>
        <p:spPr>
          <a:xfrm>
            <a:off x="8551267" y="3850481"/>
            <a:ext cx="1698441" cy="228600"/>
          </a:xfrm>
          <a:prstGeom prst="rect">
            <a:avLst/>
          </a:prstGeom>
          <a:noFill/>
          <a:ln/>
        </p:spPr>
        <p:txBody>
          <a:bodyPr wrap="square" lIns="0" tIns="0" rIns="0" bIns="0" rtlCol="0" anchor="t"/>
          <a:lstStyle/>
          <a:p>
            <a:pPr marL="0" indent="0" algn="l">
              <a:lnSpc>
                <a:spcPts val="1800"/>
              </a:lnSpc>
              <a:buNone/>
            </a:pPr>
            <a:r>
              <a:rPr lang="en-US" sz="1500" b="1" dirty="0">
                <a:solidFill>
                  <a:srgbClr val="005AA7"/>
                </a:solidFill>
                <a:latin typeface="Montserrat" pitchFamily="34" charset="0"/>
                <a:ea typeface="Montserrat" pitchFamily="34" charset="-122"/>
                <a:cs typeface="Montserrat" pitchFamily="34" charset="-120"/>
              </a:rPr>
              <a:t>Student surveys</a:t>
            </a:r>
            <a:endParaRPr lang="en-US" sz="1500" dirty="0"/>
          </a:p>
        </p:txBody>
      </p:sp>
      <p:sp>
        <p:nvSpPr>
          <p:cNvPr id="33" name="Text 25"/>
          <p:cNvSpPr/>
          <p:nvPr/>
        </p:nvSpPr>
        <p:spPr>
          <a:xfrm>
            <a:off x="8195667" y="4167981"/>
            <a:ext cx="3182585" cy="666750"/>
          </a:xfrm>
          <a:prstGeom prst="rect">
            <a:avLst/>
          </a:prstGeom>
          <a:noFill/>
          <a:ln/>
        </p:spPr>
        <p:txBody>
          <a:bodyPr wrap="square" lIns="0" tIns="0" rIns="0" bIns="0" rtlCol="0" anchor="t"/>
          <a:lstStyle/>
          <a:p>
            <a:pPr marL="0" indent="0" algn="l">
              <a:lnSpc>
                <a:spcPts val="1750"/>
              </a:lnSpc>
              <a:buNone/>
            </a:pPr>
            <a:r>
              <a:rPr lang="en-US" sz="1250" dirty="0">
                <a:solidFill>
                  <a:srgbClr val="333333"/>
                </a:solidFill>
                <a:latin typeface="Open Sans" pitchFamily="34" charset="0"/>
                <a:ea typeface="Open Sans" pitchFamily="34" charset="-122"/>
                <a:cs typeface="Open Sans" pitchFamily="34" charset="-120"/>
              </a:rPr>
              <a:t>Run start and end FRS surveys on a classroom device or students' own devices. No names are stored.</a:t>
            </a:r>
            <a:endParaRPr lang="en-US" sz="1250" dirty="0"/>
          </a:p>
        </p:txBody>
      </p:sp>
      <p:sp>
        <p:nvSpPr>
          <p:cNvPr id="34" name="Text 26"/>
          <p:cNvSpPr/>
          <p:nvPr/>
        </p:nvSpPr>
        <p:spPr>
          <a:xfrm>
            <a:off x="762000" y="6441480"/>
            <a:ext cx="8001000" cy="213320"/>
          </a:xfrm>
          <a:prstGeom prst="rect">
            <a:avLst/>
          </a:prstGeom>
          <a:noFill/>
          <a:ln/>
        </p:spPr>
        <p:txBody>
          <a:bodyPr wrap="square" lIns="0" tIns="0" rIns="0" bIns="0" rtlCol="0" anchor="t"/>
          <a:lstStyle/>
          <a:p>
            <a:pPr marL="0" indent="0" algn="l">
              <a:lnSpc>
                <a:spcPts val="1680"/>
              </a:lnSpc>
              <a:buNone/>
            </a:pPr>
            <a:r>
              <a:rPr lang="en-US" sz="1200" dirty="0">
                <a:solidFill>
                  <a:srgbClr val="6B6B6B"/>
                </a:solidFill>
                <a:latin typeface="Open Sans" pitchFamily="34" charset="0"/>
                <a:ea typeface="Open Sans" pitchFamily="34" charset="-122"/>
                <a:cs typeface="Open Sans" pitchFamily="34" charset="-120"/>
              </a:rPr>
              <a:t>Future Ready Skills Academy · frs.srczone.net</a:t>
            </a:r>
            <a:endParaRPr lang="en-US" sz="1200" dirty="0"/>
          </a:p>
        </p:txBody>
      </p:sp>
      <p:sp>
        <p:nvSpPr>
          <p:cNvPr id="35" name="Text 27"/>
          <p:cNvSpPr/>
          <p:nvPr/>
        </p:nvSpPr>
        <p:spPr>
          <a:xfrm>
            <a:off x="10083800" y="6441480"/>
            <a:ext cx="1346200" cy="213320"/>
          </a:xfrm>
          <a:prstGeom prst="rect">
            <a:avLst/>
          </a:prstGeom>
          <a:noFill/>
          <a:ln/>
        </p:spPr>
        <p:txBody>
          <a:bodyPr wrap="square" lIns="0" tIns="0" rIns="0" bIns="0" rtlCol="0" anchor="t"/>
          <a:lstStyle/>
          <a:p>
            <a:pPr marL="0" indent="0" algn="r">
              <a:lnSpc>
                <a:spcPts val="1680"/>
              </a:lnSpc>
              <a:buNone/>
            </a:pPr>
            <a:r>
              <a:rPr lang="en-US" sz="1200" dirty="0">
                <a:solidFill>
                  <a:srgbClr val="6B6B6B"/>
                </a:solidFill>
                <a:latin typeface="Open Sans" pitchFamily="34" charset="0"/>
                <a:ea typeface="Open Sans" pitchFamily="34" charset="-122"/>
                <a:cs typeface="Open Sans" pitchFamily="34" charset="-120"/>
              </a:rPr>
              <a:t>13 / 17</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62000" y="609600"/>
            <a:ext cx="11201400" cy="496491"/>
          </a:xfrm>
          <a:prstGeom prst="rect">
            <a:avLst/>
          </a:prstGeom>
          <a:noFill/>
          <a:ln/>
        </p:spPr>
        <p:txBody>
          <a:bodyPr wrap="square" lIns="0" tIns="0" rIns="0" bIns="0" rtlCol="0" anchor="t"/>
          <a:lstStyle/>
          <a:p>
            <a:pPr marL="0" indent="0" algn="l">
              <a:lnSpc>
                <a:spcPts val="3910"/>
              </a:lnSpc>
              <a:buNone/>
            </a:pPr>
            <a:r>
              <a:rPr lang="en-US" sz="3400" b="1" dirty="0">
                <a:solidFill>
                  <a:srgbClr val="005AA7"/>
                </a:solidFill>
                <a:latin typeface="Montserrat" pitchFamily="34" charset="0"/>
                <a:ea typeface="Montserrat" pitchFamily="34" charset="-122"/>
                <a:cs typeface="Montserrat" pitchFamily="34" charset="-120"/>
              </a:rPr>
              <a:t>One App for everyone</a:t>
            </a:r>
            <a:endParaRPr lang="en-US" sz="3400" dirty="0"/>
          </a:p>
        </p:txBody>
      </p:sp>
      <p:sp>
        <p:nvSpPr>
          <p:cNvPr id="3" name="Shape 1"/>
          <p:cNvSpPr/>
          <p:nvPr/>
        </p:nvSpPr>
        <p:spPr>
          <a:xfrm>
            <a:off x="762000" y="1220391"/>
            <a:ext cx="850900" cy="57150"/>
          </a:xfrm>
          <a:prstGeom prst="rect">
            <a:avLst/>
          </a:prstGeom>
          <a:solidFill>
            <a:srgbClr val="EAB830"/>
          </a:solidFill>
          <a:ln/>
        </p:spPr>
        <p:txBody>
          <a:bodyPr/>
          <a:lstStyle/>
          <a:p>
            <a:endParaRPr lang="en-AU"/>
          </a:p>
        </p:txBody>
      </p:sp>
      <p:sp>
        <p:nvSpPr>
          <p:cNvPr id="4" name="Shape 2"/>
          <p:cNvSpPr/>
          <p:nvPr/>
        </p:nvSpPr>
        <p:spPr>
          <a:xfrm>
            <a:off x="762000" y="1480741"/>
            <a:ext cx="2552700" cy="1958181"/>
          </a:xfrm>
          <a:prstGeom prst="rect">
            <a:avLst/>
          </a:prstGeom>
          <a:solidFill>
            <a:srgbClr val="F4F8FC"/>
          </a:solidFill>
          <a:ln/>
        </p:spPr>
        <p:txBody>
          <a:bodyPr/>
          <a:lstStyle/>
          <a:p>
            <a:endParaRPr lang="en-AU"/>
          </a:p>
        </p:txBody>
      </p:sp>
      <p:sp>
        <p:nvSpPr>
          <p:cNvPr id="5" name="Shape 3"/>
          <p:cNvSpPr/>
          <p:nvPr/>
        </p:nvSpPr>
        <p:spPr>
          <a:xfrm>
            <a:off x="762000" y="1480741"/>
            <a:ext cx="2552700" cy="38100"/>
          </a:xfrm>
          <a:prstGeom prst="rect">
            <a:avLst/>
          </a:prstGeom>
          <a:solidFill>
            <a:srgbClr val="00BED6"/>
          </a:solidFill>
          <a:ln/>
        </p:spPr>
        <p:txBody>
          <a:bodyPr/>
          <a:lstStyle/>
          <a:p>
            <a:endParaRPr lang="en-AU"/>
          </a:p>
        </p:txBody>
      </p:sp>
      <p:pic>
        <p:nvPicPr>
          <p:cNvPr id="6" name="Image 0" descr="GraduationCap icon"/>
          <p:cNvPicPr>
            <a:picLocks noChangeAspect="1"/>
          </p:cNvPicPr>
          <p:nvPr/>
        </p:nvPicPr>
        <p:blipFill>
          <a:blip r:embed="rId3"/>
          <a:stretch>
            <a:fillRect/>
          </a:stretch>
        </p:blipFill>
        <p:spPr>
          <a:xfrm>
            <a:off x="965200" y="1722041"/>
            <a:ext cx="279400" cy="279400"/>
          </a:xfrm>
          <a:prstGeom prst="rect">
            <a:avLst/>
          </a:prstGeom>
        </p:spPr>
      </p:pic>
      <p:sp>
        <p:nvSpPr>
          <p:cNvPr id="7" name="Text 4"/>
          <p:cNvSpPr/>
          <p:nvPr/>
        </p:nvSpPr>
        <p:spPr>
          <a:xfrm>
            <a:off x="965200" y="2077641"/>
            <a:ext cx="2253615" cy="228600"/>
          </a:xfrm>
          <a:prstGeom prst="rect">
            <a:avLst/>
          </a:prstGeom>
          <a:noFill/>
          <a:ln/>
        </p:spPr>
        <p:txBody>
          <a:bodyPr wrap="square" lIns="0" tIns="0" rIns="0" bIns="0" rtlCol="0" anchor="t"/>
          <a:lstStyle/>
          <a:p>
            <a:pPr marL="0" indent="0" algn="l">
              <a:lnSpc>
                <a:spcPts val="1800"/>
              </a:lnSpc>
              <a:buNone/>
            </a:pPr>
            <a:r>
              <a:rPr lang="en-US" sz="1500" b="1" dirty="0">
                <a:solidFill>
                  <a:srgbClr val="005AA7"/>
                </a:solidFill>
                <a:latin typeface="Montserrat" pitchFamily="34" charset="0"/>
                <a:ea typeface="Montserrat" pitchFamily="34" charset="-122"/>
                <a:cs typeface="Montserrat" pitchFamily="34" charset="-120"/>
              </a:rPr>
              <a:t>Teachers</a:t>
            </a:r>
            <a:endParaRPr lang="en-US" sz="1500" dirty="0"/>
          </a:p>
        </p:txBody>
      </p:sp>
      <p:sp>
        <p:nvSpPr>
          <p:cNvPr id="8" name="Text 5"/>
          <p:cNvSpPr/>
          <p:nvPr/>
        </p:nvSpPr>
        <p:spPr>
          <a:xfrm>
            <a:off x="965200" y="2382441"/>
            <a:ext cx="2253615" cy="853281"/>
          </a:xfrm>
          <a:prstGeom prst="rect">
            <a:avLst/>
          </a:prstGeom>
          <a:noFill/>
          <a:ln/>
        </p:spPr>
        <p:txBody>
          <a:bodyPr wrap="square" lIns="0" tIns="0" rIns="0" bIns="0" rtlCol="0" anchor="t"/>
          <a:lstStyle/>
          <a:p>
            <a:pPr marL="0" indent="0" algn="l">
              <a:lnSpc>
                <a:spcPts val="1680"/>
              </a:lnSpc>
              <a:buNone/>
            </a:pPr>
            <a:r>
              <a:rPr lang="en-US" sz="1200" dirty="0">
                <a:solidFill>
                  <a:srgbClr val="333333"/>
                </a:solidFill>
                <a:latin typeface="Open Sans" pitchFamily="34" charset="0"/>
                <a:ea typeface="Open Sans" pitchFamily="34" charset="-122"/>
                <a:cs typeface="Open Sans" pitchFamily="34" charset="-120"/>
              </a:rPr>
              <a:t>Plan reports, share your expertise in the directory, request experts and run student surveys.</a:t>
            </a:r>
            <a:endParaRPr lang="en-US" sz="1200" dirty="0"/>
          </a:p>
        </p:txBody>
      </p:sp>
      <p:sp>
        <p:nvSpPr>
          <p:cNvPr id="9" name="Shape 6"/>
          <p:cNvSpPr/>
          <p:nvPr/>
        </p:nvSpPr>
        <p:spPr>
          <a:xfrm>
            <a:off x="3467100" y="1480741"/>
            <a:ext cx="2552700" cy="1958181"/>
          </a:xfrm>
          <a:prstGeom prst="rect">
            <a:avLst/>
          </a:prstGeom>
          <a:solidFill>
            <a:srgbClr val="F4F8FC"/>
          </a:solidFill>
          <a:ln/>
        </p:spPr>
        <p:txBody>
          <a:bodyPr/>
          <a:lstStyle/>
          <a:p>
            <a:endParaRPr lang="en-AU"/>
          </a:p>
        </p:txBody>
      </p:sp>
      <p:sp>
        <p:nvSpPr>
          <p:cNvPr id="10" name="Shape 7"/>
          <p:cNvSpPr/>
          <p:nvPr/>
        </p:nvSpPr>
        <p:spPr>
          <a:xfrm>
            <a:off x="3467100" y="1480741"/>
            <a:ext cx="2552700" cy="38100"/>
          </a:xfrm>
          <a:prstGeom prst="rect">
            <a:avLst/>
          </a:prstGeom>
          <a:solidFill>
            <a:srgbClr val="005AA7"/>
          </a:solidFill>
          <a:ln/>
        </p:spPr>
        <p:txBody>
          <a:bodyPr/>
          <a:lstStyle/>
          <a:p>
            <a:endParaRPr lang="en-AU"/>
          </a:p>
        </p:txBody>
      </p:sp>
      <p:pic>
        <p:nvPicPr>
          <p:cNvPr id="11" name="Image 1" descr="Chart icon"/>
          <p:cNvPicPr>
            <a:picLocks noChangeAspect="1"/>
          </p:cNvPicPr>
          <p:nvPr/>
        </p:nvPicPr>
        <p:blipFill>
          <a:blip r:embed="rId4"/>
          <a:stretch>
            <a:fillRect/>
          </a:stretch>
        </p:blipFill>
        <p:spPr>
          <a:xfrm>
            <a:off x="3670300" y="1722041"/>
            <a:ext cx="279400" cy="279400"/>
          </a:xfrm>
          <a:prstGeom prst="rect">
            <a:avLst/>
          </a:prstGeom>
        </p:spPr>
      </p:pic>
      <p:sp>
        <p:nvSpPr>
          <p:cNvPr id="12" name="Text 8"/>
          <p:cNvSpPr/>
          <p:nvPr/>
        </p:nvSpPr>
        <p:spPr>
          <a:xfrm>
            <a:off x="3670300" y="2077641"/>
            <a:ext cx="2253615" cy="228600"/>
          </a:xfrm>
          <a:prstGeom prst="rect">
            <a:avLst/>
          </a:prstGeom>
          <a:noFill/>
          <a:ln/>
        </p:spPr>
        <p:txBody>
          <a:bodyPr wrap="square" lIns="0" tIns="0" rIns="0" bIns="0" rtlCol="0" anchor="t"/>
          <a:lstStyle/>
          <a:p>
            <a:pPr marL="0" indent="0" algn="l">
              <a:lnSpc>
                <a:spcPts val="1800"/>
              </a:lnSpc>
              <a:buNone/>
            </a:pPr>
            <a:r>
              <a:rPr lang="en-US" sz="1500" b="1" dirty="0">
                <a:solidFill>
                  <a:srgbClr val="005AA7"/>
                </a:solidFill>
                <a:latin typeface="Montserrat" pitchFamily="34" charset="0"/>
                <a:ea typeface="Montserrat" pitchFamily="34" charset="-122"/>
                <a:cs typeface="Montserrat" pitchFamily="34" charset="-120"/>
              </a:rPr>
              <a:t>School Leaders</a:t>
            </a:r>
            <a:endParaRPr lang="en-US" sz="1500" dirty="0"/>
          </a:p>
        </p:txBody>
      </p:sp>
      <p:sp>
        <p:nvSpPr>
          <p:cNvPr id="13" name="Text 9"/>
          <p:cNvSpPr/>
          <p:nvPr/>
        </p:nvSpPr>
        <p:spPr>
          <a:xfrm>
            <a:off x="3670300" y="2382441"/>
            <a:ext cx="2253615" cy="853281"/>
          </a:xfrm>
          <a:prstGeom prst="rect">
            <a:avLst/>
          </a:prstGeom>
          <a:noFill/>
          <a:ln/>
        </p:spPr>
        <p:txBody>
          <a:bodyPr wrap="square" lIns="0" tIns="0" rIns="0" bIns="0" rtlCol="0" anchor="t"/>
          <a:lstStyle/>
          <a:p>
            <a:pPr marL="0" indent="0" algn="l">
              <a:lnSpc>
                <a:spcPts val="1680"/>
              </a:lnSpc>
              <a:buNone/>
            </a:pPr>
            <a:r>
              <a:rPr lang="en-US" sz="1200" dirty="0">
                <a:solidFill>
                  <a:srgbClr val="333333"/>
                </a:solidFill>
                <a:latin typeface="Open Sans" pitchFamily="34" charset="0"/>
                <a:ea typeface="Open Sans" pitchFamily="34" charset="-122"/>
                <a:cs typeface="Open Sans" pitchFamily="34" charset="-120"/>
              </a:rPr>
              <a:t>A School console with reports, topics, FRS focus and survey results, plus printable summaries.</a:t>
            </a:r>
            <a:endParaRPr lang="en-US" sz="1200" dirty="0"/>
          </a:p>
        </p:txBody>
      </p:sp>
      <p:sp>
        <p:nvSpPr>
          <p:cNvPr id="14" name="Shape 10"/>
          <p:cNvSpPr/>
          <p:nvPr/>
        </p:nvSpPr>
        <p:spPr>
          <a:xfrm>
            <a:off x="6172200" y="1480741"/>
            <a:ext cx="2552700" cy="1958181"/>
          </a:xfrm>
          <a:prstGeom prst="rect">
            <a:avLst/>
          </a:prstGeom>
          <a:solidFill>
            <a:srgbClr val="F4F8FC"/>
          </a:solidFill>
          <a:ln/>
        </p:spPr>
        <p:txBody>
          <a:bodyPr/>
          <a:lstStyle/>
          <a:p>
            <a:endParaRPr lang="en-AU"/>
          </a:p>
        </p:txBody>
      </p:sp>
      <p:sp>
        <p:nvSpPr>
          <p:cNvPr id="15" name="Shape 11"/>
          <p:cNvSpPr/>
          <p:nvPr/>
        </p:nvSpPr>
        <p:spPr>
          <a:xfrm>
            <a:off x="6172200" y="1480741"/>
            <a:ext cx="2552700" cy="38100"/>
          </a:xfrm>
          <a:prstGeom prst="rect">
            <a:avLst/>
          </a:prstGeom>
          <a:solidFill>
            <a:srgbClr val="EAB830"/>
          </a:solidFill>
          <a:ln/>
        </p:spPr>
        <p:txBody>
          <a:bodyPr/>
          <a:lstStyle/>
          <a:p>
            <a:endParaRPr lang="en-AU"/>
          </a:p>
        </p:txBody>
      </p:sp>
      <p:pic>
        <p:nvPicPr>
          <p:cNvPr id="16" name="Image 2" descr="Tool icon"/>
          <p:cNvPicPr>
            <a:picLocks noChangeAspect="1"/>
          </p:cNvPicPr>
          <p:nvPr/>
        </p:nvPicPr>
        <p:blipFill>
          <a:blip r:embed="rId5"/>
          <a:stretch>
            <a:fillRect/>
          </a:stretch>
        </p:blipFill>
        <p:spPr>
          <a:xfrm>
            <a:off x="6375400" y="1722041"/>
            <a:ext cx="279400" cy="279400"/>
          </a:xfrm>
          <a:prstGeom prst="rect">
            <a:avLst/>
          </a:prstGeom>
        </p:spPr>
      </p:pic>
      <p:sp>
        <p:nvSpPr>
          <p:cNvPr id="17" name="Text 12"/>
          <p:cNvSpPr/>
          <p:nvPr/>
        </p:nvSpPr>
        <p:spPr>
          <a:xfrm>
            <a:off x="6375400" y="2077641"/>
            <a:ext cx="2253615" cy="228600"/>
          </a:xfrm>
          <a:prstGeom prst="rect">
            <a:avLst/>
          </a:prstGeom>
          <a:noFill/>
          <a:ln/>
        </p:spPr>
        <p:txBody>
          <a:bodyPr wrap="square" lIns="0" tIns="0" rIns="0" bIns="0" rtlCol="0" anchor="t"/>
          <a:lstStyle/>
          <a:p>
            <a:pPr marL="0" indent="0" algn="l">
              <a:lnSpc>
                <a:spcPts val="1800"/>
              </a:lnSpc>
              <a:buNone/>
            </a:pPr>
            <a:r>
              <a:rPr lang="en-US" sz="1500" b="1" dirty="0">
                <a:solidFill>
                  <a:srgbClr val="005AA7"/>
                </a:solidFill>
                <a:latin typeface="Montserrat" pitchFamily="34" charset="0"/>
                <a:ea typeface="Montserrat" pitchFamily="34" charset="-122"/>
                <a:cs typeface="Montserrat" pitchFamily="34" charset="-120"/>
              </a:rPr>
              <a:t>Partners &amp; experts</a:t>
            </a:r>
            <a:endParaRPr lang="en-US" sz="1500" dirty="0"/>
          </a:p>
        </p:txBody>
      </p:sp>
      <p:sp>
        <p:nvSpPr>
          <p:cNvPr id="18" name="Text 13"/>
          <p:cNvSpPr/>
          <p:nvPr/>
        </p:nvSpPr>
        <p:spPr>
          <a:xfrm>
            <a:off x="6375400" y="2382441"/>
            <a:ext cx="2253615" cy="853281"/>
          </a:xfrm>
          <a:prstGeom prst="rect">
            <a:avLst/>
          </a:prstGeom>
          <a:noFill/>
          <a:ln/>
        </p:spPr>
        <p:txBody>
          <a:bodyPr wrap="square" lIns="0" tIns="0" rIns="0" bIns="0" rtlCol="0" anchor="t"/>
          <a:lstStyle/>
          <a:p>
            <a:pPr marL="0" indent="0" algn="l">
              <a:lnSpc>
                <a:spcPts val="1680"/>
              </a:lnSpc>
              <a:buNone/>
            </a:pPr>
            <a:r>
              <a:rPr lang="en-US" sz="1200" dirty="0">
                <a:solidFill>
                  <a:srgbClr val="333333"/>
                </a:solidFill>
                <a:latin typeface="Open Sans" pitchFamily="34" charset="0"/>
                <a:ea typeface="Open Sans" pitchFamily="34" charset="-122"/>
                <a:cs typeface="Open Sans" pitchFamily="34" charset="-120"/>
              </a:rPr>
              <a:t>Offer guest talks, site visits, competition help or sponsorship, and answer teacher requests.</a:t>
            </a:r>
            <a:endParaRPr lang="en-US" sz="1200" dirty="0"/>
          </a:p>
        </p:txBody>
      </p:sp>
      <p:sp>
        <p:nvSpPr>
          <p:cNvPr id="19" name="Shape 14"/>
          <p:cNvSpPr/>
          <p:nvPr/>
        </p:nvSpPr>
        <p:spPr>
          <a:xfrm>
            <a:off x="8877300" y="1480741"/>
            <a:ext cx="2552700" cy="1958181"/>
          </a:xfrm>
          <a:prstGeom prst="rect">
            <a:avLst/>
          </a:prstGeom>
          <a:solidFill>
            <a:srgbClr val="F4F8FC"/>
          </a:solidFill>
          <a:ln/>
        </p:spPr>
        <p:txBody>
          <a:bodyPr/>
          <a:lstStyle/>
          <a:p>
            <a:endParaRPr lang="en-AU"/>
          </a:p>
        </p:txBody>
      </p:sp>
      <p:sp>
        <p:nvSpPr>
          <p:cNvPr id="20" name="Shape 15"/>
          <p:cNvSpPr/>
          <p:nvPr/>
        </p:nvSpPr>
        <p:spPr>
          <a:xfrm>
            <a:off x="8877300" y="1480741"/>
            <a:ext cx="2552700" cy="38100"/>
          </a:xfrm>
          <a:prstGeom prst="rect">
            <a:avLst/>
          </a:prstGeom>
          <a:solidFill>
            <a:srgbClr val="00BED6"/>
          </a:solidFill>
          <a:ln/>
        </p:spPr>
        <p:txBody>
          <a:bodyPr/>
          <a:lstStyle/>
          <a:p>
            <a:endParaRPr lang="en-AU"/>
          </a:p>
        </p:txBody>
      </p:sp>
      <p:pic>
        <p:nvPicPr>
          <p:cNvPr id="21" name="Image 3" descr="Globe icon"/>
          <p:cNvPicPr>
            <a:picLocks noChangeAspect="1"/>
          </p:cNvPicPr>
          <p:nvPr/>
        </p:nvPicPr>
        <p:blipFill>
          <a:blip r:embed="rId6"/>
          <a:stretch>
            <a:fillRect/>
          </a:stretch>
        </p:blipFill>
        <p:spPr>
          <a:xfrm>
            <a:off x="9080500" y="1722041"/>
            <a:ext cx="279400" cy="279400"/>
          </a:xfrm>
          <a:prstGeom prst="rect">
            <a:avLst/>
          </a:prstGeom>
        </p:spPr>
      </p:pic>
      <p:sp>
        <p:nvSpPr>
          <p:cNvPr id="22" name="Text 16"/>
          <p:cNvSpPr/>
          <p:nvPr/>
        </p:nvSpPr>
        <p:spPr>
          <a:xfrm>
            <a:off x="9080500" y="2077641"/>
            <a:ext cx="2253615" cy="228600"/>
          </a:xfrm>
          <a:prstGeom prst="rect">
            <a:avLst/>
          </a:prstGeom>
          <a:noFill/>
          <a:ln/>
        </p:spPr>
        <p:txBody>
          <a:bodyPr wrap="square" lIns="0" tIns="0" rIns="0" bIns="0" rtlCol="0" anchor="t"/>
          <a:lstStyle/>
          <a:p>
            <a:pPr marL="0" indent="0" algn="l">
              <a:lnSpc>
                <a:spcPts val="1800"/>
              </a:lnSpc>
              <a:buNone/>
            </a:pPr>
            <a:r>
              <a:rPr lang="en-US" sz="1500" b="1" dirty="0">
                <a:solidFill>
                  <a:srgbClr val="005AA7"/>
                </a:solidFill>
                <a:latin typeface="Montserrat" pitchFamily="34" charset="0"/>
                <a:ea typeface="Montserrat" pitchFamily="34" charset="-122"/>
                <a:cs typeface="Montserrat" pitchFamily="34" charset="-120"/>
              </a:rPr>
              <a:t>Everyone</a:t>
            </a:r>
            <a:endParaRPr lang="en-US" sz="1500" dirty="0"/>
          </a:p>
        </p:txBody>
      </p:sp>
      <p:sp>
        <p:nvSpPr>
          <p:cNvPr id="23" name="Text 17"/>
          <p:cNvSpPr/>
          <p:nvPr/>
        </p:nvSpPr>
        <p:spPr>
          <a:xfrm>
            <a:off x="9080500" y="2382441"/>
            <a:ext cx="2253615" cy="853281"/>
          </a:xfrm>
          <a:prstGeom prst="rect">
            <a:avLst/>
          </a:prstGeom>
          <a:noFill/>
          <a:ln/>
        </p:spPr>
        <p:txBody>
          <a:bodyPr wrap="square" lIns="0" tIns="0" rIns="0" bIns="0" rtlCol="0" anchor="t"/>
          <a:lstStyle/>
          <a:p>
            <a:pPr marL="0" indent="0" algn="l">
              <a:lnSpc>
                <a:spcPts val="1680"/>
              </a:lnSpc>
              <a:buNone/>
            </a:pPr>
            <a:r>
              <a:rPr lang="en-US" sz="1200" dirty="0">
                <a:solidFill>
                  <a:srgbClr val="333333"/>
                </a:solidFill>
                <a:latin typeface="Open Sans" pitchFamily="34" charset="0"/>
                <a:ea typeface="Open Sans" pitchFamily="34" charset="-122"/>
                <a:cs typeface="Open Sans" pitchFamily="34" charset="-120"/>
              </a:rPr>
              <a:t>The FRS framework, resources, Academy Schools, a competitions and events calendar, and Help.</a:t>
            </a:r>
            <a:endParaRPr lang="en-US" sz="1200" dirty="0"/>
          </a:p>
        </p:txBody>
      </p:sp>
      <p:sp>
        <p:nvSpPr>
          <p:cNvPr id="24" name="Shape 18"/>
          <p:cNvSpPr/>
          <p:nvPr/>
        </p:nvSpPr>
        <p:spPr>
          <a:xfrm>
            <a:off x="762000" y="3642122"/>
            <a:ext cx="5257800" cy="1325761"/>
          </a:xfrm>
          <a:prstGeom prst="rect">
            <a:avLst/>
          </a:prstGeom>
          <a:solidFill>
            <a:srgbClr val="F4F8FC"/>
          </a:solidFill>
          <a:ln/>
        </p:spPr>
        <p:txBody>
          <a:bodyPr/>
          <a:lstStyle/>
          <a:p>
            <a:endParaRPr lang="en-AU"/>
          </a:p>
        </p:txBody>
      </p:sp>
      <p:pic>
        <p:nvPicPr>
          <p:cNvPr id="25" name="Image 4" descr="Lock icon"/>
          <p:cNvPicPr>
            <a:picLocks noChangeAspect="1"/>
          </p:cNvPicPr>
          <p:nvPr/>
        </p:nvPicPr>
        <p:blipFill>
          <a:blip r:embed="rId7"/>
          <a:stretch>
            <a:fillRect/>
          </a:stretch>
        </p:blipFill>
        <p:spPr>
          <a:xfrm>
            <a:off x="965200" y="3845322"/>
            <a:ext cx="304800" cy="304800"/>
          </a:xfrm>
          <a:prstGeom prst="rect">
            <a:avLst/>
          </a:prstGeom>
        </p:spPr>
      </p:pic>
      <p:sp>
        <p:nvSpPr>
          <p:cNvPr id="26" name="Text 19"/>
          <p:cNvSpPr/>
          <p:nvPr/>
        </p:nvSpPr>
        <p:spPr>
          <a:xfrm>
            <a:off x="1422400" y="3845322"/>
            <a:ext cx="4613910" cy="228600"/>
          </a:xfrm>
          <a:prstGeom prst="rect">
            <a:avLst/>
          </a:prstGeom>
          <a:noFill/>
          <a:ln/>
        </p:spPr>
        <p:txBody>
          <a:bodyPr wrap="square" lIns="0" tIns="0" rIns="0" bIns="0" rtlCol="0" anchor="t"/>
          <a:lstStyle/>
          <a:p>
            <a:pPr marL="0" indent="0" algn="l">
              <a:lnSpc>
                <a:spcPts val="1800"/>
              </a:lnSpc>
              <a:buNone/>
            </a:pPr>
            <a:r>
              <a:rPr lang="en-US" sz="1500" b="1" dirty="0">
                <a:solidFill>
                  <a:srgbClr val="005AA7"/>
                </a:solidFill>
                <a:latin typeface="Montserrat" pitchFamily="34" charset="0"/>
                <a:ea typeface="Montserrat" pitchFamily="34" charset="-122"/>
                <a:cs typeface="Montserrat" pitchFamily="34" charset="-120"/>
              </a:rPr>
              <a:t>Privacy and AI by design</a:t>
            </a:r>
            <a:endParaRPr lang="en-US" sz="1500" dirty="0"/>
          </a:p>
        </p:txBody>
      </p:sp>
      <p:sp>
        <p:nvSpPr>
          <p:cNvPr id="27" name="Text 20"/>
          <p:cNvSpPr/>
          <p:nvPr/>
        </p:nvSpPr>
        <p:spPr>
          <a:xfrm>
            <a:off x="1422400" y="4124722"/>
            <a:ext cx="4613910" cy="639961"/>
          </a:xfrm>
          <a:prstGeom prst="rect">
            <a:avLst/>
          </a:prstGeom>
          <a:noFill/>
          <a:ln/>
        </p:spPr>
        <p:txBody>
          <a:bodyPr wrap="square" lIns="0" tIns="0" rIns="0" bIns="0" rtlCol="0" anchor="t"/>
          <a:lstStyle/>
          <a:p>
            <a:pPr marL="0" indent="0" algn="l">
              <a:lnSpc>
                <a:spcPts val="1680"/>
              </a:lnSpc>
              <a:buNone/>
            </a:pPr>
            <a:r>
              <a:rPr lang="en-US" sz="1200" dirty="0">
                <a:solidFill>
                  <a:srgbClr val="333333"/>
                </a:solidFill>
                <a:latin typeface="Open Sans" pitchFamily="34" charset="0"/>
                <a:ea typeface="Open Sans" pitchFamily="34" charset="-122"/>
                <a:cs typeface="Open Sans" pitchFamily="34" charset="-120"/>
              </a:rPr>
              <a:t>Contact details only for confirmed members, no student names in surveys, and AI plans labelled and checked by teachers.</a:t>
            </a:r>
            <a:endParaRPr lang="en-US" sz="1200" dirty="0"/>
          </a:p>
        </p:txBody>
      </p:sp>
      <p:pic>
        <p:nvPicPr>
          <p:cNvPr id="28" name="Image 5" descr="/home/claude/pptx/gen/grad3.png"/>
          <p:cNvPicPr>
            <a:picLocks noChangeAspect="1"/>
          </p:cNvPicPr>
          <p:nvPr/>
        </p:nvPicPr>
        <p:blipFill>
          <a:blip r:embed="rId8"/>
          <a:stretch>
            <a:fillRect/>
          </a:stretch>
        </p:blipFill>
        <p:spPr>
          <a:xfrm>
            <a:off x="6172200" y="3642122"/>
            <a:ext cx="5257800" cy="1325761"/>
          </a:xfrm>
          <a:prstGeom prst="rect">
            <a:avLst/>
          </a:prstGeom>
        </p:spPr>
      </p:pic>
      <p:pic>
        <p:nvPicPr>
          <p:cNvPr id="29" name="Image 6" descr="PaperPlane icon"/>
          <p:cNvPicPr>
            <a:picLocks noChangeAspect="1"/>
          </p:cNvPicPr>
          <p:nvPr/>
        </p:nvPicPr>
        <p:blipFill>
          <a:blip r:embed="rId9"/>
          <a:stretch>
            <a:fillRect/>
          </a:stretch>
        </p:blipFill>
        <p:spPr>
          <a:xfrm>
            <a:off x="6375400" y="3845322"/>
            <a:ext cx="304800" cy="304800"/>
          </a:xfrm>
          <a:prstGeom prst="rect">
            <a:avLst/>
          </a:prstGeom>
        </p:spPr>
      </p:pic>
      <p:sp>
        <p:nvSpPr>
          <p:cNvPr id="30" name="Text 21"/>
          <p:cNvSpPr/>
          <p:nvPr/>
        </p:nvSpPr>
        <p:spPr>
          <a:xfrm>
            <a:off x="6832600" y="3845322"/>
            <a:ext cx="4613910" cy="228600"/>
          </a:xfrm>
          <a:prstGeom prst="rect">
            <a:avLst/>
          </a:prstGeom>
          <a:noFill/>
          <a:ln/>
        </p:spPr>
        <p:txBody>
          <a:bodyPr wrap="square" lIns="0" tIns="0" rIns="0" bIns="0" rtlCol="0" anchor="t"/>
          <a:lstStyle/>
          <a:p>
            <a:pPr marL="0" indent="0" algn="l">
              <a:lnSpc>
                <a:spcPts val="1800"/>
              </a:lnSpc>
              <a:buNone/>
            </a:pPr>
            <a:r>
              <a:rPr lang="en-US" sz="1500" b="1" dirty="0">
                <a:solidFill>
                  <a:srgbClr val="FFFFFF"/>
                </a:solidFill>
                <a:latin typeface="Montserrat" pitchFamily="34" charset="0"/>
                <a:ea typeface="Montserrat" pitchFamily="34" charset="-122"/>
                <a:cs typeface="Montserrat" pitchFamily="34" charset="-120"/>
              </a:rPr>
              <a:t>Get started</a:t>
            </a:r>
            <a:endParaRPr lang="en-US" sz="1500" dirty="0"/>
          </a:p>
        </p:txBody>
      </p:sp>
      <p:sp>
        <p:nvSpPr>
          <p:cNvPr id="31" name="Text 22"/>
          <p:cNvSpPr/>
          <p:nvPr/>
        </p:nvSpPr>
        <p:spPr>
          <a:xfrm>
            <a:off x="6832600" y="4124722"/>
            <a:ext cx="4613910" cy="639961"/>
          </a:xfrm>
          <a:prstGeom prst="rect">
            <a:avLst/>
          </a:prstGeom>
          <a:noFill/>
          <a:ln/>
        </p:spPr>
        <p:txBody>
          <a:bodyPr wrap="square" lIns="0" tIns="0" rIns="0" bIns="0" rtlCol="0" anchor="t"/>
          <a:lstStyle/>
          <a:p>
            <a:pPr marL="0" indent="0" algn="l">
              <a:lnSpc>
                <a:spcPts val="1680"/>
              </a:lnSpc>
              <a:buNone/>
            </a:pPr>
            <a:r>
              <a:rPr lang="en-US" sz="1200" dirty="0">
                <a:solidFill>
                  <a:srgbClr val="FFFFFF"/>
                </a:solidFill>
                <a:latin typeface="Open Sans" pitchFamily="34" charset="0"/>
                <a:ea typeface="Open Sans" pitchFamily="34" charset="-122"/>
                <a:cs typeface="Open Sans" pitchFamily="34" charset="-120"/>
              </a:rPr>
              <a:t>Go to </a:t>
            </a:r>
            <a:r>
              <a:rPr lang="en-US" sz="1200" b="1" dirty="0">
                <a:solidFill>
                  <a:srgbClr val="FFFFFF"/>
                </a:solidFill>
                <a:latin typeface="Open Sans" pitchFamily="34" charset="0"/>
                <a:ea typeface="Open Sans" pitchFamily="34" charset="-122"/>
                <a:cs typeface="Open Sans" pitchFamily="34" charset="-120"/>
              </a:rPr>
              <a:t>frs.srczone.net</a:t>
            </a:r>
            <a:r>
              <a:rPr lang="en-US" sz="1200" dirty="0">
                <a:solidFill>
                  <a:srgbClr val="FFFFFF"/>
                </a:solidFill>
                <a:latin typeface="Open Sans" pitchFamily="34" charset="0"/>
                <a:ea typeface="Open Sans" pitchFamily="34" charset="-122"/>
                <a:cs typeface="Open Sans" pitchFamily="34" charset="-120"/>
              </a:rPr>
              <a:t> and choose your role. Use the Help and Feedback buttons on every page, or email frsadmin@srczone.net.</a:t>
            </a:r>
            <a:endParaRPr lang="en-US" sz="1200" dirty="0"/>
          </a:p>
        </p:txBody>
      </p:sp>
      <p:sp>
        <p:nvSpPr>
          <p:cNvPr id="32" name="Text 23"/>
          <p:cNvSpPr/>
          <p:nvPr/>
        </p:nvSpPr>
        <p:spPr>
          <a:xfrm>
            <a:off x="762000" y="6441480"/>
            <a:ext cx="8001000" cy="213320"/>
          </a:xfrm>
          <a:prstGeom prst="rect">
            <a:avLst/>
          </a:prstGeom>
          <a:noFill/>
          <a:ln/>
        </p:spPr>
        <p:txBody>
          <a:bodyPr wrap="square" lIns="0" tIns="0" rIns="0" bIns="0" rtlCol="0" anchor="t"/>
          <a:lstStyle/>
          <a:p>
            <a:pPr marL="0" indent="0" algn="l">
              <a:lnSpc>
                <a:spcPts val="1680"/>
              </a:lnSpc>
              <a:buNone/>
            </a:pPr>
            <a:r>
              <a:rPr lang="en-US" sz="1200" dirty="0">
                <a:solidFill>
                  <a:srgbClr val="6B6B6B"/>
                </a:solidFill>
                <a:latin typeface="Open Sans" pitchFamily="34" charset="0"/>
                <a:ea typeface="Open Sans" pitchFamily="34" charset="-122"/>
                <a:cs typeface="Open Sans" pitchFamily="34" charset="-120"/>
              </a:rPr>
              <a:t>Future Ready Skills Academy · frs.srczone.net</a:t>
            </a:r>
            <a:endParaRPr lang="en-US" sz="1200" dirty="0"/>
          </a:p>
        </p:txBody>
      </p:sp>
      <p:sp>
        <p:nvSpPr>
          <p:cNvPr id="33" name="Text 24"/>
          <p:cNvSpPr/>
          <p:nvPr/>
        </p:nvSpPr>
        <p:spPr>
          <a:xfrm>
            <a:off x="10083800" y="6441480"/>
            <a:ext cx="1346200" cy="213320"/>
          </a:xfrm>
          <a:prstGeom prst="rect">
            <a:avLst/>
          </a:prstGeom>
          <a:noFill/>
          <a:ln/>
        </p:spPr>
        <p:txBody>
          <a:bodyPr wrap="square" lIns="0" tIns="0" rIns="0" bIns="0" rtlCol="0" anchor="t"/>
          <a:lstStyle/>
          <a:p>
            <a:pPr marL="0" indent="0" algn="r">
              <a:lnSpc>
                <a:spcPts val="1680"/>
              </a:lnSpc>
              <a:buNone/>
            </a:pPr>
            <a:r>
              <a:rPr lang="en-US" sz="1200" dirty="0">
                <a:solidFill>
                  <a:srgbClr val="6B6B6B"/>
                </a:solidFill>
                <a:latin typeface="Open Sans" pitchFamily="34" charset="0"/>
                <a:ea typeface="Open Sans" pitchFamily="34" charset="-122"/>
                <a:cs typeface="Open Sans" pitchFamily="34" charset="-120"/>
              </a:rPr>
              <a:t>14 / 17</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62000" y="609600"/>
            <a:ext cx="11201400" cy="496491"/>
          </a:xfrm>
          <a:prstGeom prst="rect">
            <a:avLst/>
          </a:prstGeom>
          <a:noFill/>
          <a:ln/>
        </p:spPr>
        <p:txBody>
          <a:bodyPr wrap="square" lIns="0" tIns="0" rIns="0" bIns="0" rtlCol="0" anchor="t"/>
          <a:lstStyle/>
          <a:p>
            <a:pPr marL="0" indent="0" algn="l">
              <a:lnSpc>
                <a:spcPts val="3910"/>
              </a:lnSpc>
              <a:buNone/>
            </a:pPr>
            <a:r>
              <a:rPr lang="en-US" sz="3400" b="1" dirty="0">
                <a:solidFill>
                  <a:srgbClr val="005AA7"/>
                </a:solidFill>
                <a:latin typeface="Montserrat" pitchFamily="34" charset="0"/>
                <a:ea typeface="Montserrat" pitchFamily="34" charset="-122"/>
                <a:cs typeface="Montserrat" pitchFamily="34" charset="-120"/>
              </a:rPr>
              <a:t>Student surveys</a:t>
            </a:r>
            <a:endParaRPr lang="en-US" sz="3400" dirty="0"/>
          </a:p>
        </p:txBody>
      </p:sp>
      <p:sp>
        <p:nvSpPr>
          <p:cNvPr id="3" name="Shape 1"/>
          <p:cNvSpPr/>
          <p:nvPr/>
        </p:nvSpPr>
        <p:spPr>
          <a:xfrm>
            <a:off x="762000" y="1220391"/>
            <a:ext cx="850900" cy="57150"/>
          </a:xfrm>
          <a:prstGeom prst="rect">
            <a:avLst/>
          </a:prstGeom>
          <a:solidFill>
            <a:srgbClr val="EAB830"/>
          </a:solidFill>
          <a:ln/>
        </p:spPr>
        <p:txBody>
          <a:bodyPr/>
          <a:lstStyle/>
          <a:p>
            <a:endParaRPr lang="en-AU"/>
          </a:p>
        </p:txBody>
      </p:sp>
      <p:sp>
        <p:nvSpPr>
          <p:cNvPr id="4" name="Text 2"/>
          <p:cNvSpPr/>
          <p:nvPr/>
        </p:nvSpPr>
        <p:spPr>
          <a:xfrm>
            <a:off x="762000" y="1531541"/>
            <a:ext cx="6774180" cy="1137841"/>
          </a:xfrm>
          <a:prstGeom prst="rect">
            <a:avLst/>
          </a:prstGeom>
          <a:noFill/>
          <a:ln/>
        </p:spPr>
        <p:txBody>
          <a:bodyPr wrap="square" lIns="0" tIns="0" rIns="0" bIns="0" rtlCol="0" anchor="t"/>
          <a:lstStyle/>
          <a:p>
            <a:pPr marL="0" indent="0" algn="l">
              <a:lnSpc>
                <a:spcPts val="2240"/>
              </a:lnSpc>
              <a:buNone/>
            </a:pPr>
            <a:r>
              <a:rPr lang="en-US" sz="1600" dirty="0">
                <a:solidFill>
                  <a:srgbClr val="333333"/>
                </a:solidFill>
                <a:latin typeface="Open Sans" pitchFamily="34" charset="0"/>
                <a:ea typeface="Open Sans" pitchFamily="34" charset="-122"/>
                <a:cs typeface="Open Sans" pitchFamily="34" charset="-120"/>
              </a:rPr>
              <a:t>Run the survey after teaching a group what the Future Ready Skills are at the start of a year, semester or term. Survey again after reinforcement lessons in that period, so you have </a:t>
            </a:r>
            <a:r>
              <a:rPr lang="en-US" sz="1600" b="1" dirty="0">
                <a:solidFill>
                  <a:srgbClr val="333333"/>
                </a:solidFill>
                <a:latin typeface="Open Sans" pitchFamily="34" charset="0"/>
                <a:ea typeface="Open Sans" pitchFamily="34" charset="-122"/>
                <a:cs typeface="Open Sans" pitchFamily="34" charset="-120"/>
              </a:rPr>
              <a:t>pre and post</a:t>
            </a:r>
            <a:r>
              <a:rPr lang="en-US" sz="1600" dirty="0">
                <a:solidFill>
                  <a:srgbClr val="333333"/>
                </a:solidFill>
                <a:latin typeface="Open Sans" pitchFamily="34" charset="0"/>
                <a:ea typeface="Open Sans" pitchFamily="34" charset="-122"/>
                <a:cs typeface="Open Sans" pitchFamily="34" charset="-120"/>
              </a:rPr>
              <a:t> results.</a:t>
            </a:r>
            <a:endParaRPr lang="en-US" sz="1600" dirty="0"/>
          </a:p>
        </p:txBody>
      </p:sp>
      <p:sp>
        <p:nvSpPr>
          <p:cNvPr id="5" name="Text 3"/>
          <p:cNvSpPr/>
          <p:nvPr/>
        </p:nvSpPr>
        <p:spPr>
          <a:xfrm>
            <a:off x="762000" y="2847181"/>
            <a:ext cx="6774180" cy="1137841"/>
          </a:xfrm>
          <a:prstGeom prst="rect">
            <a:avLst/>
          </a:prstGeom>
          <a:noFill/>
          <a:ln/>
        </p:spPr>
        <p:txBody>
          <a:bodyPr wrap="square" lIns="0" tIns="0" rIns="0" bIns="0" rtlCol="0" anchor="t"/>
          <a:lstStyle/>
          <a:p>
            <a:pPr marL="0" indent="0" algn="l">
              <a:lnSpc>
                <a:spcPts val="2240"/>
              </a:lnSpc>
              <a:buNone/>
            </a:pPr>
            <a:r>
              <a:rPr lang="en-US" sz="1600" dirty="0">
                <a:solidFill>
                  <a:srgbClr val="333333"/>
                </a:solidFill>
                <a:latin typeface="Open Sans" pitchFamily="34" charset="0"/>
                <a:ea typeface="Open Sans" pitchFamily="34" charset="-122"/>
                <a:cs typeface="Open Sans" pitchFamily="34" charset="-120"/>
              </a:rPr>
              <a:t>Data is collected at Southern River College and shared with you as an Excel spreadsheet. Filter by your name or school to see your students' or school's results. The data will also be visualised, summarised and emailed to you.</a:t>
            </a:r>
            <a:endParaRPr lang="en-US" sz="1600" dirty="0"/>
          </a:p>
        </p:txBody>
      </p:sp>
      <p:sp>
        <p:nvSpPr>
          <p:cNvPr id="6" name="Text 4"/>
          <p:cNvSpPr/>
          <p:nvPr/>
        </p:nvSpPr>
        <p:spPr>
          <a:xfrm>
            <a:off x="622300" y="4162822"/>
            <a:ext cx="3073400" cy="452041"/>
          </a:xfrm>
          <a:prstGeom prst="rect">
            <a:avLst/>
          </a:prstGeom>
          <a:solidFill>
            <a:srgbClr val="005AA7"/>
          </a:solidFill>
          <a:ln/>
        </p:spPr>
        <p:txBody>
          <a:bodyPr wrap="none" lIns="203200" tIns="101600" rIns="203200" bIns="101600" rtlCol="0" anchor="ctr"/>
          <a:lstStyle/>
          <a:p>
            <a:pPr marL="0" indent="0" algn="l">
              <a:lnSpc>
                <a:spcPts val="1960"/>
              </a:lnSpc>
              <a:buNone/>
            </a:pPr>
            <a:r>
              <a:rPr lang="en-US" sz="1400" b="1" u="sng" kern="0" spc="50" dirty="0">
                <a:solidFill>
                  <a:srgbClr val="FFFFFF"/>
                </a:solidFill>
                <a:latin typeface="Montserrat" pitchFamily="34" charset="0"/>
                <a:ea typeface="Montserrat" pitchFamily="34" charset="-122"/>
                <a:cs typeface="Montserrat" pitchFamily="34" charset="-120"/>
                <a:hlinkClick r:id="rId3">
                  <a:extLst>
                    <a:ext uri="{A12FA001-AC4F-418D-AE19-62706E023703}">
                      <ahyp:hlinkClr xmlns:ahyp="http://schemas.microsoft.com/office/drawing/2018/hyperlinkcolor" val="tx"/>
                    </a:ext>
                  </a:extLst>
                </a:hlinkClick>
              </a:rPr>
              <a:t>Student surveys link →</a:t>
            </a:r>
            <a:endParaRPr lang="en-US" sz="1400" dirty="0"/>
          </a:p>
        </p:txBody>
      </p:sp>
      <p:sp>
        <p:nvSpPr>
          <p:cNvPr id="7" name="Shape 5"/>
          <p:cNvSpPr/>
          <p:nvPr/>
        </p:nvSpPr>
        <p:spPr>
          <a:xfrm>
            <a:off x="7620000" y="1531541"/>
            <a:ext cx="3810000" cy="2786063"/>
          </a:xfrm>
          <a:prstGeom prst="rect">
            <a:avLst/>
          </a:prstGeom>
          <a:solidFill>
            <a:srgbClr val="F4F8FC"/>
          </a:solidFill>
          <a:ln/>
        </p:spPr>
        <p:txBody>
          <a:bodyPr/>
          <a:lstStyle/>
          <a:p>
            <a:endParaRPr lang="en-AU"/>
          </a:p>
        </p:txBody>
      </p:sp>
      <p:sp>
        <p:nvSpPr>
          <p:cNvPr id="8" name="Shape 6"/>
          <p:cNvSpPr/>
          <p:nvPr/>
        </p:nvSpPr>
        <p:spPr>
          <a:xfrm>
            <a:off x="7620000" y="1531541"/>
            <a:ext cx="3810000" cy="38100"/>
          </a:xfrm>
          <a:prstGeom prst="rect">
            <a:avLst/>
          </a:prstGeom>
          <a:solidFill>
            <a:srgbClr val="00BED6"/>
          </a:solidFill>
          <a:ln/>
        </p:spPr>
        <p:txBody>
          <a:bodyPr/>
          <a:lstStyle/>
          <a:p>
            <a:endParaRPr lang="en-AU"/>
          </a:p>
        </p:txBody>
      </p:sp>
      <p:pic>
        <p:nvPicPr>
          <p:cNvPr id="9" name="Image 0" descr="Icon of a teacher pointing to a board in front of students"/>
          <p:cNvPicPr>
            <a:picLocks noChangeAspect="1"/>
          </p:cNvPicPr>
          <p:nvPr/>
        </p:nvPicPr>
        <p:blipFill>
          <a:blip r:embed="rId4"/>
          <a:srcRect/>
          <a:stretch/>
        </p:blipFill>
        <p:spPr>
          <a:xfrm>
            <a:off x="7874000" y="1823641"/>
            <a:ext cx="889000" cy="889000"/>
          </a:xfrm>
          <a:prstGeom prst="rect">
            <a:avLst/>
          </a:prstGeom>
        </p:spPr>
      </p:pic>
      <p:sp>
        <p:nvSpPr>
          <p:cNvPr id="10" name="Text 7"/>
          <p:cNvSpPr/>
          <p:nvPr/>
        </p:nvSpPr>
        <p:spPr>
          <a:xfrm>
            <a:off x="7845003" y="2890441"/>
            <a:ext cx="637927" cy="307280"/>
          </a:xfrm>
          <a:prstGeom prst="rect">
            <a:avLst/>
          </a:prstGeom>
          <a:solidFill>
            <a:srgbClr val="005AA7"/>
          </a:solidFill>
          <a:ln/>
        </p:spPr>
        <p:txBody>
          <a:bodyPr wrap="none" lIns="114300" tIns="38100" rIns="114300" bIns="38100" rtlCol="0" anchor="ctr"/>
          <a:lstStyle/>
          <a:p>
            <a:pPr marL="0" indent="0" algn="l">
              <a:lnSpc>
                <a:spcPts val="1820"/>
              </a:lnSpc>
              <a:buNone/>
            </a:pPr>
            <a:r>
              <a:rPr lang="en-US" sz="1300" b="1" dirty="0">
                <a:solidFill>
                  <a:srgbClr val="FFFFFF"/>
                </a:solidFill>
                <a:latin typeface="Montserrat" pitchFamily="34" charset="0"/>
                <a:ea typeface="Montserrat" pitchFamily="34" charset="-122"/>
                <a:cs typeface="Montserrat" pitchFamily="34" charset="-120"/>
              </a:rPr>
              <a:t>PRE</a:t>
            </a:r>
            <a:endParaRPr lang="en-US" sz="1300" dirty="0"/>
          </a:p>
        </p:txBody>
      </p:sp>
      <p:sp>
        <p:nvSpPr>
          <p:cNvPr id="11" name="Text 8"/>
          <p:cNvSpPr/>
          <p:nvPr/>
        </p:nvSpPr>
        <p:spPr>
          <a:xfrm>
            <a:off x="8580934" y="2890441"/>
            <a:ext cx="2724820" cy="497681"/>
          </a:xfrm>
          <a:prstGeom prst="rect">
            <a:avLst/>
          </a:prstGeom>
          <a:noFill/>
          <a:ln/>
        </p:spPr>
        <p:txBody>
          <a:bodyPr wrap="square" lIns="0" tIns="0" rIns="0" bIns="0" rtlCol="0" anchor="t"/>
          <a:lstStyle/>
          <a:p>
            <a:pPr marL="0" indent="0" algn="l">
              <a:lnSpc>
                <a:spcPts val="1960"/>
              </a:lnSpc>
              <a:buNone/>
            </a:pPr>
            <a:r>
              <a:rPr lang="en-US" sz="1400" dirty="0">
                <a:solidFill>
                  <a:srgbClr val="333333"/>
                </a:solidFill>
                <a:latin typeface="Open Sans" pitchFamily="34" charset="0"/>
                <a:ea typeface="Open Sans" pitchFamily="34" charset="-122"/>
                <a:cs typeface="Open Sans" pitchFamily="34" charset="-120"/>
              </a:rPr>
              <a:t>After teaching what the Future Ready Skills are</a:t>
            </a:r>
            <a:endParaRPr lang="en-US" sz="1400" dirty="0"/>
          </a:p>
        </p:txBody>
      </p:sp>
      <p:sp>
        <p:nvSpPr>
          <p:cNvPr id="12" name="Text 9"/>
          <p:cNvSpPr/>
          <p:nvPr/>
        </p:nvSpPr>
        <p:spPr>
          <a:xfrm>
            <a:off x="7839273" y="3565922"/>
            <a:ext cx="763984" cy="307280"/>
          </a:xfrm>
          <a:prstGeom prst="rect">
            <a:avLst/>
          </a:prstGeom>
          <a:solidFill>
            <a:srgbClr val="EAB830"/>
          </a:solidFill>
          <a:ln/>
        </p:spPr>
        <p:txBody>
          <a:bodyPr wrap="none" lIns="114300" tIns="38100" rIns="114300" bIns="38100" rtlCol="0" anchor="ctr"/>
          <a:lstStyle/>
          <a:p>
            <a:pPr marL="0" indent="0" algn="l">
              <a:lnSpc>
                <a:spcPts val="1820"/>
              </a:lnSpc>
              <a:buNone/>
            </a:pPr>
            <a:r>
              <a:rPr lang="en-US" sz="1300" b="1" dirty="0">
                <a:solidFill>
                  <a:srgbClr val="23282D"/>
                </a:solidFill>
                <a:latin typeface="Montserrat" pitchFamily="34" charset="0"/>
                <a:ea typeface="Montserrat" pitchFamily="34" charset="-122"/>
                <a:cs typeface="Montserrat" pitchFamily="34" charset="-120"/>
              </a:rPr>
              <a:t>POST</a:t>
            </a:r>
            <a:endParaRPr lang="en-US" sz="1300" dirty="0"/>
          </a:p>
        </p:txBody>
      </p:sp>
      <p:sp>
        <p:nvSpPr>
          <p:cNvPr id="13" name="Text 10"/>
          <p:cNvSpPr/>
          <p:nvPr/>
        </p:nvSpPr>
        <p:spPr>
          <a:xfrm>
            <a:off x="8695531" y="3565922"/>
            <a:ext cx="2604492" cy="497681"/>
          </a:xfrm>
          <a:prstGeom prst="rect">
            <a:avLst/>
          </a:prstGeom>
          <a:noFill/>
          <a:ln/>
        </p:spPr>
        <p:txBody>
          <a:bodyPr wrap="square" lIns="0" tIns="0" rIns="0" bIns="0" rtlCol="0" anchor="t"/>
          <a:lstStyle/>
          <a:p>
            <a:pPr marL="0" indent="0" algn="l">
              <a:lnSpc>
                <a:spcPts val="1960"/>
              </a:lnSpc>
              <a:buNone/>
            </a:pPr>
            <a:r>
              <a:rPr lang="en-US" sz="1400" dirty="0">
                <a:solidFill>
                  <a:srgbClr val="333333"/>
                </a:solidFill>
                <a:latin typeface="Open Sans" pitchFamily="34" charset="0"/>
                <a:ea typeface="Open Sans" pitchFamily="34" charset="-122"/>
                <a:cs typeface="Open Sans" pitchFamily="34" charset="-120"/>
              </a:rPr>
              <a:t>After reinforcement lessons in that period</a:t>
            </a:r>
            <a:endParaRPr lang="en-US" sz="1400" dirty="0"/>
          </a:p>
        </p:txBody>
      </p:sp>
      <p:sp>
        <p:nvSpPr>
          <p:cNvPr id="14" name="Text 11"/>
          <p:cNvSpPr/>
          <p:nvPr/>
        </p:nvSpPr>
        <p:spPr>
          <a:xfrm>
            <a:off x="762000" y="6441480"/>
            <a:ext cx="8001000" cy="213320"/>
          </a:xfrm>
          <a:prstGeom prst="rect">
            <a:avLst/>
          </a:prstGeom>
          <a:noFill/>
          <a:ln/>
        </p:spPr>
        <p:txBody>
          <a:bodyPr wrap="square" lIns="0" tIns="0" rIns="0" bIns="0" rtlCol="0" anchor="t"/>
          <a:lstStyle/>
          <a:p>
            <a:pPr marL="0" indent="0" algn="l">
              <a:lnSpc>
                <a:spcPts val="1680"/>
              </a:lnSpc>
              <a:buNone/>
            </a:pPr>
            <a:r>
              <a:rPr lang="en-US" sz="1200" dirty="0">
                <a:solidFill>
                  <a:srgbClr val="6B6B6B"/>
                </a:solidFill>
                <a:latin typeface="Open Sans" pitchFamily="34" charset="0"/>
                <a:ea typeface="Open Sans" pitchFamily="34" charset="-122"/>
                <a:cs typeface="Open Sans" pitchFamily="34" charset="-120"/>
              </a:rPr>
              <a:t>Future Ready Skills Academy · frs.srczone.net</a:t>
            </a:r>
            <a:endParaRPr lang="en-US" sz="1200" dirty="0"/>
          </a:p>
        </p:txBody>
      </p:sp>
      <p:sp>
        <p:nvSpPr>
          <p:cNvPr id="15" name="Text 12"/>
          <p:cNvSpPr/>
          <p:nvPr/>
        </p:nvSpPr>
        <p:spPr>
          <a:xfrm>
            <a:off x="10083800" y="6441480"/>
            <a:ext cx="1346200" cy="213320"/>
          </a:xfrm>
          <a:prstGeom prst="rect">
            <a:avLst/>
          </a:prstGeom>
          <a:noFill/>
          <a:ln/>
        </p:spPr>
        <p:txBody>
          <a:bodyPr wrap="square" lIns="0" tIns="0" rIns="0" bIns="0" rtlCol="0" anchor="t"/>
          <a:lstStyle/>
          <a:p>
            <a:pPr marL="0" indent="0" algn="r">
              <a:lnSpc>
                <a:spcPts val="1680"/>
              </a:lnSpc>
              <a:buNone/>
            </a:pPr>
            <a:r>
              <a:rPr lang="en-US" sz="1200" dirty="0">
                <a:solidFill>
                  <a:srgbClr val="6B6B6B"/>
                </a:solidFill>
                <a:latin typeface="Open Sans" pitchFamily="34" charset="0"/>
                <a:ea typeface="Open Sans" pitchFamily="34" charset="-122"/>
                <a:cs typeface="Open Sans" pitchFamily="34" charset="-120"/>
              </a:rPr>
              <a:t>15 / 17</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62000" y="609600"/>
            <a:ext cx="11201400" cy="496491"/>
          </a:xfrm>
          <a:prstGeom prst="rect">
            <a:avLst/>
          </a:prstGeom>
          <a:noFill/>
          <a:ln/>
        </p:spPr>
        <p:txBody>
          <a:bodyPr wrap="square" lIns="0" tIns="0" rIns="0" bIns="0" rtlCol="0" anchor="t"/>
          <a:lstStyle/>
          <a:p>
            <a:pPr marL="0" indent="0" algn="l">
              <a:lnSpc>
                <a:spcPts val="3910"/>
              </a:lnSpc>
              <a:buNone/>
            </a:pPr>
            <a:r>
              <a:rPr lang="en-US" sz="3400" b="1" dirty="0">
                <a:solidFill>
                  <a:srgbClr val="005AA7"/>
                </a:solidFill>
                <a:latin typeface="Montserrat" pitchFamily="34" charset="0"/>
                <a:ea typeface="Montserrat" pitchFamily="34" charset="-122"/>
                <a:cs typeface="Montserrat" pitchFamily="34" charset="-120"/>
              </a:rPr>
              <a:t>Resources</a:t>
            </a:r>
            <a:endParaRPr lang="en-US" sz="3400" dirty="0"/>
          </a:p>
        </p:txBody>
      </p:sp>
      <p:sp>
        <p:nvSpPr>
          <p:cNvPr id="3" name="Shape 1"/>
          <p:cNvSpPr/>
          <p:nvPr/>
        </p:nvSpPr>
        <p:spPr>
          <a:xfrm>
            <a:off x="762000" y="1220391"/>
            <a:ext cx="850900" cy="57150"/>
          </a:xfrm>
          <a:prstGeom prst="rect">
            <a:avLst/>
          </a:prstGeom>
          <a:solidFill>
            <a:srgbClr val="EAB830"/>
          </a:solidFill>
          <a:ln/>
        </p:spPr>
        <p:txBody>
          <a:bodyPr/>
          <a:lstStyle/>
          <a:p>
            <a:endParaRPr lang="en-AU"/>
          </a:p>
        </p:txBody>
      </p:sp>
      <p:sp>
        <p:nvSpPr>
          <p:cNvPr id="4" name="Shape 2"/>
          <p:cNvSpPr/>
          <p:nvPr/>
        </p:nvSpPr>
        <p:spPr>
          <a:xfrm>
            <a:off x="762000" y="1531541"/>
            <a:ext cx="2921000" cy="2237383"/>
          </a:xfrm>
          <a:prstGeom prst="rect">
            <a:avLst/>
          </a:prstGeom>
          <a:solidFill>
            <a:srgbClr val="F4F8FC"/>
          </a:solidFill>
          <a:ln/>
        </p:spPr>
        <p:txBody>
          <a:bodyPr/>
          <a:lstStyle/>
          <a:p>
            <a:endParaRPr lang="en-AU"/>
          </a:p>
        </p:txBody>
      </p:sp>
      <p:sp>
        <p:nvSpPr>
          <p:cNvPr id="5" name="Shape 3"/>
          <p:cNvSpPr/>
          <p:nvPr/>
        </p:nvSpPr>
        <p:spPr>
          <a:xfrm>
            <a:off x="762000" y="1531541"/>
            <a:ext cx="2921000" cy="38100"/>
          </a:xfrm>
          <a:prstGeom prst="rect">
            <a:avLst/>
          </a:prstGeom>
          <a:solidFill>
            <a:srgbClr val="00BED6"/>
          </a:solidFill>
          <a:ln/>
        </p:spPr>
        <p:txBody>
          <a:bodyPr/>
          <a:lstStyle/>
          <a:p>
            <a:endParaRPr lang="en-AU"/>
          </a:p>
        </p:txBody>
      </p:sp>
      <p:pic>
        <p:nvPicPr>
          <p:cNvPr id="6" name="Image 0" descr="Book icon"/>
          <p:cNvPicPr>
            <a:picLocks noChangeAspect="1"/>
          </p:cNvPicPr>
          <p:nvPr/>
        </p:nvPicPr>
        <p:blipFill>
          <a:blip r:embed="rId3"/>
          <a:stretch>
            <a:fillRect/>
          </a:stretch>
        </p:blipFill>
        <p:spPr>
          <a:xfrm>
            <a:off x="990600" y="1798241"/>
            <a:ext cx="254000" cy="254000"/>
          </a:xfrm>
          <a:prstGeom prst="rect">
            <a:avLst/>
          </a:prstGeom>
        </p:spPr>
      </p:pic>
      <p:sp>
        <p:nvSpPr>
          <p:cNvPr id="7" name="Text 4"/>
          <p:cNvSpPr/>
          <p:nvPr/>
        </p:nvSpPr>
        <p:spPr>
          <a:xfrm>
            <a:off x="1333500" y="1803301"/>
            <a:ext cx="1272084" cy="243780"/>
          </a:xfrm>
          <a:prstGeom prst="rect">
            <a:avLst/>
          </a:prstGeom>
          <a:noFill/>
          <a:ln/>
        </p:spPr>
        <p:txBody>
          <a:bodyPr wrap="square" lIns="0" tIns="0" rIns="0" bIns="0" rtlCol="0" anchor="t"/>
          <a:lstStyle/>
          <a:p>
            <a:pPr marL="0" indent="0" algn="l">
              <a:lnSpc>
                <a:spcPts val="1920"/>
              </a:lnSpc>
              <a:buNone/>
            </a:pPr>
            <a:r>
              <a:rPr lang="en-US" sz="1600" b="1" dirty="0">
                <a:solidFill>
                  <a:srgbClr val="005AA7"/>
                </a:solidFill>
                <a:latin typeface="Montserrat" pitchFamily="34" charset="0"/>
                <a:ea typeface="Montserrat" pitchFamily="34" charset="-122"/>
                <a:cs typeface="Montserrat" pitchFamily="34" charset="-120"/>
              </a:rPr>
              <a:t>Downloads</a:t>
            </a:r>
            <a:endParaRPr lang="en-US" sz="1600" dirty="0"/>
          </a:p>
        </p:txBody>
      </p:sp>
      <p:sp>
        <p:nvSpPr>
          <p:cNvPr id="8" name="Text 5"/>
          <p:cNvSpPr/>
          <p:nvPr/>
        </p:nvSpPr>
        <p:spPr>
          <a:xfrm>
            <a:off x="951210" y="2153841"/>
            <a:ext cx="2615649" cy="231080"/>
          </a:xfrm>
          <a:prstGeom prst="rect">
            <a:avLst/>
          </a:prstGeom>
          <a:noFill/>
          <a:ln/>
        </p:spPr>
        <p:txBody>
          <a:bodyPr wrap="square" lIns="0" tIns="0" rIns="0" bIns="0" rtlCol="0" anchor="t"/>
          <a:lstStyle/>
          <a:p>
            <a:pPr marL="254000" indent="-254000" algn="l">
              <a:lnSpc>
                <a:spcPts val="1820"/>
              </a:lnSpc>
              <a:buSzPct val="100000"/>
              <a:buFont typeface="+mj-lt"/>
              <a:buAutoNum type="arabicPeriod"/>
            </a:pPr>
            <a:r>
              <a:rPr lang="en-US" sz="1300" dirty="0">
                <a:solidFill>
                  <a:srgbClr val="333333"/>
                </a:solidFill>
                <a:latin typeface="Open Sans" pitchFamily="34" charset="0"/>
                <a:ea typeface="Open Sans" pitchFamily="34" charset="-122"/>
                <a:cs typeface="Open Sans" pitchFamily="34" charset="-120"/>
              </a:rPr>
              <a:t>FRS progression statements</a:t>
            </a:r>
            <a:endParaRPr lang="en-US" sz="1300" dirty="0"/>
          </a:p>
        </p:txBody>
      </p:sp>
      <p:sp>
        <p:nvSpPr>
          <p:cNvPr id="9" name="Text 6"/>
          <p:cNvSpPr/>
          <p:nvPr/>
        </p:nvSpPr>
        <p:spPr>
          <a:xfrm>
            <a:off x="951210" y="2384921"/>
            <a:ext cx="2615649" cy="231080"/>
          </a:xfrm>
          <a:prstGeom prst="rect">
            <a:avLst/>
          </a:prstGeom>
          <a:noFill/>
          <a:ln/>
        </p:spPr>
        <p:txBody>
          <a:bodyPr wrap="square" lIns="0" tIns="0" rIns="0" bIns="0" rtlCol="0" anchor="t"/>
          <a:lstStyle/>
          <a:p>
            <a:pPr marL="254000" indent="-254000" algn="l">
              <a:lnSpc>
                <a:spcPts val="1820"/>
              </a:lnSpc>
              <a:buSzPct val="100000"/>
              <a:buFont typeface="+mj-lt"/>
              <a:buAutoNum type="arabicPeriod" startAt="2"/>
            </a:pPr>
            <a:r>
              <a:rPr lang="en-US" sz="1300" dirty="0">
                <a:solidFill>
                  <a:srgbClr val="333333"/>
                </a:solidFill>
                <a:latin typeface="Open Sans" pitchFamily="34" charset="0"/>
                <a:ea typeface="Open Sans" pitchFamily="34" charset="-122"/>
                <a:cs typeface="Open Sans" pitchFamily="34" charset="-120"/>
              </a:rPr>
              <a:t>Teacher PL presentations</a:t>
            </a:r>
            <a:endParaRPr lang="en-US" sz="1300" dirty="0"/>
          </a:p>
        </p:txBody>
      </p:sp>
      <p:sp>
        <p:nvSpPr>
          <p:cNvPr id="10" name="Text 7"/>
          <p:cNvSpPr/>
          <p:nvPr/>
        </p:nvSpPr>
        <p:spPr>
          <a:xfrm>
            <a:off x="951210" y="2616002"/>
            <a:ext cx="2615649" cy="231080"/>
          </a:xfrm>
          <a:prstGeom prst="rect">
            <a:avLst/>
          </a:prstGeom>
          <a:noFill/>
          <a:ln/>
        </p:spPr>
        <p:txBody>
          <a:bodyPr wrap="square" lIns="0" tIns="0" rIns="0" bIns="0" rtlCol="0" anchor="t"/>
          <a:lstStyle/>
          <a:p>
            <a:pPr marL="254000" indent="-254000" algn="l">
              <a:lnSpc>
                <a:spcPts val="1820"/>
              </a:lnSpc>
              <a:buSzPct val="100000"/>
              <a:buFont typeface="+mj-lt"/>
              <a:buAutoNum type="arabicPeriod" startAt="3"/>
            </a:pPr>
            <a:r>
              <a:rPr lang="en-US" sz="1300" dirty="0">
                <a:solidFill>
                  <a:srgbClr val="333333"/>
                </a:solidFill>
                <a:latin typeface="Open Sans" pitchFamily="34" charset="0"/>
                <a:ea typeface="Open Sans" pitchFamily="34" charset="-122"/>
                <a:cs typeface="Open Sans" pitchFamily="34" charset="-120"/>
              </a:rPr>
              <a:t>Class FRS skills presentations</a:t>
            </a:r>
            <a:endParaRPr lang="en-US" sz="1300" dirty="0"/>
          </a:p>
        </p:txBody>
      </p:sp>
      <p:sp>
        <p:nvSpPr>
          <p:cNvPr id="11" name="Text 8"/>
          <p:cNvSpPr/>
          <p:nvPr/>
        </p:nvSpPr>
        <p:spPr>
          <a:xfrm>
            <a:off x="951210" y="2847082"/>
            <a:ext cx="2615649" cy="462161"/>
          </a:xfrm>
          <a:prstGeom prst="rect">
            <a:avLst/>
          </a:prstGeom>
          <a:noFill/>
          <a:ln/>
        </p:spPr>
        <p:txBody>
          <a:bodyPr wrap="square" lIns="0" tIns="0" rIns="0" bIns="0" rtlCol="0" anchor="t"/>
          <a:lstStyle/>
          <a:p>
            <a:pPr marL="254000" indent="-254000" algn="l">
              <a:lnSpc>
                <a:spcPts val="1820"/>
              </a:lnSpc>
              <a:buSzPct val="100000"/>
              <a:buFont typeface="+mj-lt"/>
              <a:buAutoNum type="arabicPeriod" startAt="4"/>
            </a:pPr>
            <a:r>
              <a:rPr lang="en-US" sz="1300" dirty="0">
                <a:solidFill>
                  <a:srgbClr val="333333"/>
                </a:solidFill>
                <a:latin typeface="Open Sans" pitchFamily="34" charset="0"/>
                <a:ea typeface="Open Sans" pitchFamily="34" charset="-122"/>
                <a:cs typeface="Open Sans" pitchFamily="34" charset="-120"/>
              </a:rPr>
              <a:t>Library of FRS teaching resources</a:t>
            </a:r>
            <a:endParaRPr lang="en-US" sz="1300" dirty="0"/>
          </a:p>
        </p:txBody>
      </p:sp>
      <p:sp>
        <p:nvSpPr>
          <p:cNvPr id="12" name="Text 9"/>
          <p:cNvSpPr/>
          <p:nvPr/>
        </p:nvSpPr>
        <p:spPr>
          <a:xfrm>
            <a:off x="951210" y="3309243"/>
            <a:ext cx="2615649" cy="231080"/>
          </a:xfrm>
          <a:prstGeom prst="rect">
            <a:avLst/>
          </a:prstGeom>
          <a:noFill/>
          <a:ln/>
        </p:spPr>
        <p:txBody>
          <a:bodyPr wrap="square" lIns="0" tIns="0" rIns="0" bIns="0" rtlCol="0" anchor="t"/>
          <a:lstStyle/>
          <a:p>
            <a:pPr marL="254000" indent="-254000" algn="l">
              <a:lnSpc>
                <a:spcPts val="1820"/>
              </a:lnSpc>
              <a:buSzPct val="100000"/>
              <a:buFont typeface="+mj-lt"/>
              <a:buAutoNum type="arabicPeriod" startAt="5"/>
            </a:pPr>
            <a:r>
              <a:rPr lang="en-US" sz="1300" dirty="0">
                <a:solidFill>
                  <a:srgbClr val="333333"/>
                </a:solidFill>
                <a:latin typeface="Open Sans" pitchFamily="34" charset="0"/>
                <a:ea typeface="Open Sans" pitchFamily="34" charset="-122"/>
                <a:cs typeface="Open Sans" pitchFamily="34" charset="-120"/>
              </a:rPr>
              <a:t>Student surveys</a:t>
            </a:r>
            <a:endParaRPr lang="en-US" sz="1300" dirty="0"/>
          </a:p>
        </p:txBody>
      </p:sp>
      <p:sp>
        <p:nvSpPr>
          <p:cNvPr id="13" name="Shape 10"/>
          <p:cNvSpPr/>
          <p:nvPr/>
        </p:nvSpPr>
        <p:spPr>
          <a:xfrm>
            <a:off x="3886200" y="1531541"/>
            <a:ext cx="4191000" cy="3010991"/>
          </a:xfrm>
          <a:prstGeom prst="rect">
            <a:avLst/>
          </a:prstGeom>
          <a:solidFill>
            <a:srgbClr val="F4F8FC"/>
          </a:solidFill>
          <a:ln/>
        </p:spPr>
        <p:txBody>
          <a:bodyPr/>
          <a:lstStyle/>
          <a:p>
            <a:endParaRPr lang="en-AU"/>
          </a:p>
        </p:txBody>
      </p:sp>
      <p:sp>
        <p:nvSpPr>
          <p:cNvPr id="14" name="Shape 11"/>
          <p:cNvSpPr/>
          <p:nvPr/>
        </p:nvSpPr>
        <p:spPr>
          <a:xfrm>
            <a:off x="3886200" y="1531541"/>
            <a:ext cx="4191000" cy="38100"/>
          </a:xfrm>
          <a:prstGeom prst="rect">
            <a:avLst/>
          </a:prstGeom>
          <a:solidFill>
            <a:srgbClr val="EAB830"/>
          </a:solidFill>
          <a:ln/>
        </p:spPr>
        <p:txBody>
          <a:bodyPr/>
          <a:lstStyle/>
          <a:p>
            <a:endParaRPr lang="en-AU"/>
          </a:p>
        </p:txBody>
      </p:sp>
      <p:sp>
        <p:nvSpPr>
          <p:cNvPr id="15" name="Text 12"/>
          <p:cNvSpPr/>
          <p:nvPr/>
        </p:nvSpPr>
        <p:spPr>
          <a:xfrm>
            <a:off x="4114800" y="1798241"/>
            <a:ext cx="3920490" cy="487561"/>
          </a:xfrm>
          <a:prstGeom prst="rect">
            <a:avLst/>
          </a:prstGeom>
          <a:noFill/>
          <a:ln/>
        </p:spPr>
        <p:txBody>
          <a:bodyPr wrap="square" lIns="0" tIns="0" rIns="0" bIns="0" rtlCol="0" anchor="t"/>
          <a:lstStyle/>
          <a:p>
            <a:pPr marL="0" indent="0" algn="l">
              <a:lnSpc>
                <a:spcPts val="1920"/>
              </a:lnSpc>
              <a:buNone/>
            </a:pPr>
            <a:r>
              <a:rPr lang="en-US" sz="1600" b="1" dirty="0">
                <a:solidFill>
                  <a:srgbClr val="005AA7"/>
                </a:solidFill>
                <a:latin typeface="Montserrat" pitchFamily="34" charset="0"/>
                <a:ea typeface="Montserrat" pitchFamily="34" charset="-122"/>
                <a:cs typeface="Montserrat" pitchFamily="34" charset="-120"/>
              </a:rPr>
              <a:t>Contact the Two Rivers Network FRS Coordinator</a:t>
            </a:r>
            <a:endParaRPr lang="en-US" sz="1600" dirty="0"/>
          </a:p>
        </p:txBody>
      </p:sp>
      <p:sp>
        <p:nvSpPr>
          <p:cNvPr id="16" name="Text 13"/>
          <p:cNvSpPr/>
          <p:nvPr/>
        </p:nvSpPr>
        <p:spPr>
          <a:xfrm>
            <a:off x="4114800" y="2387402"/>
            <a:ext cx="3920490" cy="231080"/>
          </a:xfrm>
          <a:prstGeom prst="rect">
            <a:avLst/>
          </a:prstGeom>
          <a:noFill/>
          <a:ln/>
        </p:spPr>
        <p:txBody>
          <a:bodyPr wrap="square" lIns="0" tIns="0" rIns="0" bIns="0" rtlCol="0" anchor="t"/>
          <a:lstStyle/>
          <a:p>
            <a:pPr marL="0" indent="0" algn="l">
              <a:lnSpc>
                <a:spcPts val="1820"/>
              </a:lnSpc>
              <a:buNone/>
            </a:pPr>
            <a:r>
              <a:rPr lang="en-US" sz="1300" b="1" dirty="0">
                <a:solidFill>
                  <a:srgbClr val="333333"/>
                </a:solidFill>
                <a:latin typeface="Open Sans" pitchFamily="34" charset="0"/>
                <a:ea typeface="Open Sans" pitchFamily="34" charset="-122"/>
                <a:cs typeface="Open Sans" pitchFamily="34" charset="-120"/>
              </a:rPr>
              <a:t>Southern River College</a:t>
            </a:r>
            <a:endParaRPr lang="en-US" sz="1300" dirty="0"/>
          </a:p>
        </p:txBody>
      </p:sp>
      <p:sp>
        <p:nvSpPr>
          <p:cNvPr id="17" name="Text 14"/>
          <p:cNvSpPr/>
          <p:nvPr/>
        </p:nvSpPr>
        <p:spPr>
          <a:xfrm>
            <a:off x="4114800" y="2720082"/>
            <a:ext cx="3920490" cy="457200"/>
          </a:xfrm>
          <a:prstGeom prst="rect">
            <a:avLst/>
          </a:prstGeom>
          <a:noFill/>
          <a:ln/>
        </p:spPr>
        <p:txBody>
          <a:bodyPr wrap="square" lIns="0" tIns="0" rIns="0" bIns="0" rtlCol="0" anchor="t"/>
          <a:lstStyle/>
          <a:p>
            <a:pPr marL="0" indent="0" algn="l">
              <a:lnSpc>
                <a:spcPts val="1800"/>
              </a:lnSpc>
              <a:buNone/>
            </a:pPr>
            <a:r>
              <a:rPr lang="en-US" sz="1200" dirty="0">
                <a:solidFill>
                  <a:srgbClr val="333333"/>
                </a:solidFill>
                <a:latin typeface="Open Sans" pitchFamily="34" charset="0"/>
                <a:ea typeface="Open Sans" pitchFamily="34" charset="-122"/>
                <a:cs typeface="Open Sans" pitchFamily="34" charset="-120"/>
              </a:rPr>
              <a:t>john.townley@education.wa.edu.au</a:t>
            </a:r>
            <a:endParaRPr lang="en-US" sz="1200" dirty="0"/>
          </a:p>
          <a:p>
            <a:pPr marL="0" indent="0" algn="l">
              <a:lnSpc>
                <a:spcPts val="1800"/>
              </a:lnSpc>
              <a:buNone/>
            </a:pPr>
            <a:r>
              <a:rPr lang="en-US" sz="1200" dirty="0">
                <a:solidFill>
                  <a:srgbClr val="333333"/>
                </a:solidFill>
                <a:latin typeface="Open Sans" pitchFamily="34" charset="0"/>
                <a:ea typeface="Open Sans" pitchFamily="34" charset="-122"/>
                <a:cs typeface="Open Sans" pitchFamily="34" charset="-120"/>
              </a:rPr>
              <a:t>larissa.waghorn@education.wa.edu.au</a:t>
            </a:r>
            <a:endParaRPr lang="en-US" sz="1200" dirty="0"/>
          </a:p>
        </p:txBody>
      </p:sp>
      <p:pic>
        <p:nvPicPr>
          <p:cNvPr id="18" name="Image 1" descr="QR code linking to the Future Ready Skills website"/>
          <p:cNvPicPr>
            <a:picLocks noChangeAspect="1"/>
          </p:cNvPicPr>
          <p:nvPr/>
        </p:nvPicPr>
        <p:blipFill>
          <a:blip r:embed="rId4"/>
          <a:srcRect/>
          <a:stretch/>
        </p:blipFill>
        <p:spPr>
          <a:xfrm>
            <a:off x="4114800" y="3278882"/>
            <a:ext cx="1066800" cy="1035050"/>
          </a:xfrm>
          <a:prstGeom prst="rect">
            <a:avLst/>
          </a:prstGeom>
        </p:spPr>
      </p:pic>
      <p:sp>
        <p:nvSpPr>
          <p:cNvPr id="19" name="Text 15"/>
          <p:cNvSpPr/>
          <p:nvPr/>
        </p:nvSpPr>
        <p:spPr>
          <a:xfrm>
            <a:off x="5334000" y="3663057"/>
            <a:ext cx="1541363" cy="266700"/>
          </a:xfrm>
          <a:prstGeom prst="rect">
            <a:avLst/>
          </a:prstGeom>
          <a:noFill/>
          <a:ln/>
        </p:spPr>
        <p:txBody>
          <a:bodyPr wrap="square" lIns="0" tIns="0" rIns="0" bIns="0" rtlCol="0" anchor="t"/>
          <a:lstStyle/>
          <a:p>
            <a:pPr marL="0" indent="0" algn="l">
              <a:lnSpc>
                <a:spcPts val="2100"/>
              </a:lnSpc>
              <a:buNone/>
            </a:pPr>
            <a:r>
              <a:rPr lang="en-US" sz="1500" b="1" u="sng" dirty="0">
                <a:solidFill>
                  <a:srgbClr val="005AA7"/>
                </a:solidFill>
                <a:latin typeface="Montserrat" pitchFamily="34" charset="0"/>
                <a:ea typeface="Montserrat" pitchFamily="34" charset="-122"/>
                <a:cs typeface="Montserrat" pitchFamily="34" charset="-120"/>
                <a:hlinkClick r:id="rId5">
                  <a:extLst>
                    <a:ext uri="{A12FA001-AC4F-418D-AE19-62706E023703}">
                      <ahyp:hlinkClr xmlns:ahyp="http://schemas.microsoft.com/office/drawing/2018/hyperlinkcolor" val="tx"/>
                    </a:ext>
                  </a:extLst>
                </a:hlinkClick>
              </a:rPr>
              <a:t>frs.srczone.net</a:t>
            </a:r>
            <a:endParaRPr lang="en-US" sz="1500" dirty="0"/>
          </a:p>
        </p:txBody>
      </p:sp>
      <p:sp>
        <p:nvSpPr>
          <p:cNvPr id="20" name="Shape 16"/>
          <p:cNvSpPr/>
          <p:nvPr/>
        </p:nvSpPr>
        <p:spPr>
          <a:xfrm>
            <a:off x="8280400" y="1531541"/>
            <a:ext cx="3149600" cy="3366691"/>
          </a:xfrm>
          <a:prstGeom prst="rect">
            <a:avLst/>
          </a:prstGeom>
          <a:solidFill>
            <a:srgbClr val="FFFFFF"/>
          </a:solidFill>
          <a:ln w="6350">
            <a:solidFill>
              <a:srgbClr val="DFE5EC"/>
            </a:solidFill>
            <a:prstDash val="solid"/>
          </a:ln>
        </p:spPr>
        <p:txBody>
          <a:bodyPr/>
          <a:lstStyle/>
          <a:p>
            <a:endParaRPr lang="en-AU"/>
          </a:p>
        </p:txBody>
      </p:sp>
      <p:pic>
        <p:nvPicPr>
          <p:cNvPr id="21" name="Image 2" descr="Future Ready Skills web page 'Building Future Ready Skills and Innovator Mindsets' with Southern River College, Schools Plus and Thornlie SHS logos and a Gosnells Robotics Clubs overview"/>
          <p:cNvPicPr>
            <a:picLocks noChangeAspect="1"/>
          </p:cNvPicPr>
          <p:nvPr/>
        </p:nvPicPr>
        <p:blipFill>
          <a:blip r:embed="rId6"/>
          <a:srcRect/>
          <a:stretch/>
        </p:blipFill>
        <p:spPr>
          <a:xfrm>
            <a:off x="8388350" y="1639491"/>
            <a:ext cx="2921000" cy="2876550"/>
          </a:xfrm>
          <a:prstGeom prst="rect">
            <a:avLst/>
          </a:prstGeom>
        </p:spPr>
      </p:pic>
      <p:sp>
        <p:nvSpPr>
          <p:cNvPr id="22" name="Text 17"/>
          <p:cNvSpPr/>
          <p:nvPr/>
        </p:nvSpPr>
        <p:spPr>
          <a:xfrm>
            <a:off x="8388350" y="4592241"/>
            <a:ext cx="3080385" cy="198041"/>
          </a:xfrm>
          <a:prstGeom prst="rect">
            <a:avLst/>
          </a:prstGeom>
          <a:noFill/>
          <a:ln/>
        </p:spPr>
        <p:txBody>
          <a:bodyPr wrap="square" lIns="0" tIns="0" rIns="0" bIns="0" rtlCol="0" anchor="t"/>
          <a:lstStyle/>
          <a:p>
            <a:pPr marL="0" indent="0" algn="l">
              <a:lnSpc>
                <a:spcPts val="1560"/>
              </a:lnSpc>
              <a:buNone/>
            </a:pPr>
            <a:r>
              <a:rPr lang="en-US" sz="1200" dirty="0">
                <a:solidFill>
                  <a:srgbClr val="333333"/>
                </a:solidFill>
                <a:latin typeface="Open Sans" pitchFamily="34" charset="0"/>
                <a:ea typeface="Open Sans" pitchFamily="34" charset="-122"/>
                <a:cs typeface="Open Sans" pitchFamily="34" charset="-120"/>
              </a:rPr>
              <a:t>Gosnells Robotics Clubs: </a:t>
            </a:r>
            <a:r>
              <a:rPr lang="en-US" sz="1200" u="sng" dirty="0">
                <a:solidFill>
                  <a:srgbClr val="333333"/>
                </a:solidFill>
                <a:latin typeface="Open Sans" pitchFamily="34" charset="0"/>
                <a:ea typeface="Open Sans" pitchFamily="34" charset="-122"/>
                <a:cs typeface="Open Sans" pitchFamily="34" charset="-120"/>
                <a:hlinkClick r:id="rId7">
                  <a:extLst>
                    <a:ext uri="{A12FA001-AC4F-418D-AE19-62706E023703}">
                      <ahyp:hlinkClr xmlns:ahyp="http://schemas.microsoft.com/office/drawing/2018/hyperlinkcolor" val="tx"/>
                    </a:ext>
                  </a:extLst>
                </a:hlinkClick>
              </a:rPr>
              <a:t>grc.srczone.net</a:t>
            </a:r>
            <a:endParaRPr lang="en-US" sz="1200" dirty="0"/>
          </a:p>
        </p:txBody>
      </p:sp>
      <p:sp>
        <p:nvSpPr>
          <p:cNvPr id="23" name="Text 18"/>
          <p:cNvSpPr/>
          <p:nvPr/>
        </p:nvSpPr>
        <p:spPr>
          <a:xfrm>
            <a:off x="762000" y="6441480"/>
            <a:ext cx="8001000" cy="213320"/>
          </a:xfrm>
          <a:prstGeom prst="rect">
            <a:avLst/>
          </a:prstGeom>
          <a:noFill/>
          <a:ln/>
        </p:spPr>
        <p:txBody>
          <a:bodyPr wrap="square" lIns="0" tIns="0" rIns="0" bIns="0" rtlCol="0" anchor="t"/>
          <a:lstStyle/>
          <a:p>
            <a:pPr marL="0" indent="0" algn="l">
              <a:lnSpc>
                <a:spcPts val="1680"/>
              </a:lnSpc>
              <a:buNone/>
            </a:pPr>
            <a:r>
              <a:rPr lang="en-US" sz="1200" dirty="0">
                <a:solidFill>
                  <a:srgbClr val="6B6B6B"/>
                </a:solidFill>
                <a:latin typeface="Open Sans" pitchFamily="34" charset="0"/>
                <a:ea typeface="Open Sans" pitchFamily="34" charset="-122"/>
                <a:cs typeface="Open Sans" pitchFamily="34" charset="-120"/>
              </a:rPr>
              <a:t>Future Ready Skills Academy · frs.srczone.net</a:t>
            </a:r>
            <a:endParaRPr lang="en-US" sz="1200" dirty="0"/>
          </a:p>
        </p:txBody>
      </p:sp>
      <p:sp>
        <p:nvSpPr>
          <p:cNvPr id="24" name="Text 19"/>
          <p:cNvSpPr/>
          <p:nvPr/>
        </p:nvSpPr>
        <p:spPr>
          <a:xfrm>
            <a:off x="10083800" y="6441480"/>
            <a:ext cx="1346200" cy="213320"/>
          </a:xfrm>
          <a:prstGeom prst="rect">
            <a:avLst/>
          </a:prstGeom>
          <a:noFill/>
          <a:ln/>
        </p:spPr>
        <p:txBody>
          <a:bodyPr wrap="square" lIns="0" tIns="0" rIns="0" bIns="0" rtlCol="0" anchor="t"/>
          <a:lstStyle/>
          <a:p>
            <a:pPr marL="0" indent="0" algn="r">
              <a:lnSpc>
                <a:spcPts val="1680"/>
              </a:lnSpc>
              <a:buNone/>
            </a:pPr>
            <a:r>
              <a:rPr lang="en-US" sz="1200" dirty="0">
                <a:solidFill>
                  <a:srgbClr val="6B6B6B"/>
                </a:solidFill>
                <a:latin typeface="Open Sans" pitchFamily="34" charset="0"/>
                <a:ea typeface="Open Sans" pitchFamily="34" charset="-122"/>
                <a:cs typeface="Open Sans" pitchFamily="34" charset="-120"/>
              </a:rPr>
              <a:t>16 / 17</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pic>
        <p:nvPicPr>
          <p:cNvPr id="2" name="Image 0" descr="A colourful light bulb sketch surrounded by business and idea icons"/>
          <p:cNvPicPr>
            <a:picLocks noChangeAspect="1"/>
          </p:cNvPicPr>
          <p:nvPr/>
        </p:nvPicPr>
        <p:blipFill>
          <a:blip r:embed="rId3"/>
          <a:srcRect/>
          <a:stretch/>
        </p:blipFill>
        <p:spPr>
          <a:xfrm>
            <a:off x="0" y="1774031"/>
            <a:ext cx="4572000" cy="3743426"/>
          </a:xfrm>
          <a:prstGeom prst="rect">
            <a:avLst/>
          </a:prstGeom>
        </p:spPr>
      </p:pic>
      <p:sp>
        <p:nvSpPr>
          <p:cNvPr id="3" name="Shape 0"/>
          <p:cNvSpPr/>
          <p:nvPr/>
        </p:nvSpPr>
        <p:spPr>
          <a:xfrm>
            <a:off x="4572000" y="0"/>
            <a:ext cx="76200" cy="6858000"/>
          </a:xfrm>
          <a:prstGeom prst="rect">
            <a:avLst/>
          </a:prstGeom>
          <a:solidFill>
            <a:srgbClr val="EAB830"/>
          </a:solidFill>
          <a:ln/>
        </p:spPr>
        <p:txBody>
          <a:bodyPr/>
          <a:lstStyle/>
          <a:p>
            <a:endParaRPr lang="en-AU"/>
          </a:p>
        </p:txBody>
      </p:sp>
      <p:sp>
        <p:nvSpPr>
          <p:cNvPr id="4" name="Text 1"/>
          <p:cNvSpPr/>
          <p:nvPr/>
        </p:nvSpPr>
        <p:spPr>
          <a:xfrm>
            <a:off x="5334000" y="609600"/>
            <a:ext cx="6400800" cy="992981"/>
          </a:xfrm>
          <a:prstGeom prst="rect">
            <a:avLst/>
          </a:prstGeom>
          <a:noFill/>
          <a:ln/>
        </p:spPr>
        <p:txBody>
          <a:bodyPr wrap="square" lIns="0" tIns="0" rIns="0" bIns="0" rtlCol="0" anchor="t"/>
          <a:lstStyle/>
          <a:p>
            <a:pPr marL="0" indent="0" algn="l">
              <a:lnSpc>
                <a:spcPts val="3910"/>
              </a:lnSpc>
              <a:buNone/>
            </a:pPr>
            <a:r>
              <a:rPr lang="en-US" sz="3400" b="1" dirty="0">
                <a:solidFill>
                  <a:srgbClr val="005AA7"/>
                </a:solidFill>
                <a:latin typeface="Montserrat" pitchFamily="34" charset="0"/>
                <a:ea typeface="Montserrat" pitchFamily="34" charset="-122"/>
                <a:cs typeface="Montserrat" pitchFamily="34" charset="-120"/>
              </a:rPr>
              <a:t>Learning goals and summary</a:t>
            </a:r>
            <a:endParaRPr lang="en-US" sz="3400" dirty="0"/>
          </a:p>
        </p:txBody>
      </p:sp>
      <p:sp>
        <p:nvSpPr>
          <p:cNvPr id="5" name="Shape 2"/>
          <p:cNvSpPr/>
          <p:nvPr/>
        </p:nvSpPr>
        <p:spPr>
          <a:xfrm>
            <a:off x="5334000" y="1716881"/>
            <a:ext cx="850900" cy="57150"/>
          </a:xfrm>
          <a:prstGeom prst="rect">
            <a:avLst/>
          </a:prstGeom>
          <a:solidFill>
            <a:srgbClr val="EAB830"/>
          </a:solidFill>
          <a:ln/>
        </p:spPr>
        <p:txBody>
          <a:bodyPr/>
          <a:lstStyle/>
          <a:p>
            <a:endParaRPr lang="en-AU"/>
          </a:p>
        </p:txBody>
      </p:sp>
      <p:sp>
        <p:nvSpPr>
          <p:cNvPr id="6" name="Text 3"/>
          <p:cNvSpPr/>
          <p:nvPr/>
        </p:nvSpPr>
        <p:spPr>
          <a:xfrm>
            <a:off x="5334000" y="2028031"/>
            <a:ext cx="6400800" cy="243780"/>
          </a:xfrm>
          <a:prstGeom prst="rect">
            <a:avLst/>
          </a:prstGeom>
          <a:noFill/>
          <a:ln/>
        </p:spPr>
        <p:txBody>
          <a:bodyPr wrap="square" lIns="0" tIns="0" rIns="0" bIns="0" rtlCol="0" anchor="t"/>
          <a:lstStyle/>
          <a:p>
            <a:pPr marL="0" indent="0" algn="l">
              <a:lnSpc>
                <a:spcPts val="1920"/>
              </a:lnSpc>
              <a:buNone/>
            </a:pPr>
            <a:r>
              <a:rPr lang="en-US" sz="1600" b="1" dirty="0">
                <a:solidFill>
                  <a:srgbClr val="005AA7"/>
                </a:solidFill>
                <a:latin typeface="Montserrat" pitchFamily="34" charset="0"/>
                <a:ea typeface="Montserrat" pitchFamily="34" charset="-122"/>
                <a:cs typeface="Montserrat" pitchFamily="34" charset="-120"/>
              </a:rPr>
              <a:t>Our goals today</a:t>
            </a:r>
            <a:endParaRPr lang="en-US" sz="1600" dirty="0"/>
          </a:p>
        </p:txBody>
      </p:sp>
      <p:sp>
        <p:nvSpPr>
          <p:cNvPr id="7" name="Text 4"/>
          <p:cNvSpPr/>
          <p:nvPr/>
        </p:nvSpPr>
        <p:spPr>
          <a:xfrm>
            <a:off x="5294610" y="2335312"/>
            <a:ext cx="6429459" cy="462161"/>
          </a:xfrm>
          <a:prstGeom prst="rect">
            <a:avLst/>
          </a:prstGeom>
          <a:noFill/>
          <a:ln/>
        </p:spPr>
        <p:txBody>
          <a:bodyPr wrap="square" lIns="0" tIns="0" rIns="0" bIns="0" rtlCol="0" anchor="t"/>
          <a:lstStyle/>
          <a:p>
            <a:pPr marL="254000" indent="-254000" algn="l">
              <a:lnSpc>
                <a:spcPts val="1820"/>
              </a:lnSpc>
              <a:buSzPct val="100000"/>
              <a:buChar char="•"/>
            </a:pPr>
            <a:r>
              <a:rPr lang="en-US" sz="1300" dirty="0">
                <a:solidFill>
                  <a:srgbClr val="333333"/>
                </a:solidFill>
                <a:latin typeface="Open Sans" pitchFamily="34" charset="0"/>
                <a:ea typeface="Open Sans" pitchFamily="34" charset="-122"/>
                <a:cs typeface="Open Sans" pitchFamily="34" charset="-120"/>
              </a:rPr>
              <a:t>Understand the five Future Ready Skills (FRS), their curriculum links and this SE Metro school priority project</a:t>
            </a:r>
            <a:endParaRPr lang="en-US" sz="1300" dirty="0"/>
          </a:p>
        </p:txBody>
      </p:sp>
      <p:sp>
        <p:nvSpPr>
          <p:cNvPr id="8" name="Text 5"/>
          <p:cNvSpPr/>
          <p:nvPr/>
        </p:nvSpPr>
        <p:spPr>
          <a:xfrm>
            <a:off x="5294610" y="2797473"/>
            <a:ext cx="6429459" cy="231080"/>
          </a:xfrm>
          <a:prstGeom prst="rect">
            <a:avLst/>
          </a:prstGeom>
          <a:noFill/>
          <a:ln/>
        </p:spPr>
        <p:txBody>
          <a:bodyPr wrap="square" lIns="0" tIns="0" rIns="0" bIns="0" rtlCol="0" anchor="t"/>
          <a:lstStyle/>
          <a:p>
            <a:pPr marL="254000" indent="-254000" algn="l">
              <a:lnSpc>
                <a:spcPts val="1820"/>
              </a:lnSpc>
              <a:buSzPct val="100000"/>
              <a:buChar char="•"/>
            </a:pPr>
            <a:r>
              <a:rPr lang="en-US" sz="1300" dirty="0">
                <a:solidFill>
                  <a:srgbClr val="333333"/>
                </a:solidFill>
                <a:latin typeface="Open Sans" pitchFamily="34" charset="0"/>
                <a:ea typeface="Open Sans" pitchFamily="34" charset="-122"/>
                <a:cs typeface="Open Sans" pitchFamily="34" charset="-120"/>
              </a:rPr>
              <a:t>Explore where the FRS progressions came from and what they are for</a:t>
            </a:r>
            <a:endParaRPr lang="en-US" sz="1300" dirty="0"/>
          </a:p>
        </p:txBody>
      </p:sp>
      <p:sp>
        <p:nvSpPr>
          <p:cNvPr id="9" name="Text 6"/>
          <p:cNvSpPr/>
          <p:nvPr/>
        </p:nvSpPr>
        <p:spPr>
          <a:xfrm>
            <a:off x="5294610" y="3028553"/>
            <a:ext cx="6429459" cy="231080"/>
          </a:xfrm>
          <a:prstGeom prst="rect">
            <a:avLst/>
          </a:prstGeom>
          <a:noFill/>
          <a:ln/>
        </p:spPr>
        <p:txBody>
          <a:bodyPr wrap="square" lIns="0" tIns="0" rIns="0" bIns="0" rtlCol="0" anchor="t"/>
          <a:lstStyle/>
          <a:p>
            <a:pPr marL="254000" indent="-254000" algn="l">
              <a:lnSpc>
                <a:spcPts val="1820"/>
              </a:lnSpc>
              <a:buSzPct val="100000"/>
              <a:buChar char="•"/>
            </a:pPr>
            <a:r>
              <a:rPr lang="en-US" sz="1300" dirty="0">
                <a:solidFill>
                  <a:srgbClr val="333333"/>
                </a:solidFill>
                <a:latin typeface="Open Sans" pitchFamily="34" charset="0"/>
                <a:ea typeface="Open Sans" pitchFamily="34" charset="-122"/>
                <a:cs typeface="Open Sans" pitchFamily="34" charset="-120"/>
              </a:rPr>
              <a:t>Identify practical strategies for using the FRS in the classroom</a:t>
            </a:r>
            <a:endParaRPr lang="en-US" sz="1300" dirty="0"/>
          </a:p>
        </p:txBody>
      </p:sp>
      <p:sp>
        <p:nvSpPr>
          <p:cNvPr id="10" name="Text 7"/>
          <p:cNvSpPr/>
          <p:nvPr/>
        </p:nvSpPr>
        <p:spPr>
          <a:xfrm>
            <a:off x="5294610" y="3259634"/>
            <a:ext cx="6429459" cy="231080"/>
          </a:xfrm>
          <a:prstGeom prst="rect">
            <a:avLst/>
          </a:prstGeom>
          <a:noFill/>
          <a:ln/>
        </p:spPr>
        <p:txBody>
          <a:bodyPr wrap="square" lIns="0" tIns="0" rIns="0" bIns="0" rtlCol="0" anchor="t"/>
          <a:lstStyle/>
          <a:p>
            <a:pPr marL="254000" indent="-254000" algn="l">
              <a:lnSpc>
                <a:spcPts val="1820"/>
              </a:lnSpc>
              <a:buSzPct val="100000"/>
              <a:buChar char="•"/>
            </a:pPr>
            <a:r>
              <a:rPr lang="en-US" sz="1300" dirty="0">
                <a:solidFill>
                  <a:srgbClr val="333333"/>
                </a:solidFill>
                <a:latin typeface="Open Sans" pitchFamily="34" charset="0"/>
                <a:ea typeface="Open Sans" pitchFamily="34" charset="-122"/>
                <a:cs typeface="Open Sans" pitchFamily="34" charset="-120"/>
              </a:rPr>
              <a:t>Find FRS support and training resources</a:t>
            </a:r>
            <a:endParaRPr lang="en-US" sz="1300" dirty="0"/>
          </a:p>
        </p:txBody>
      </p:sp>
      <p:sp>
        <p:nvSpPr>
          <p:cNvPr id="11" name="Shape 8"/>
          <p:cNvSpPr/>
          <p:nvPr/>
        </p:nvSpPr>
        <p:spPr>
          <a:xfrm>
            <a:off x="5334000" y="3744714"/>
            <a:ext cx="6096000" cy="1508522"/>
          </a:xfrm>
          <a:prstGeom prst="rect">
            <a:avLst/>
          </a:prstGeom>
          <a:solidFill>
            <a:srgbClr val="F4F8FC"/>
          </a:solidFill>
          <a:ln/>
        </p:spPr>
        <p:txBody>
          <a:bodyPr/>
          <a:lstStyle/>
          <a:p>
            <a:endParaRPr lang="en-AU"/>
          </a:p>
        </p:txBody>
      </p:sp>
      <p:sp>
        <p:nvSpPr>
          <p:cNvPr id="12" name="Shape 9"/>
          <p:cNvSpPr/>
          <p:nvPr/>
        </p:nvSpPr>
        <p:spPr>
          <a:xfrm>
            <a:off x="5334000" y="3744714"/>
            <a:ext cx="6096000" cy="38100"/>
          </a:xfrm>
          <a:prstGeom prst="rect">
            <a:avLst/>
          </a:prstGeom>
          <a:solidFill>
            <a:srgbClr val="EAB830"/>
          </a:solidFill>
          <a:ln/>
        </p:spPr>
        <p:txBody>
          <a:bodyPr/>
          <a:lstStyle/>
          <a:p>
            <a:endParaRPr lang="en-AU"/>
          </a:p>
        </p:txBody>
      </p:sp>
      <p:sp>
        <p:nvSpPr>
          <p:cNvPr id="13" name="Text 10"/>
          <p:cNvSpPr/>
          <p:nvPr/>
        </p:nvSpPr>
        <p:spPr>
          <a:xfrm>
            <a:off x="5562600" y="4011414"/>
            <a:ext cx="5920740" cy="243780"/>
          </a:xfrm>
          <a:prstGeom prst="rect">
            <a:avLst/>
          </a:prstGeom>
          <a:noFill/>
          <a:ln/>
        </p:spPr>
        <p:txBody>
          <a:bodyPr wrap="square" lIns="0" tIns="0" rIns="0" bIns="0" rtlCol="0" anchor="t"/>
          <a:lstStyle/>
          <a:p>
            <a:pPr marL="0" indent="0" algn="l">
              <a:lnSpc>
                <a:spcPts val="1920"/>
              </a:lnSpc>
              <a:buNone/>
            </a:pPr>
            <a:r>
              <a:rPr lang="en-US" sz="1600" b="1" dirty="0">
                <a:solidFill>
                  <a:srgbClr val="005AA7"/>
                </a:solidFill>
                <a:latin typeface="Montserrat" pitchFamily="34" charset="0"/>
                <a:ea typeface="Montserrat" pitchFamily="34" charset="-122"/>
                <a:cs typeface="Montserrat" pitchFamily="34" charset="-120"/>
              </a:rPr>
              <a:t>Summary</a:t>
            </a:r>
            <a:endParaRPr lang="en-US" sz="1600" dirty="0"/>
          </a:p>
        </p:txBody>
      </p:sp>
      <p:sp>
        <p:nvSpPr>
          <p:cNvPr id="14" name="Text 11"/>
          <p:cNvSpPr/>
          <p:nvPr/>
        </p:nvSpPr>
        <p:spPr>
          <a:xfrm>
            <a:off x="5562600" y="4331395"/>
            <a:ext cx="5920740" cy="693241"/>
          </a:xfrm>
          <a:prstGeom prst="rect">
            <a:avLst/>
          </a:prstGeom>
          <a:noFill/>
          <a:ln/>
        </p:spPr>
        <p:txBody>
          <a:bodyPr wrap="square" lIns="0" tIns="0" rIns="0" bIns="0" rtlCol="0" anchor="t"/>
          <a:lstStyle/>
          <a:p>
            <a:pPr marL="0" indent="0" algn="l">
              <a:lnSpc>
                <a:spcPts val="1820"/>
              </a:lnSpc>
              <a:buNone/>
            </a:pPr>
            <a:r>
              <a:rPr lang="en-US" sz="1300" dirty="0">
                <a:solidFill>
                  <a:srgbClr val="333333"/>
                </a:solidFill>
                <a:latin typeface="Open Sans" pitchFamily="34" charset="0"/>
                <a:ea typeface="Open Sans" pitchFamily="34" charset="-122"/>
                <a:cs typeface="Open Sans" pitchFamily="34" charset="-120"/>
              </a:rPr>
              <a:t>Future Ready Skills are vital for student success. The FRS progressions help us support and monitor students' development in Community, Communication, Collaboration, Critical Thinking and Creativity.</a:t>
            </a:r>
            <a:endParaRPr lang="en-US" sz="1300" dirty="0"/>
          </a:p>
        </p:txBody>
      </p:sp>
      <p:sp>
        <p:nvSpPr>
          <p:cNvPr id="15" name="Text 12"/>
          <p:cNvSpPr/>
          <p:nvPr/>
        </p:nvSpPr>
        <p:spPr>
          <a:xfrm>
            <a:off x="5334000" y="6441480"/>
            <a:ext cx="4667250" cy="213320"/>
          </a:xfrm>
          <a:prstGeom prst="rect">
            <a:avLst/>
          </a:prstGeom>
          <a:noFill/>
          <a:ln/>
        </p:spPr>
        <p:txBody>
          <a:bodyPr wrap="square" lIns="0" tIns="0" rIns="0" bIns="0" rtlCol="0" anchor="t"/>
          <a:lstStyle/>
          <a:p>
            <a:pPr marL="0" indent="0" algn="l">
              <a:lnSpc>
                <a:spcPts val="1680"/>
              </a:lnSpc>
              <a:buNone/>
            </a:pPr>
            <a:r>
              <a:rPr lang="en-US" sz="1200" dirty="0">
                <a:solidFill>
                  <a:srgbClr val="6B6B6B"/>
                </a:solidFill>
                <a:latin typeface="Open Sans" pitchFamily="34" charset="0"/>
                <a:ea typeface="Open Sans" pitchFamily="34" charset="-122"/>
                <a:cs typeface="Open Sans" pitchFamily="34" charset="-120"/>
              </a:rPr>
              <a:t>Future Ready Skills Academy · frs.srczone.net</a:t>
            </a:r>
            <a:endParaRPr lang="en-US" sz="1200" dirty="0"/>
          </a:p>
        </p:txBody>
      </p:sp>
      <p:sp>
        <p:nvSpPr>
          <p:cNvPr id="16" name="Text 13"/>
          <p:cNvSpPr/>
          <p:nvPr/>
        </p:nvSpPr>
        <p:spPr>
          <a:xfrm>
            <a:off x="10083800" y="6441480"/>
            <a:ext cx="1346200" cy="213320"/>
          </a:xfrm>
          <a:prstGeom prst="rect">
            <a:avLst/>
          </a:prstGeom>
          <a:noFill/>
          <a:ln/>
        </p:spPr>
        <p:txBody>
          <a:bodyPr wrap="square" lIns="0" tIns="0" rIns="0" bIns="0" rtlCol="0" anchor="t"/>
          <a:lstStyle/>
          <a:p>
            <a:pPr marL="0" indent="0" algn="r">
              <a:lnSpc>
                <a:spcPts val="1680"/>
              </a:lnSpc>
              <a:buNone/>
            </a:pPr>
            <a:r>
              <a:rPr lang="en-US" sz="1200" dirty="0">
                <a:solidFill>
                  <a:srgbClr val="6B6B6B"/>
                </a:solidFill>
                <a:latin typeface="Open Sans" pitchFamily="34" charset="0"/>
                <a:ea typeface="Open Sans" pitchFamily="34" charset="-122"/>
                <a:cs typeface="Open Sans" pitchFamily="34" charset="-120"/>
              </a:rPr>
              <a:t>17 / 17</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 /></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 /></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 /></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5cbbb413-9302-4425-9f1e-6b3e2def40eb" xsi:nil="true"/>
    <lcf76f155ced4ddcb4097134ff3c332f xmlns="839c8e65-cbce-4090-af43-8e2e496e6041">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E83041BFE85BB48BFC8623541DB6A1C" ma:contentTypeVersion="11" ma:contentTypeDescription="Create a new document." ma:contentTypeScope="" ma:versionID="8bf49bbe03062739936442f698b08477">
  <xsd:schema xmlns:xsd="http://www.w3.org/2001/XMLSchema" xmlns:xs="http://www.w3.org/2001/XMLSchema" xmlns:p="http://schemas.microsoft.com/office/2006/metadata/properties" xmlns:ns2="839c8e65-cbce-4090-af43-8e2e496e6041" xmlns:ns3="5cbbb413-9302-4425-9f1e-6b3e2def40eb" targetNamespace="http://schemas.microsoft.com/office/2006/metadata/properties" ma:root="true" ma:fieldsID="5120e38f1cd6657a76789d8f855bf35f" ns2:_="" ns3:_="">
    <xsd:import namespace="839c8e65-cbce-4090-af43-8e2e496e6041"/>
    <xsd:import namespace="5cbbb413-9302-4425-9f1e-6b3e2def40e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MediaServiceLocation"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39c8e65-cbce-4090-af43-8e2e496e604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Location" ma:index="15" nillable="true" ma:displayName="Location" ma:indexed="true" ma:internalName="MediaServiceLocation" ma:readOnly="true">
      <xsd:simpleType>
        <xsd:restriction base="dms:Text"/>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ea606fe5-00d0-49e1-aa33-d9ffd0209102"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5cbbb413-9302-4425-9f1e-6b3e2def40eb"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e0d6816c-b5e4-4c97-bf1c-9d3d00349954}" ma:internalName="TaxCatchAll" ma:showField="CatchAllData" ma:web="5cbbb413-9302-4425-9f1e-6b3e2def40e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83AE232-D256-406A-83AA-03176FF11D42}">
  <ds:schemaRefs>
    <ds:schemaRef ds:uri="http://schemas.microsoft.com/office/2006/metadata/properties"/>
    <ds:schemaRef ds:uri="http://www.w3.org/2000/xmlns/"/>
    <ds:schemaRef ds:uri="5cbbb413-9302-4425-9f1e-6b3e2def40eb"/>
    <ds:schemaRef ds:uri="http://www.w3.org/2001/XMLSchema-instance"/>
    <ds:schemaRef ds:uri="839c8e65-cbce-4090-af43-8e2e496e6041"/>
    <ds:schemaRef ds:uri="http://schemas.microsoft.com/office/infopath/2007/PartnerControls"/>
  </ds:schemaRefs>
</ds:datastoreItem>
</file>

<file path=customXml/itemProps2.xml><?xml version="1.0" encoding="utf-8"?>
<ds:datastoreItem xmlns:ds="http://schemas.openxmlformats.org/officeDocument/2006/customXml" ds:itemID="{F39BA9D5-9632-4883-A303-84DBF7C97527}">
  <ds:schemaRefs>
    <ds:schemaRef ds:uri="http://schemas.microsoft.com/office/2006/metadata/contentType"/>
    <ds:schemaRef ds:uri="http://schemas.microsoft.com/office/2006/metadata/properties/metaAttributes"/>
    <ds:schemaRef ds:uri="http://www.w3.org/2000/xmlns/"/>
    <ds:schemaRef ds:uri="http://www.w3.org/2001/XMLSchema"/>
    <ds:schemaRef ds:uri="839c8e65-cbce-4090-af43-8e2e496e6041"/>
    <ds:schemaRef ds:uri="5cbbb413-9302-4425-9f1e-6b3e2def40eb"/>
  </ds:schemaRefs>
</ds:datastoreItem>
</file>

<file path=customXml/itemProps3.xml><?xml version="1.0" encoding="utf-8"?>
<ds:datastoreItem xmlns:ds="http://schemas.openxmlformats.org/officeDocument/2006/customXml" ds:itemID="{C871338D-6D28-4637-8815-17F7B48A2D6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TotalTime>
  <Words>3203</Words>
  <Application>Microsoft Office PowerPoint</Application>
  <PresentationFormat>Widescreen</PresentationFormat>
  <Paragraphs>213</Paragraphs>
  <Slides>17</Slides>
  <Notes>17</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Future Ready Skills Academy</dc:title>
  <dc:subject>PptxGenJS Presentation</dc:subject>
  <dc:creator>Future Ready Skills Academy</dc:creator>
  <cp:lastModifiedBy>TOWNLEY John [Southern River College]</cp:lastModifiedBy>
  <cp:revision>5</cp:revision>
  <dcterms:created xsi:type="dcterms:W3CDTF">2026-10-02T02:37:58Z</dcterms:created>
  <dcterms:modified xsi:type="dcterms:W3CDTF">2026-10-05T12:52:10Z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ab51697-d8d5-4b00-af1f-cc3ba473113c_Enabled">
    <vt:lpwstr>true</vt:lpwstr>
  </property>
  <property fmtid="{D5CDD505-2E9C-101B-9397-08002B2CF9AE}" pid="3" name="MSIP_Label_1ab51697-d8d5-4b00-af1f-cc3ba473113c_SetDate">
    <vt:lpwstr>2026-10-02T02:40:12Z</vt:lpwstr>
  </property>
  <property fmtid="{D5CDD505-2E9C-101B-9397-08002B2CF9AE}" pid="4" name="MSIP_Label_1ab51697-d8d5-4b00-af1f-cc3ba473113c_Method">
    <vt:lpwstr>Standard</vt:lpwstr>
  </property>
  <property fmtid="{D5CDD505-2E9C-101B-9397-08002B2CF9AE}" pid="5" name="MSIP_Label_1ab51697-d8d5-4b00-af1f-cc3ba473113c_Name">
    <vt:lpwstr>OFFICIAL</vt:lpwstr>
  </property>
  <property fmtid="{D5CDD505-2E9C-101B-9397-08002B2CF9AE}" pid="6" name="MSIP_Label_1ab51697-d8d5-4b00-af1f-cc3ba473113c_SiteId">
    <vt:lpwstr>e08016f9-d1fd-4cbb-83b0-b76eb4361627</vt:lpwstr>
  </property>
  <property fmtid="{D5CDD505-2E9C-101B-9397-08002B2CF9AE}" pid="7" name="MSIP_Label_1ab51697-d8d5-4b00-af1f-cc3ba473113c_ActionId">
    <vt:lpwstr>5e430e4e-155e-4df2-8f94-796c66850285</vt:lpwstr>
  </property>
  <property fmtid="{D5CDD505-2E9C-101B-9397-08002B2CF9AE}" pid="8" name="MSIP_Label_1ab51697-d8d5-4b00-af1f-cc3ba473113c_ContentBits">
    <vt:lpwstr>1</vt:lpwstr>
  </property>
  <property fmtid="{D5CDD505-2E9C-101B-9397-08002B2CF9AE}" pid="9" name="MSIP_Label_1ab51697-d8d5-4b00-af1f-cc3ba473113c_Tag">
    <vt:lpwstr>10, 3, 0, 1</vt:lpwstr>
  </property>
  <property fmtid="{D5CDD505-2E9C-101B-9397-08002B2CF9AE}" pid="10" name="ClassificationContentMarkingHeaderLocations">
    <vt:lpwstr>Office Theme:3</vt:lpwstr>
  </property>
  <property fmtid="{D5CDD505-2E9C-101B-9397-08002B2CF9AE}" pid="11" name="ClassificationContentMarkingHeaderText">
    <vt:lpwstr>OFFICIAL</vt:lpwstr>
  </property>
  <property fmtid="{D5CDD505-2E9C-101B-9397-08002B2CF9AE}" pid="12" name="ContentTypeId">
    <vt:lpwstr>0x0101007E83041BFE85BB48BFC8623541DB6A1C</vt:lpwstr>
  </property>
  <property fmtid="{D5CDD505-2E9C-101B-9397-08002B2CF9AE}" pid="13" name="MediaServiceImageTags">
    <vt:lpwstr/>
  </property>
</Properties>
</file>